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384048"/>
            <a:ext cx="64008" cy="310896"/>
          </a:xfrm>
          <a:prstGeom prst="rect">
            <a:avLst/>
          </a:prstGeom>
          <a:solidFill>
            <a:srgbClr val="41D3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356616"/>
            <a:ext cx="100584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41D3D7"/>
                </a:solidFill>
                <a:latin typeface="Aptos"/>
              </a:defRPr>
            </a:pPr>
            <a:r>
              <a:t>ABANGCEBU AI / DELIVERY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1F7FC"/>
                </a:solidFill>
                <a:latin typeface="Aptos"/>
              </a:defRPr>
            </a:pPr>
            <a:r>
              <a:t>Sprints 1–3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91656"/>
            <a:ext cx="10927080" cy="12801"/>
          </a:xfrm>
          <a:prstGeom prst="rect">
            <a:avLst/>
          </a:prstGeom>
          <a:solidFill>
            <a:srgbClr val="2A3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6473952"/>
            <a:ext cx="914400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9FB2C6"/>
                </a:solidFill>
                <a:latin typeface="Aptos"/>
              </a:defRPr>
            </a:pPr>
            <a:r>
              <a:t>Jira issue/status snapshot • 16 Oct 2026 • Philippines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455664"/>
            <a:ext cx="384048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41D3D7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65376"/>
            <a:ext cx="9966960" cy="9326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2600" b="0">
                <a:solidFill>
                  <a:srgbClr val="9FB2C6"/>
                </a:solidFill>
                <a:latin typeface="Aptos"/>
              </a:defRPr>
            </a:pPr>
            <a:r>
              <a:t>From foundation and design to the implementation backlog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127248"/>
            <a:ext cx="3493008" cy="1572768"/>
          </a:xfrm>
          <a:prstGeom prst="roundRect">
            <a:avLst>
              <a:gd name="adj" fmla="val 14000"/>
            </a:avLst>
          </a:prstGeom>
          <a:solidFill>
            <a:srgbClr val="15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3383280"/>
            <a:ext cx="2926080" cy="5760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3600" b="1">
                <a:solidFill>
                  <a:srgbClr val="56D3A3"/>
                </a:solidFill>
                <a:latin typeface="Aptos"/>
              </a:defRPr>
            </a:pPr>
            <a:r>
              <a:t>27/27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4105656"/>
            <a:ext cx="292608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1F7FC"/>
                </a:solidFill>
                <a:latin typeface="Aptos"/>
              </a:defRPr>
            </a:pPr>
            <a:r>
              <a:t>Sprint 1 • Done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3127248"/>
            <a:ext cx="3493008" cy="1572768"/>
          </a:xfrm>
          <a:prstGeom prst="roundRect">
            <a:avLst>
              <a:gd name="adj" fmla="val 14000"/>
            </a:avLst>
          </a:prstGeom>
          <a:solidFill>
            <a:srgbClr val="15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4" y="3383280"/>
            <a:ext cx="2926080" cy="5760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3600" b="1">
                <a:solidFill>
                  <a:srgbClr val="FFBE5B"/>
                </a:solidFill>
                <a:latin typeface="Aptos"/>
              </a:defRPr>
            </a:pPr>
            <a:r>
              <a:t>17/20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18304" y="4105656"/>
            <a:ext cx="292608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1F7FC"/>
                </a:solidFill>
                <a:latin typeface="Aptos"/>
              </a:defRPr>
            </a:pPr>
            <a:r>
              <a:t>Sprint 2 • Done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47888" y="3127248"/>
            <a:ext cx="3493008" cy="1572768"/>
          </a:xfrm>
          <a:prstGeom prst="roundRect">
            <a:avLst>
              <a:gd name="adj" fmla="val 14000"/>
            </a:avLst>
          </a:prstGeom>
          <a:solidFill>
            <a:srgbClr val="15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85632" y="3383280"/>
            <a:ext cx="2926080" cy="5760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3600" b="1">
                <a:solidFill>
                  <a:srgbClr val="41D3D7"/>
                </a:solidFill>
                <a:latin typeface="Aptos"/>
              </a:defRPr>
            </a:pPr>
            <a:r>
              <a:t>0/35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85632" y="4105656"/>
            <a:ext cx="292608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1F7FC"/>
                </a:solidFill>
                <a:latin typeface="Aptos"/>
              </a:defRPr>
            </a:pPr>
            <a:r>
              <a:t>Sprint 3 • Done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276088"/>
            <a:ext cx="10515600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9FB2C6"/>
                </a:solidFill>
                <a:latin typeface="Aptos"/>
              </a:defRPr>
            </a:pPr>
            <a:r>
              <a:t>Status reflects Jira now, not a historical burndown or independent acceptance audit.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384048"/>
            <a:ext cx="64008" cy="310896"/>
          </a:xfrm>
          <a:prstGeom prst="rect">
            <a:avLst/>
          </a:prstGeom>
          <a:solidFill>
            <a:srgbClr val="41D3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356616"/>
            <a:ext cx="100584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41D3D7"/>
                </a:solidFill>
                <a:latin typeface="Aptos"/>
              </a:defRPr>
            </a:pPr>
            <a:r>
              <a:t>01 / EXECUTIVE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1F7FC"/>
                </a:solidFill>
                <a:latin typeface="Aptos"/>
              </a:defRPr>
            </a:pPr>
            <a:r>
              <a:t>Three sprints, three different states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91656"/>
            <a:ext cx="10927080" cy="12801"/>
          </a:xfrm>
          <a:prstGeom prst="rect">
            <a:avLst/>
          </a:prstGeom>
          <a:solidFill>
            <a:srgbClr val="2A3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6473952"/>
            <a:ext cx="914400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9FB2C6"/>
                </a:solidFill>
                <a:latin typeface="Aptos"/>
              </a:defRPr>
            </a:pPr>
            <a:r>
              <a:t>Jira snapshot • 16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455664"/>
            <a:ext cx="384048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41D3D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64792"/>
            <a:ext cx="3547872" cy="3337560"/>
          </a:xfrm>
          <a:prstGeom prst="roundRect">
            <a:avLst>
              <a:gd name="adj" fmla="val 14000"/>
            </a:avLst>
          </a:prstGeom>
          <a:solidFill>
            <a:srgbClr val="15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57400"/>
            <a:ext cx="3090672" cy="4023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56D3A3"/>
                </a:solidFill>
                <a:latin typeface="Aptos"/>
              </a:defRPr>
            </a:pPr>
            <a:r>
              <a:t>SPRINT 1  /  CLOSED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788920"/>
            <a:ext cx="3063240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1F7FC"/>
                </a:solidFill>
                <a:latin typeface="Aptos"/>
              </a:defRPr>
            </a:pPr>
            <a:r>
              <a:t>27 Done / 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685032"/>
            <a:ext cx="2990088" cy="9784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9FB2C6"/>
                </a:solidFill>
                <a:latin typeface="Aptos"/>
              </a:defRPr>
            </a:pPr>
            <a:r>
              <a:t>15 Sep–2 Oct planned; closed 1 Oct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17136" y="1764792"/>
            <a:ext cx="3547872" cy="3337560"/>
          </a:xfrm>
          <a:prstGeom prst="roundRect">
            <a:avLst>
              <a:gd name="adj" fmla="val 14000"/>
            </a:avLst>
          </a:prstGeom>
          <a:solidFill>
            <a:srgbClr val="15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64024" y="2057400"/>
            <a:ext cx="3090672" cy="4023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FFBE5B"/>
                </a:solidFill>
                <a:latin typeface="Aptos"/>
              </a:defRPr>
            </a:pPr>
            <a:r>
              <a:t>SPRINT 2  /  ACTIVE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64024" y="2788920"/>
            <a:ext cx="3063240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1F7FC"/>
                </a:solidFill>
                <a:latin typeface="Aptos"/>
              </a:defRPr>
            </a:pPr>
            <a:r>
              <a:t>17 Done / 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64024" y="3685032"/>
            <a:ext cx="2990088" cy="9784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9FB2C6"/>
                </a:solidFill>
                <a:latin typeface="Aptos"/>
              </a:defRPr>
            </a:pPr>
            <a:r>
              <a:t>1–15 Oct planned; 3 in development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48472" y="1764792"/>
            <a:ext cx="3547872" cy="3337560"/>
          </a:xfrm>
          <a:prstGeom prst="roundRect">
            <a:avLst>
              <a:gd name="adj" fmla="val 14000"/>
            </a:avLst>
          </a:prstGeom>
          <a:solidFill>
            <a:srgbClr val="15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57400"/>
            <a:ext cx="3090672" cy="4023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41D3D7"/>
                </a:solidFill>
                <a:latin typeface="Aptos"/>
              </a:defRPr>
            </a:pPr>
            <a:r>
              <a:t>SPRINT 3  /  FUTURE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788920"/>
            <a:ext cx="3063240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1F7FC"/>
                </a:solidFill>
                <a:latin typeface="Aptos"/>
              </a:defRPr>
            </a:pPr>
            <a:r>
              <a:t>35 Ready / 35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3685032"/>
            <a:ext cx="2990088" cy="9784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9FB2C6"/>
                </a:solidFill>
                <a:latin typeface="Aptos"/>
              </a:defRPr>
            </a:pPr>
            <a:r>
              <a:t>No Jira start or end date recorded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5559552"/>
            <a:ext cx="10881360" cy="3931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1F7FC"/>
                </a:solidFill>
                <a:latin typeface="Aptos"/>
              </a:defRPr>
            </a:pPr>
            <a:r>
              <a:t>82 sprint issue entries total • all three sprint issue lists reconciled to Jira totals.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384048"/>
            <a:ext cx="64008" cy="310896"/>
          </a:xfrm>
          <a:prstGeom prst="rect">
            <a:avLst/>
          </a:prstGeom>
          <a:solidFill>
            <a:srgbClr val="41D3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356616"/>
            <a:ext cx="100584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41D3D7"/>
                </a:solidFill>
                <a:latin typeface="Aptos"/>
              </a:defRPr>
            </a:pPr>
            <a:r>
              <a:t>02 / SPRINT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1F7FC"/>
                </a:solidFill>
                <a:latin typeface="Aptos"/>
              </a:defRPr>
            </a:pPr>
            <a:r>
              <a:t>Foundation and requirements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91656"/>
            <a:ext cx="10927080" cy="12801"/>
          </a:xfrm>
          <a:prstGeom prst="rect">
            <a:avLst/>
          </a:prstGeom>
          <a:solidFill>
            <a:srgbClr val="2A3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6473952"/>
            <a:ext cx="914400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9FB2C6"/>
                </a:solidFill>
                <a:latin typeface="Aptos"/>
              </a:defRPr>
            </a:pPr>
            <a:r>
              <a:t>Jira snapshot • 16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455664"/>
            <a:ext cx="384048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41D3D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" y="1783080"/>
            <a:ext cx="5257800" cy="3218688"/>
          </a:xfrm>
          <a:prstGeom prst="roundRect">
            <a:avLst>
              <a:gd name="adj" fmla="val 14000"/>
            </a:avLst>
          </a:prstGeom>
          <a:solidFill>
            <a:srgbClr val="15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86968" y="2002536"/>
            <a:ext cx="50292" cy="320040"/>
          </a:xfrm>
          <a:prstGeom prst="rect">
            <a:avLst/>
          </a:prstGeom>
          <a:solidFill>
            <a:srgbClr val="56D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965960"/>
            <a:ext cx="4754880" cy="4297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F1F7FC"/>
                </a:solidFill>
                <a:latin typeface="Aptos"/>
              </a:defRPr>
            </a:pPr>
            <a:r>
              <a:t>27 of 27 tickets Done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542032"/>
            <a:ext cx="4800600" cy="23134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9FB2C6"/>
                </a:solidFill>
                <a:latin typeface="Aptos"/>
              </a:defRPr>
            </a:pPr>
            <a:r>
              <a:t>Project setup, Git collaboration, Next.js/MapLibre direction, Supabase/PostGIS schema and RLS planning.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1783080"/>
            <a:ext cx="5285232" cy="3218688"/>
          </a:xfrm>
          <a:prstGeom prst="roundRect">
            <a:avLst>
              <a:gd name="adj" fmla="val 14000"/>
            </a:avLst>
          </a:prstGeom>
          <a:solidFill>
            <a:srgbClr val="15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36792" y="2002536"/>
            <a:ext cx="50292" cy="320040"/>
          </a:xfrm>
          <a:prstGeom prst="rect">
            <a:avLst/>
          </a:prstGeom>
          <a:solidFill>
            <a:srgbClr val="41D3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1384" y="1965960"/>
            <a:ext cx="4782312" cy="4297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F1F7FC"/>
                </a:solidFill>
                <a:latin typeface="Aptos"/>
              </a:defRPr>
            </a:pPr>
            <a:r>
              <a:t>Design handoff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542032"/>
            <a:ext cx="4828032" cy="23134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9FB2C6"/>
                </a:solidFill>
                <a:latin typeface="Aptos"/>
              </a:defRPr>
            </a:pPr>
            <a:r>
              <a:t>Personas, roles, identity flows, UI wireframes, test plans and performance strategy prepared for subsequent work.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404104"/>
            <a:ext cx="10607040" cy="4937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9FB2C6"/>
                </a:solidFill>
                <a:latin typeface="Aptos"/>
              </a:defRPr>
            </a:pPr>
            <a:r>
              <a:t>Jira state: CLOSED  •  Completed 1 Oct 2026  •  Planned end 2 Oct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384048"/>
            <a:ext cx="64008" cy="310896"/>
          </a:xfrm>
          <a:prstGeom prst="rect">
            <a:avLst/>
          </a:prstGeom>
          <a:solidFill>
            <a:srgbClr val="41D3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356616"/>
            <a:ext cx="100584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41D3D7"/>
                </a:solidFill>
                <a:latin typeface="Aptos"/>
              </a:defRPr>
            </a:pPr>
            <a:r>
              <a:t>03 / SPRINT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1F7FC"/>
                </a:solidFill>
                <a:latin typeface="Aptos"/>
              </a:defRPr>
            </a:pPr>
            <a:r>
              <a:t>Detailed flows and validation plans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91656"/>
            <a:ext cx="10927080" cy="12801"/>
          </a:xfrm>
          <a:prstGeom prst="rect">
            <a:avLst/>
          </a:prstGeom>
          <a:solidFill>
            <a:srgbClr val="2A3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6473952"/>
            <a:ext cx="914400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9FB2C6"/>
                </a:solidFill>
                <a:latin typeface="Aptos"/>
              </a:defRPr>
            </a:pPr>
            <a:r>
              <a:t>Jira snapshot • 16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455664"/>
            <a:ext cx="384048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41D3D7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" y="1755648"/>
            <a:ext cx="5257800" cy="3429000"/>
          </a:xfrm>
          <a:prstGeom prst="roundRect">
            <a:avLst>
              <a:gd name="adj" fmla="val 14000"/>
            </a:avLst>
          </a:prstGeom>
          <a:solidFill>
            <a:srgbClr val="15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86968" y="1975104"/>
            <a:ext cx="50292" cy="320040"/>
          </a:xfrm>
          <a:prstGeom prst="rect">
            <a:avLst/>
          </a:prstGeom>
          <a:solidFill>
            <a:srgbClr val="56D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938528"/>
            <a:ext cx="4754880" cy="4297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F1F7FC"/>
                </a:solidFill>
                <a:latin typeface="Aptos"/>
              </a:defRPr>
            </a:pPr>
            <a:r>
              <a:t>17 of 20 tickets Done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514600"/>
            <a:ext cx="4800600" cy="2523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9FB2C6"/>
                </a:solidFill>
                <a:latin typeface="Aptos"/>
              </a:defRPr>
            </a:pPr>
            <a:r>
              <a:t>Authentication diagrams and test matrices; landing/map initialization, spatial search, filters and drawer flows; functional specification.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1755648"/>
            <a:ext cx="5285232" cy="3429000"/>
          </a:xfrm>
          <a:prstGeom prst="roundRect">
            <a:avLst>
              <a:gd name="adj" fmla="val 14000"/>
            </a:avLst>
          </a:prstGeom>
          <a:solidFill>
            <a:srgbClr val="15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36792" y="1975104"/>
            <a:ext cx="50292" cy="320040"/>
          </a:xfrm>
          <a:prstGeom prst="rect">
            <a:avLst/>
          </a:prstGeom>
          <a:solidFill>
            <a:srgbClr val="FFB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1384" y="1938528"/>
            <a:ext cx="4782312" cy="4297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F1F7FC"/>
                </a:solidFill>
                <a:latin typeface="Aptos"/>
              </a:defRPr>
            </a:pPr>
            <a:r>
              <a:t>3 tickets in development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514600"/>
            <a:ext cx="4828032" cy="2523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9FB2C6"/>
                </a:solidFill>
                <a:latin typeface="Aptos"/>
              </a:defRPr>
            </a:pPr>
            <a:r>
              <a:t>SCRUM-125  Landlord listing flows</a:t>
            </a:r>
          </a:p>
          <a:p>
            <a:pPr>
              <a:spcAft>
                <a:spcPts val="700"/>
              </a:spcAft>
              <a:defRPr sz="1600" b="0">
                <a:solidFill>
                  <a:srgbClr val="9FB2C6"/>
                </a:solidFill>
                <a:latin typeface="Aptos"/>
              </a:defRPr>
            </a:pPr>
            <a:r>
              <a:t>SCRUM-126  Admin KYC / moderation</a:t>
            </a:r>
          </a:p>
          <a:p>
            <a:pPr>
              <a:spcAft>
                <a:spcPts val="700"/>
              </a:spcAft>
              <a:defRPr sz="1600" b="0">
                <a:solidFill>
                  <a:srgbClr val="9FB2C6"/>
                </a:solidFill>
                <a:latin typeface="Aptos"/>
              </a:defRPr>
            </a:pPr>
            <a:r>
              <a:t>SCRUM-127  Renter engagement flows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522976"/>
            <a:ext cx="10515600" cy="4206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FBE5B"/>
                </a:solidFill>
                <a:latin typeface="Aptos"/>
              </a:defRPr>
            </a:pPr>
            <a:r>
              <a:t>Jira still marks Sprint 2 ACTIVE beyond its planned 15 Oct end.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384048"/>
            <a:ext cx="64008" cy="310896"/>
          </a:xfrm>
          <a:prstGeom prst="rect">
            <a:avLst/>
          </a:prstGeom>
          <a:solidFill>
            <a:srgbClr val="41D3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356616"/>
            <a:ext cx="100584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41D3D7"/>
                </a:solidFill>
                <a:latin typeface="Aptos"/>
              </a:defRPr>
            </a:pPr>
            <a:r>
              <a:t>04 / SPRINT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1F7FC"/>
                </a:solidFill>
                <a:latin typeface="Aptos"/>
              </a:defRPr>
            </a:pPr>
            <a:r>
              <a:t>Implementation and QA backlog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91656"/>
            <a:ext cx="10927080" cy="12801"/>
          </a:xfrm>
          <a:prstGeom prst="rect">
            <a:avLst/>
          </a:prstGeom>
          <a:solidFill>
            <a:srgbClr val="2A3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6473952"/>
            <a:ext cx="914400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9FB2C6"/>
                </a:solidFill>
                <a:latin typeface="Aptos"/>
              </a:defRPr>
            </a:pPr>
            <a:r>
              <a:t>Jira snapshot • 16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455664"/>
            <a:ext cx="384048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41D3D7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" y="1764792"/>
            <a:ext cx="5257800" cy="3346704"/>
          </a:xfrm>
          <a:prstGeom prst="roundRect">
            <a:avLst>
              <a:gd name="adj" fmla="val 14000"/>
            </a:avLst>
          </a:prstGeom>
          <a:solidFill>
            <a:srgbClr val="15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86968" y="1984248"/>
            <a:ext cx="50292" cy="320040"/>
          </a:xfrm>
          <a:prstGeom prst="rect">
            <a:avLst/>
          </a:prstGeom>
          <a:solidFill>
            <a:srgbClr val="41D3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947672"/>
            <a:ext cx="4754880" cy="4297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F1F7FC"/>
                </a:solidFill>
                <a:latin typeface="Aptos"/>
              </a:defRPr>
            </a:pPr>
            <a:r>
              <a:t>35 of 35 tickets READY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523744"/>
            <a:ext cx="4800600" cy="24414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9FB2C6"/>
                </a:solidFill>
                <a:latin typeface="Aptos"/>
              </a:defRPr>
            </a:pPr>
            <a:r>
              <a:t>Planned EC2 staging, CI/CD, IAM, monitoring, database/RLS migrations and authentication/RBAC implementation.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1764792"/>
            <a:ext cx="5285232" cy="3346704"/>
          </a:xfrm>
          <a:prstGeom prst="roundRect">
            <a:avLst>
              <a:gd name="adj" fmla="val 14000"/>
            </a:avLst>
          </a:prstGeom>
          <a:solidFill>
            <a:srgbClr val="15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36792" y="1984248"/>
            <a:ext cx="50292" cy="320040"/>
          </a:xfrm>
          <a:prstGeom prst="rect">
            <a:avLst/>
          </a:prstGeom>
          <a:solidFill>
            <a:srgbClr val="41D3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1384" y="1947672"/>
            <a:ext cx="4782312" cy="4297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F1F7FC"/>
                </a:solidFill>
                <a:latin typeface="Aptos"/>
              </a:defRPr>
            </a:pPr>
            <a:r>
              <a:t>Scope ahead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523744"/>
            <a:ext cx="4828032" cy="24414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9FB2C6"/>
                </a:solidFill>
                <a:latin typeface="Aptos"/>
              </a:defRPr>
            </a:pPr>
            <a:r>
              <a:t>Planned page, map and search UI; AI-assistant design; security, performance and end-to-end testing.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449824"/>
            <a:ext cx="10652760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9FB2C6"/>
                </a:solidFill>
                <a:latin typeface="Aptos"/>
              </a:defRPr>
            </a:pPr>
            <a:r>
              <a:t>Future sprint; no dates recorded. All 35 tickets assigned to Hermar centillas in Jira.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384048"/>
            <a:ext cx="64008" cy="310896"/>
          </a:xfrm>
          <a:prstGeom prst="rect">
            <a:avLst/>
          </a:prstGeom>
          <a:solidFill>
            <a:srgbClr val="41D3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356616"/>
            <a:ext cx="100584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41D3D7"/>
                </a:solidFill>
                <a:latin typeface="Aptos"/>
              </a:defRPr>
            </a:pPr>
            <a:r>
              <a:t>05 / CONTINUITY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1F7FC"/>
                </a:solidFill>
                <a:latin typeface="Aptos"/>
              </a:defRPr>
            </a:pPr>
            <a:r>
              <a:t>How the work connects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91656"/>
            <a:ext cx="10927080" cy="12801"/>
          </a:xfrm>
          <a:prstGeom prst="rect">
            <a:avLst/>
          </a:prstGeom>
          <a:solidFill>
            <a:srgbClr val="2A3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6473952"/>
            <a:ext cx="914400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9FB2C6"/>
                </a:solidFill>
                <a:latin typeface="Aptos"/>
              </a:defRPr>
            </a:pPr>
            <a:r>
              <a:t>Jira snapshot • 16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455664"/>
            <a:ext cx="384048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41D3D7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" y="1956816"/>
            <a:ext cx="3493008" cy="2862072"/>
          </a:xfrm>
          <a:prstGeom prst="roundRect">
            <a:avLst>
              <a:gd name="adj" fmla="val 14000"/>
            </a:avLst>
          </a:prstGeom>
          <a:solidFill>
            <a:srgbClr val="15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176272"/>
            <a:ext cx="2971800" cy="5120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56D3A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2944368"/>
            <a:ext cx="2953512" cy="4206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F1F7FC"/>
                </a:solidFill>
                <a:latin typeface="Aptos"/>
              </a:defRPr>
            </a:pPr>
            <a:r>
              <a:t>SPECIFY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3758184"/>
            <a:ext cx="2935224" cy="7772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9FB2C6"/>
                </a:solidFill>
                <a:latin typeface="Aptos"/>
              </a:defRPr>
            </a:pPr>
            <a:r>
              <a:t>Identity, data, access, UX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44568" y="1956816"/>
            <a:ext cx="3493008" cy="2862072"/>
          </a:xfrm>
          <a:prstGeom prst="roundRect">
            <a:avLst>
              <a:gd name="adj" fmla="val 14000"/>
            </a:avLst>
          </a:prstGeom>
          <a:solidFill>
            <a:srgbClr val="15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91456" y="2176272"/>
            <a:ext cx="2971800" cy="5120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FBE5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91456" y="2944368"/>
            <a:ext cx="2953512" cy="4206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F1F7FC"/>
                </a:solidFill>
                <a:latin typeface="Aptos"/>
              </a:defRPr>
            </a:pPr>
            <a:r>
              <a:t>DETAIL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91456" y="3758184"/>
            <a:ext cx="2935224" cy="7772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9FB2C6"/>
                </a:solidFill>
                <a:latin typeface="Aptos"/>
              </a:defRPr>
            </a:pPr>
            <a:r>
              <a:t>Module flows, test design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59" y="1956816"/>
            <a:ext cx="3493008" cy="2862072"/>
          </a:xfrm>
          <a:prstGeom prst="roundRect">
            <a:avLst>
              <a:gd name="adj" fmla="val 14000"/>
            </a:avLst>
          </a:prstGeom>
          <a:solidFill>
            <a:srgbClr val="15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13647" y="2176272"/>
            <a:ext cx="2971800" cy="5120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41D3D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13647" y="2944368"/>
            <a:ext cx="2953512" cy="4206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F1F7FC"/>
                </a:solidFill>
                <a:latin typeface="Aptos"/>
              </a:defRPr>
            </a:pPr>
            <a:r>
              <a:t>BUILD + VERIFY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13647" y="3758184"/>
            <a:ext cx="2935224" cy="7772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9FB2C6"/>
                </a:solidFill>
                <a:latin typeface="Aptos"/>
              </a:defRPr>
            </a:pPr>
            <a:r>
              <a:t>Implementation, staging, QA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" y="5376672"/>
            <a:ext cx="1051560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9FB2C6"/>
                </a:solidFill>
                <a:latin typeface="Aptos"/>
              </a:defRPr>
            </a:pPr>
            <a:r>
              <a:t>Thematic reading of Jira titles—not a verified dependency graph.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384048"/>
            <a:ext cx="64008" cy="310896"/>
          </a:xfrm>
          <a:prstGeom prst="rect">
            <a:avLst/>
          </a:prstGeom>
          <a:solidFill>
            <a:srgbClr val="41D3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356616"/>
            <a:ext cx="100584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41D3D7"/>
                </a:solidFill>
                <a:latin typeface="Aptos"/>
              </a:defRPr>
            </a:pPr>
            <a:r>
              <a:t>06 / ATTENTION ITEMS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1F7FC"/>
                </a:solidFill>
                <a:latin typeface="Aptos"/>
              </a:defRPr>
            </a:pPr>
            <a:r>
              <a:t>Risks to resolve before Sprint 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91656"/>
            <a:ext cx="10927080" cy="12801"/>
          </a:xfrm>
          <a:prstGeom prst="rect">
            <a:avLst/>
          </a:prstGeom>
          <a:solidFill>
            <a:srgbClr val="2A3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6473952"/>
            <a:ext cx="914400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9FB2C6"/>
                </a:solidFill>
                <a:latin typeface="Aptos"/>
              </a:defRPr>
            </a:pPr>
            <a:r>
              <a:t>Jira snapshot • 16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455664"/>
            <a:ext cx="384048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41D3D7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1865376"/>
            <a:ext cx="68580" cy="68580"/>
          </a:xfrm>
          <a:prstGeom prst="rect">
            <a:avLst/>
          </a:prstGeom>
          <a:solidFill>
            <a:srgbClr val="FFB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1737360"/>
            <a:ext cx="10332720" cy="3383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F1F7FC"/>
                </a:solidFill>
                <a:latin typeface="Aptos"/>
              </a:defRPr>
            </a:pPr>
            <a:r>
              <a:t>Close Sprint 2 carry-over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2112264"/>
            <a:ext cx="10287000" cy="52120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9FB2C6"/>
                </a:solidFill>
                <a:latin typeface="Aptos"/>
              </a:defRPr>
            </a:pPr>
            <a:r>
              <a:t>SCRUM-125–127 are still IN DEVELOPMENT; SCRUM-161 tracks the handoff.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" y="2926080"/>
            <a:ext cx="68580" cy="68580"/>
          </a:xfrm>
          <a:prstGeom prst="rect">
            <a:avLst/>
          </a:prstGeom>
          <a:solidFill>
            <a:srgbClr val="41D3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2798064"/>
            <a:ext cx="10332720" cy="3383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F1F7FC"/>
                </a:solidFill>
                <a:latin typeface="Aptos"/>
              </a:defRPr>
            </a:pPr>
            <a:r>
              <a:t>Confirm acceptance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3172968"/>
            <a:ext cx="10287000" cy="52120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9FB2C6"/>
                </a:solidFill>
                <a:latin typeface="Aptos"/>
              </a:defRPr>
            </a:pPr>
            <a:r>
              <a:t>A Done status is not independent evidence of code, testing or stakeholder acceptance.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3986783"/>
            <a:ext cx="68580" cy="68580"/>
          </a:xfrm>
          <a:prstGeom prst="rect">
            <a:avLst/>
          </a:prstGeom>
          <a:solidFill>
            <a:srgbClr val="FFB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3858768"/>
            <a:ext cx="10332720" cy="3383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F1F7FC"/>
                </a:solidFill>
                <a:latin typeface="Aptos"/>
              </a:defRPr>
            </a:pPr>
            <a:r>
              <a:t>Rebalance capacity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4233672"/>
            <a:ext cx="10287000" cy="52120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9FB2C6"/>
                </a:solidFill>
                <a:latin typeface="Aptos"/>
              </a:defRPr>
            </a:pPr>
            <a:r>
              <a:t>35 Sprint 3 tickets currently have one Jira assignee; validate owners, estimates and sequence.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138928"/>
            <a:ext cx="10232136" cy="8412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9FB2C6"/>
                </a:solidFill>
                <a:latin typeface="Aptos"/>
              </a:defRPr>
            </a:pPr>
            <a:r>
              <a:t>Local audit note: Sprint 2 draft packages were attached; visual/product/schema QA and acceptance remained open.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384048"/>
            <a:ext cx="64008" cy="310896"/>
          </a:xfrm>
          <a:prstGeom prst="rect">
            <a:avLst/>
          </a:prstGeom>
          <a:solidFill>
            <a:srgbClr val="41D3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356616"/>
            <a:ext cx="100584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41D3D7"/>
                </a:solidFill>
                <a:latin typeface="Aptos"/>
              </a:defRPr>
            </a:pPr>
            <a:r>
              <a:t>07 /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1F7FC"/>
                </a:solidFill>
                <a:latin typeface="Aptos"/>
              </a:defRPr>
            </a:pPr>
            <a:r>
              <a:t>Recommended next 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91656"/>
            <a:ext cx="10927080" cy="12801"/>
          </a:xfrm>
          <a:prstGeom prst="rect">
            <a:avLst/>
          </a:prstGeom>
          <a:solidFill>
            <a:srgbClr val="2A3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6473952"/>
            <a:ext cx="914400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9FB2C6"/>
                </a:solidFill>
                <a:latin typeface="Aptos"/>
              </a:defRPr>
            </a:pPr>
            <a:r>
              <a:t>Jira snapshot • 16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455664"/>
            <a:ext cx="384048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41D3D7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1892807"/>
            <a:ext cx="68580" cy="68580"/>
          </a:xfrm>
          <a:prstGeom prst="rect">
            <a:avLst/>
          </a:prstGeom>
          <a:solidFill>
            <a:srgbClr val="FFB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1764792"/>
            <a:ext cx="10332720" cy="3383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F1F7FC"/>
                </a:solidFill>
                <a:latin typeface="Aptos"/>
              </a:defRPr>
            </a:pPr>
            <a:r>
              <a:t>1  Review and accept carry-over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2139696"/>
            <a:ext cx="10287000" cy="52120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9FB2C6"/>
                </a:solidFill>
                <a:latin typeface="Aptos"/>
              </a:defRPr>
            </a:pPr>
            <a:r>
              <a:t>Verify the three flowchart tickets against the agreed product/schema criteria.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" y="3017520"/>
            <a:ext cx="68580" cy="68580"/>
          </a:xfrm>
          <a:prstGeom prst="rect">
            <a:avLst/>
          </a:prstGeom>
          <a:solidFill>
            <a:srgbClr val="41D3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2889504"/>
            <a:ext cx="10332720" cy="3383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F1F7FC"/>
                </a:solidFill>
                <a:latin typeface="Aptos"/>
              </a:defRPr>
            </a:pPr>
            <a:r>
              <a:t>2  Replan Sprint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3264408"/>
            <a:ext cx="10287000" cy="52120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9FB2C6"/>
                </a:solidFill>
                <a:latin typeface="Aptos"/>
              </a:defRPr>
            </a:pPr>
            <a:r>
              <a:t>Confirm dates, owners and capacity before starting implementation.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4142231"/>
            <a:ext cx="68580" cy="68580"/>
          </a:xfrm>
          <a:prstGeom prst="rect">
            <a:avLst/>
          </a:prstGeom>
          <a:solidFill>
            <a:srgbClr val="56D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4014215"/>
            <a:ext cx="10332720" cy="3383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F1F7FC"/>
                </a:solidFill>
                <a:latin typeface="Aptos"/>
              </a:defRPr>
            </a:pPr>
            <a:r>
              <a:t>3  Set a verification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4389120"/>
            <a:ext cx="10287000" cy="52120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9FB2C6"/>
                </a:solidFill>
                <a:latin typeface="Aptos"/>
              </a:defRPr>
            </a:pPr>
            <a:r>
              <a:t>Require ticket-level code, test and acceptance evidence before calling work delivered.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384048"/>
            <a:ext cx="64008" cy="310896"/>
          </a:xfrm>
          <a:prstGeom prst="rect">
            <a:avLst/>
          </a:prstGeom>
          <a:solidFill>
            <a:srgbClr val="41D3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356616"/>
            <a:ext cx="100584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41D3D7"/>
                </a:solidFill>
                <a:latin typeface="Aptos"/>
              </a:defRPr>
            </a:pPr>
            <a:r>
              <a:t>08 /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1F7FC"/>
                </a:solidFill>
                <a:latin typeface="Aptos"/>
              </a:defRPr>
            </a:pPr>
            <a:r>
              <a:t>Evidence and interpretation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91656"/>
            <a:ext cx="10927080" cy="12801"/>
          </a:xfrm>
          <a:prstGeom prst="rect">
            <a:avLst/>
          </a:prstGeom>
          <a:solidFill>
            <a:srgbClr val="2A3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6473952"/>
            <a:ext cx="914400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9FB2C6"/>
                </a:solidFill>
                <a:latin typeface="Aptos"/>
              </a:defRPr>
            </a:pPr>
            <a:r>
              <a:t>Source retrieval: Jira board #1 • 16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455664"/>
            <a:ext cx="384048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41D3D7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1828800"/>
            <a:ext cx="10607040" cy="12161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F1F7FC"/>
                </a:solidFill>
                <a:latin typeface="Aptos"/>
              </a:defRPr>
            </a:pPr>
            <a:r>
              <a:t>Jira SCRUM board #1: Sprint 1 (#4), Sprint 2 (#70), Sprint 3 (#72).</a:t>
            </a:r>
          </a:p>
          <a:p>
            <a:pPr>
              <a:spcAft>
                <a:spcPts val="700"/>
              </a:spcAft>
              <a:defRPr sz="2000" b="0">
                <a:solidFill>
                  <a:srgbClr val="F1F7FC"/>
                </a:solidFill>
                <a:latin typeface="Aptos"/>
              </a:defRPr>
            </a:pPr>
            <a:r>
              <a:t>27 + 20 + 35 sprint issue entries; metadata and issue statuses checked live.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310128"/>
            <a:ext cx="1078992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41D3D7"/>
                </a:solidFill>
                <a:latin typeface="Aptos"/>
              </a:defRPr>
            </a:pPr>
            <a:r>
              <a:t>https://abangcebuai.atlassian.net/jira/software/projects/SCRUM/boards/1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4142232"/>
            <a:ext cx="10698480" cy="10607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9FB2C6"/>
                </a:solidFill>
                <a:latin typeface="Aptos"/>
              </a:defRPr>
            </a:pPr>
            <a:r>
              <a:t>Supporting narrative: docs/reports/AbangCebu_Sprints_1-3_Report.docx</a:t>
            </a:r>
          </a:p>
          <a:p>
            <a:pPr>
              <a:spcAft>
                <a:spcPts val="700"/>
              </a:spcAft>
              <a:defRPr sz="1700" b="0">
                <a:solidFill>
                  <a:srgbClr val="9FB2C6"/>
                </a:solidFill>
                <a:latin typeface="Aptos"/>
              </a:defRPr>
            </a:pPr>
            <a:r>
              <a:t>Scope: issue/status snapshot, not verified burndown, implementation, test results or acceptance.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