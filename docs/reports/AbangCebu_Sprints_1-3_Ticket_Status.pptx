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0" TargetMode="External"/><Relationship Id="rId3" Type="http://schemas.openxmlformats.org/officeDocument/2006/relationships/hyperlink" Target="https://abangcebuai.atlassian.net/browse/SCRUM-49" TargetMode="External"/><Relationship Id="rId4" Type="http://schemas.openxmlformats.org/officeDocument/2006/relationships/hyperlink" Target="https://abangcebuai.atlassian.net/browse/SCRUM-6" TargetMode="External"/><Relationship Id="rId5" Type="http://schemas.openxmlformats.org/officeDocument/2006/relationships/hyperlink" Target="https://abangcebuai.atlassian.net/browse/SCRUM-55" TargetMode="External"/><Relationship Id="rId6" Type="http://schemas.openxmlformats.org/officeDocument/2006/relationships/hyperlink" Target="https://abangcebuai.atlassian.net/browse/SCRUM-62" TargetMode="External"/><Relationship Id="rId7" Type="http://schemas.openxmlformats.org/officeDocument/2006/relationships/hyperlink" Target="https://abangcebuai.atlassian.net/browse/SCRUM-50" TargetMode="External"/><Relationship Id="rId8" Type="http://schemas.openxmlformats.org/officeDocument/2006/relationships/hyperlink" Target="https://abangcebuai.atlassian.net/browse/SCRUM-51" TargetMode="External"/><Relationship Id="rId9" Type="http://schemas.openxmlformats.org/officeDocument/2006/relationships/hyperlink" Target="https://abangcebuai.atlassian.net/browse/SCRUM-52" TargetMode="External"/><Relationship Id="rId10" Type="http://schemas.openxmlformats.org/officeDocument/2006/relationships/hyperlink" Target="https://abangcebuai.atlassian.net/browse/SCRUM-53" TargetMode="External"/><Relationship Id="rId11" Type="http://schemas.openxmlformats.org/officeDocument/2006/relationships/hyperlink" Target="https://abangcebuai.atlassian.net/browse/SCRUM-5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56" TargetMode="External"/><Relationship Id="rId3" Type="http://schemas.openxmlformats.org/officeDocument/2006/relationships/hyperlink" Target="https://abangcebuai.atlassian.net/browse/SCRUM-57" TargetMode="External"/><Relationship Id="rId4" Type="http://schemas.openxmlformats.org/officeDocument/2006/relationships/hyperlink" Target="https://abangcebuai.atlassian.net/browse/SCRUM-58" TargetMode="External"/><Relationship Id="rId5" Type="http://schemas.openxmlformats.org/officeDocument/2006/relationships/hyperlink" Target="https://abangcebuai.atlassian.net/browse/SCRUM-60" TargetMode="External"/><Relationship Id="rId6" Type="http://schemas.openxmlformats.org/officeDocument/2006/relationships/hyperlink" Target="https://abangcebuai.atlassian.net/browse/SCRUM-48" TargetMode="External"/><Relationship Id="rId7" Type="http://schemas.openxmlformats.org/officeDocument/2006/relationships/hyperlink" Target="https://abangcebuai.atlassian.net/browse/SCRUM-64" TargetMode="External"/><Relationship Id="rId8" Type="http://schemas.openxmlformats.org/officeDocument/2006/relationships/hyperlink" Target="https://abangcebuai.atlassian.net/browse/SCRUM-63" TargetMode="External"/><Relationship Id="rId9" Type="http://schemas.openxmlformats.org/officeDocument/2006/relationships/hyperlink" Target="https://abangcebuai.atlassian.net/browse/SCRUM-61" TargetMode="External"/><Relationship Id="rId10" Type="http://schemas.openxmlformats.org/officeDocument/2006/relationships/hyperlink" Target="https://abangcebuai.atlassian.net/browse/SCRUM-59" TargetMode="External"/><Relationship Id="rId11" Type="http://schemas.openxmlformats.org/officeDocument/2006/relationships/hyperlink" Target="https://abangcebuai.atlassian.net/browse/SCRUM-6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66" TargetMode="External"/><Relationship Id="rId3" Type="http://schemas.openxmlformats.org/officeDocument/2006/relationships/hyperlink" Target="https://abangcebuai.atlassian.net/browse/SCRUM-67" TargetMode="External"/><Relationship Id="rId4" Type="http://schemas.openxmlformats.org/officeDocument/2006/relationships/hyperlink" Target="https://abangcebuai.atlassian.net/browse/SCRUM-68" TargetMode="External"/><Relationship Id="rId5" Type="http://schemas.openxmlformats.org/officeDocument/2006/relationships/hyperlink" Target="https://abangcebuai.atlassian.net/browse/SCRUM-69" TargetMode="External"/><Relationship Id="rId6" Type="http://schemas.openxmlformats.org/officeDocument/2006/relationships/hyperlink" Target="https://abangcebuai.atlassian.net/browse/SCRUM-70" TargetMode="External"/><Relationship Id="rId7" Type="http://schemas.openxmlformats.org/officeDocument/2006/relationships/hyperlink" Target="https://abangcebuai.atlassian.net/browse/SCRUM-71" TargetMode="External"/><Relationship Id="rId8" Type="http://schemas.openxmlformats.org/officeDocument/2006/relationships/hyperlink" Target="https://abangcebuai.atlassian.net/browse/SCRUM-7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04" TargetMode="External"/><Relationship Id="rId3" Type="http://schemas.openxmlformats.org/officeDocument/2006/relationships/hyperlink" Target="https://abangcebuai.atlassian.net/browse/SCRUM-105" TargetMode="External"/><Relationship Id="rId4" Type="http://schemas.openxmlformats.org/officeDocument/2006/relationships/hyperlink" Target="https://abangcebuai.atlassian.net/browse/SCRUM-106" TargetMode="External"/><Relationship Id="rId5" Type="http://schemas.openxmlformats.org/officeDocument/2006/relationships/hyperlink" Target="https://abangcebuai.atlassian.net/browse/SCRUM-107" TargetMode="External"/><Relationship Id="rId6" Type="http://schemas.openxmlformats.org/officeDocument/2006/relationships/hyperlink" Target="https://abangcebuai.atlassian.net/browse/SCRUM-108" TargetMode="External"/><Relationship Id="rId7" Type="http://schemas.openxmlformats.org/officeDocument/2006/relationships/hyperlink" Target="https://abangcebuai.atlassian.net/browse/SCRUM-109" TargetMode="External"/><Relationship Id="rId8" Type="http://schemas.openxmlformats.org/officeDocument/2006/relationships/hyperlink" Target="https://abangcebuai.atlassian.net/browse/SCRUM-110" TargetMode="External"/><Relationship Id="rId9" Type="http://schemas.openxmlformats.org/officeDocument/2006/relationships/hyperlink" Target="https://abangcebuai.atlassian.net/browse/SCRUM-111" TargetMode="External"/><Relationship Id="rId10" Type="http://schemas.openxmlformats.org/officeDocument/2006/relationships/hyperlink" Target="https://abangcebuai.atlassian.net/browse/SCRUM-112" TargetMode="External"/><Relationship Id="rId11" Type="http://schemas.openxmlformats.org/officeDocument/2006/relationships/hyperlink" Target="https://abangcebuai.atlassian.net/browse/SCRUM-113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14" TargetMode="External"/><Relationship Id="rId3" Type="http://schemas.openxmlformats.org/officeDocument/2006/relationships/hyperlink" Target="https://abangcebuai.atlassian.net/browse/SCRUM-116" TargetMode="External"/><Relationship Id="rId4" Type="http://schemas.openxmlformats.org/officeDocument/2006/relationships/hyperlink" Target="https://abangcebuai.atlassian.net/browse/SCRUM-117" TargetMode="External"/><Relationship Id="rId5" Type="http://schemas.openxmlformats.org/officeDocument/2006/relationships/hyperlink" Target="https://abangcebuai.atlassian.net/browse/SCRUM-118" TargetMode="External"/><Relationship Id="rId6" Type="http://schemas.openxmlformats.org/officeDocument/2006/relationships/hyperlink" Target="https://abangcebuai.atlassian.net/browse/SCRUM-119" TargetMode="External"/><Relationship Id="rId7" Type="http://schemas.openxmlformats.org/officeDocument/2006/relationships/hyperlink" Target="https://abangcebuai.atlassian.net/browse/SCRUM-120" TargetMode="External"/><Relationship Id="rId8" Type="http://schemas.openxmlformats.org/officeDocument/2006/relationships/hyperlink" Target="https://abangcebuai.atlassian.net/browse/SCRUM-122" TargetMode="External"/><Relationship Id="rId9" Type="http://schemas.openxmlformats.org/officeDocument/2006/relationships/hyperlink" Target="https://abangcebuai.atlassian.net/browse/SCRUM-125" TargetMode="External"/><Relationship Id="rId10" Type="http://schemas.openxmlformats.org/officeDocument/2006/relationships/hyperlink" Target="https://abangcebuai.atlassian.net/browse/SCRUM-126" TargetMode="External"/><Relationship Id="rId11" Type="http://schemas.openxmlformats.org/officeDocument/2006/relationships/hyperlink" Target="https://abangcebuai.atlassian.net/browse/SCRUM-12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34" TargetMode="External"/><Relationship Id="rId3" Type="http://schemas.openxmlformats.org/officeDocument/2006/relationships/hyperlink" Target="https://abangcebuai.atlassian.net/browse/SCRUM-135" TargetMode="External"/><Relationship Id="rId4" Type="http://schemas.openxmlformats.org/officeDocument/2006/relationships/hyperlink" Target="https://abangcebuai.atlassian.net/browse/SCRUM-136" TargetMode="External"/><Relationship Id="rId5" Type="http://schemas.openxmlformats.org/officeDocument/2006/relationships/hyperlink" Target="https://abangcebuai.atlassian.net/browse/SCRUM-137" TargetMode="External"/><Relationship Id="rId6" Type="http://schemas.openxmlformats.org/officeDocument/2006/relationships/hyperlink" Target="https://abangcebuai.atlassian.net/browse/SCRUM-138" TargetMode="External"/><Relationship Id="rId7" Type="http://schemas.openxmlformats.org/officeDocument/2006/relationships/hyperlink" Target="https://abangcebuai.atlassian.net/browse/SCRUM-139" TargetMode="External"/><Relationship Id="rId8" Type="http://schemas.openxmlformats.org/officeDocument/2006/relationships/hyperlink" Target="https://abangcebuai.atlassian.net/browse/SCRUM-140" TargetMode="External"/><Relationship Id="rId9" Type="http://schemas.openxmlformats.org/officeDocument/2006/relationships/hyperlink" Target="https://abangcebuai.atlassian.net/browse/SCRUM-141" TargetMode="External"/><Relationship Id="rId10" Type="http://schemas.openxmlformats.org/officeDocument/2006/relationships/hyperlink" Target="https://abangcebuai.atlassian.net/browse/SCRUM-142" TargetMode="External"/><Relationship Id="rId11" Type="http://schemas.openxmlformats.org/officeDocument/2006/relationships/hyperlink" Target="https://abangcebuai.atlassian.net/browse/SCRUM-14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44" TargetMode="External"/><Relationship Id="rId3" Type="http://schemas.openxmlformats.org/officeDocument/2006/relationships/hyperlink" Target="https://abangcebuai.atlassian.net/browse/SCRUM-145" TargetMode="External"/><Relationship Id="rId4" Type="http://schemas.openxmlformats.org/officeDocument/2006/relationships/hyperlink" Target="https://abangcebuai.atlassian.net/browse/SCRUM-146" TargetMode="External"/><Relationship Id="rId5" Type="http://schemas.openxmlformats.org/officeDocument/2006/relationships/hyperlink" Target="https://abangcebuai.atlassian.net/browse/SCRUM-147" TargetMode="External"/><Relationship Id="rId6" Type="http://schemas.openxmlformats.org/officeDocument/2006/relationships/hyperlink" Target="https://abangcebuai.atlassian.net/browse/SCRUM-148" TargetMode="External"/><Relationship Id="rId7" Type="http://schemas.openxmlformats.org/officeDocument/2006/relationships/hyperlink" Target="https://abangcebuai.atlassian.net/browse/SCRUM-149" TargetMode="External"/><Relationship Id="rId8" Type="http://schemas.openxmlformats.org/officeDocument/2006/relationships/hyperlink" Target="https://abangcebuai.atlassian.net/browse/SCRUM-150" TargetMode="External"/><Relationship Id="rId9" Type="http://schemas.openxmlformats.org/officeDocument/2006/relationships/hyperlink" Target="https://abangcebuai.atlassian.net/browse/SCRUM-151" TargetMode="External"/><Relationship Id="rId10" Type="http://schemas.openxmlformats.org/officeDocument/2006/relationships/hyperlink" Target="https://abangcebuai.atlassian.net/browse/SCRUM-152" TargetMode="External"/><Relationship Id="rId11" Type="http://schemas.openxmlformats.org/officeDocument/2006/relationships/hyperlink" Target="https://abangcebuai.atlassian.net/browse/SCRUM-153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54" TargetMode="External"/><Relationship Id="rId3" Type="http://schemas.openxmlformats.org/officeDocument/2006/relationships/hyperlink" Target="https://abangcebuai.atlassian.net/browse/SCRUM-155" TargetMode="External"/><Relationship Id="rId4" Type="http://schemas.openxmlformats.org/officeDocument/2006/relationships/hyperlink" Target="https://abangcebuai.atlassian.net/browse/SCRUM-156" TargetMode="External"/><Relationship Id="rId5" Type="http://schemas.openxmlformats.org/officeDocument/2006/relationships/hyperlink" Target="https://abangcebuai.atlassian.net/browse/SCRUM-157" TargetMode="External"/><Relationship Id="rId6" Type="http://schemas.openxmlformats.org/officeDocument/2006/relationships/hyperlink" Target="https://abangcebuai.atlassian.net/browse/SCRUM-158" TargetMode="External"/><Relationship Id="rId7" Type="http://schemas.openxmlformats.org/officeDocument/2006/relationships/hyperlink" Target="https://abangcebuai.atlassian.net/browse/SCRUM-159" TargetMode="External"/><Relationship Id="rId8" Type="http://schemas.openxmlformats.org/officeDocument/2006/relationships/hyperlink" Target="https://abangcebuai.atlassian.net/browse/SCRUM-160" TargetMode="External"/><Relationship Id="rId9" Type="http://schemas.openxmlformats.org/officeDocument/2006/relationships/hyperlink" Target="https://abangcebuai.atlassian.net/browse/SCRUM-161" TargetMode="External"/><Relationship Id="rId10" Type="http://schemas.openxmlformats.org/officeDocument/2006/relationships/hyperlink" Target="https://abangcebuai.atlassian.net/browse/SCRUM-162" TargetMode="External"/><Relationship Id="rId11" Type="http://schemas.openxmlformats.org/officeDocument/2006/relationships/hyperlink" Target="https://abangcebuai.atlassian.net/browse/SCRUM-16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bangcebuai.atlassian.net/browse/SCRUM-164" TargetMode="External"/><Relationship Id="rId3" Type="http://schemas.openxmlformats.org/officeDocument/2006/relationships/hyperlink" Target="https://abangcebuai.atlassian.net/browse/SCRUM-165" TargetMode="External"/><Relationship Id="rId4" Type="http://schemas.openxmlformats.org/officeDocument/2006/relationships/hyperlink" Target="https://abangcebuai.atlassian.net/browse/SCRUM-166" TargetMode="External"/><Relationship Id="rId5" Type="http://schemas.openxmlformats.org/officeDocument/2006/relationships/hyperlink" Target="https://abangcebuai.atlassian.net/browse/SCRUM-167" TargetMode="External"/><Relationship Id="rId6" Type="http://schemas.openxmlformats.org/officeDocument/2006/relationships/hyperlink" Target="https://abangcebuai.atlassian.net/browse/SCRUM-16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1 → SPRINT 2 →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What is Done? What is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Abang Cebu AI • ticket-by-ticket Jira status • 16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383280" cy="9144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4000" b="1">
                <a:solidFill>
                  <a:srgbClr val="3DD6B1"/>
                </a:solidFill>
                <a:latin typeface="Aptos"/>
              </a:defRPr>
            </a:pPr>
            <a:r>
              <a:t>27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18688"/>
            <a:ext cx="347472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600" b="1">
                <a:solidFill>
                  <a:srgbClr val="F0F8F8"/>
                </a:solidFill>
                <a:latin typeface="Aptos"/>
              </a:defRPr>
            </a:pPr>
            <a:r>
              <a:t>SPRINT 1  • 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383280" cy="9144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4000" b="1">
                <a:solidFill>
                  <a:srgbClr val="3DD6B1"/>
                </a:solidFill>
                <a:latin typeface="Aptos"/>
              </a:defRPr>
            </a:pPr>
            <a:r>
              <a:t>17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18688"/>
            <a:ext cx="347472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600" b="1">
                <a:solidFill>
                  <a:srgbClr val="F0F8F8"/>
                </a:solidFill>
                <a:latin typeface="Aptos"/>
              </a:defRPr>
            </a:pPr>
            <a:r>
              <a:t>SPRINT 2  • 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31720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4000" b="1">
                <a:solidFill>
                  <a:srgbClr val="9FB7BF"/>
                </a:solidFill>
                <a:latin typeface="Aptos"/>
              </a:defRPr>
            </a:pPr>
            <a:r>
              <a:t>0 / 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218688"/>
            <a:ext cx="329184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600" b="1">
                <a:solidFill>
                  <a:srgbClr val="F0F8F8"/>
                </a:solidFill>
                <a:latin typeface="Aptos"/>
              </a:defRPr>
            </a:pPr>
            <a:r>
              <a:t>SPRINT 3  • 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85232"/>
            <a:ext cx="100584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500" b="0">
                <a:solidFill>
                  <a:srgbClr val="9FB7BF"/>
                </a:solidFill>
                <a:latin typeface="Aptos"/>
              </a:defRPr>
            </a:pPr>
            <a:r>
              <a:t>Jira status is not independent proof of implementation or acceptance.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1 /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27 of 27 tickets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15 Sep–2 Oct planned • completed 1 Oct 2026 • foundation, requirements, UX, test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10058400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3000" b="1">
                <a:solidFill>
                  <a:srgbClr val="3DD6B1"/>
                </a:solidFill>
                <a:latin typeface="Aptos"/>
              </a:defRPr>
            </a:pPr>
            <a:r>
              <a:t>All 27 Sprint 1 issue statuses are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058400" cy="1371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200" b="0">
                <a:solidFill>
                  <a:srgbClr val="F0F8F8"/>
                </a:solidFill>
                <a:latin typeface="Aptos"/>
              </a:defRPr>
            </a:pPr>
            <a:r>
              <a:t>Scope: project setup; database and security design; authentication specifications; wireframes; test and performance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1 / TICKETS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1: tickets 1–10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27 / 27 Done • Jira sprint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Create AbangCebu System Flowcharts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Establish Git Branching &amp; PR Collaboration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create AWS account for the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Draft Row Level Security (RLS) Policy Specifications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Define Landlord Persona, Permissions &amp; 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Configure UI Framework &amp; Styling Guidelines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Environment Variables &amp; Secrets Governance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Plan Supabase Project Structure &amp; Extensions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SCRUM-53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Design Initial Database ERD Diagram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Define Users &amp; Profiles Table Schema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1 / TICKETS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1: tickets 11–20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27 / 27 Done • Jira sprint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Specify User Registration Workflow &amp; Data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Specify User Login &amp; Session Token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Specify User Logout &amp; Session Invalidation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Document Authentication Error Handling &amp; Edge Cases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Plan Next.js 15 &amp; MapLibre Project Foundation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Design Landing Page Wireframe / Mockup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Create Role-Based Access Control (RBAC) Matrix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Define Renter Persona, Permissions &amp; Capabilities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Specify Password Reset &amp; Recovery Workflow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Design Login Page Wireframe / Mockup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1 / TICKETS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1: tickets 21–27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27 / 27 Done • Jira sprint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Design Registration Page Wireframe / Mockup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Design User Dashboard Wireframe / Mockup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Design Profile Page Wireframe / Mockup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Draft Authentication Test Plan &amp; Test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Draft Role &amp; Access Permission Verification Test Cases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Draft Protected Route &amp; Middleware Test Scenarios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Plan Authentication Baseline Latency &amp; Load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2 /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17 Done · 3 In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1–15 Oct planned • Jira still marks the sprint active as of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10058400" cy="1051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200" b="1">
                <a:solidFill>
                  <a:srgbClr val="3DD6B1"/>
                </a:solidFill>
                <a:latin typeface="Aptos"/>
              </a:defRPr>
            </a:pPr>
            <a:r>
              <a:t>Done: authentication flows and test plans, spatial discovery flows, functional specification.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058400" cy="12801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200" b="1">
                <a:solidFill>
                  <a:srgbClr val="FABE5E"/>
                </a:solidFill>
                <a:latin typeface="Aptos"/>
              </a:defRPr>
            </a:pPr>
            <a:r>
              <a:t>Not Done: SCRUM-125 landlord; SCRUM-126 admin KYC; SCRUM-127 renter engagement flowcharts.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2 / TICKETS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2: tickets 1–10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17 Done • 3 In Development • Jira sprint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Sign Up Module &amp; Flowchart: Registration &amp; PKCE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Log In Module &amp; Flowchart: Authentication &amp; Session Token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SCRUM-106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Password Reset Module &amp; Flowchart: Self-Service Recovery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SCRUM-107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Sign Out Module &amp; Flowchart: Session Termination &amp; Multi-Tab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SCRUM-108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Error Handling &amp; Suspension Module &amp; Flowchart: Failure Taxonomy &amp; UX States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Authentication Master Test Plan &amp; Test Matrix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SCRUM-110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Sign Up Module Test Plan &amp; Registration Test Cases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Log In Module Test Plan &amp; Session Token Test Cases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SCRUM-112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Password Reset &amp; Sign Out Module Test Cases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SCRUM-113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Route Guards &amp; Middleware Security Test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2 / TICKETS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2: tickets 11–20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17 Done • 3 In Development • Jira sprint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Authentication Baseline Latency &amp; Load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SCRUM-116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Landing Page Master Orchestration &amp; Spatial Discovery Flowchart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SCRUM-117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Sub-Process 2.1: Map Initialization, Viewport &amp; Geolocation Flowchart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Sub-Process 2.2: Spatial Search, Landmark Auto-Suggest &amp; PostGIS Query Flowchart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SCRUM-119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Sub-Process 2.3: Multi-Criteria Filter Pills &amp; URL State Sync Flowchart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Sub-Process 2.4: Bidirectional Pin Marker &amp; 3-Snap Gesture Drawer Flowchart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SCRUM-122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3DD6B1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FUNCTION SPECIFICATION DOCUMENT FOR ABANG CEBU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SCRUM-125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FABE5E"/>
                </a:solidFill>
                <a:latin typeface="Aptos"/>
              </a:defRPr>
            </a:pPr>
            <a:r>
              <a:t>IN DEV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Module 3: Landlord Onboarding &amp; Listing Management Flowcharts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SCRUM-126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FABE5E"/>
                </a:solidFill>
                <a:latin typeface="Aptos"/>
              </a:defRPr>
            </a:pPr>
            <a:r>
              <a:t>IN DEV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Module 4: Admin KYC Verification &amp; Listing Moderation Flowcharts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SCRUM-127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FABE5E"/>
                </a:solidFill>
                <a:latin typeface="Aptos"/>
              </a:defRPr>
            </a:pPr>
            <a:r>
              <a:t>IN DEV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Module 5: Renter Favorites, Contact &amp; Viewing Inquiry Flowcharts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3 /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35 Ready · 0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No start or end date recorded in Jira • implementation and verification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10058400" cy="12801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300" b="1">
                <a:solidFill>
                  <a:srgbClr val="F0F8F8"/>
                </a:solidFill>
                <a:latin typeface="Aptos"/>
              </a:defRPr>
            </a:pPr>
            <a:r>
              <a:t>Planned: staging and CI/CD; database/RLS; authentication, map and UI; AI design; security and QA.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85615"/>
            <a:ext cx="100584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000" b="0">
                <a:solidFill>
                  <a:srgbClr val="FABE5E"/>
                </a:solidFill>
                <a:latin typeface="Aptos"/>
              </a:defRPr>
            </a:pPr>
            <a:r>
              <a:t>Ready is a workflow status, not evidence of completed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3 / TICKETS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3: tickets 1–10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35 Ready • 0 Done • sprint not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Provision AWS EC2 staging environment for Next.js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Set up GitHub Actions CI pipeline (tsc, lint, build)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SCRUM-136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Automate deployment from main to EC2 staging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SCRUM-137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Define IAM least-privilege roles and policies for staging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SCRUM-138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IAM access review and security audit of staging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SCRUM-139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Set up monitoring, logging and uptime alerts for staging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core listing tables migration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SCRUM-141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engagement tables migration (inquiries, saved_listings, reviews, audit_logs)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SCRUM-142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Apply Row Level Security policies as migrations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SCRUM-143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Create PostGIS search functions (viewport bbox and landmark radius)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3 / TICKETS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3: tickets 11–20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35 Ready • 0 Done • sprint not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Seed Metro Cebu landmarks and sample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Configure Supabase Storage buckets and database backups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Complete Database Specification workbook (.xlsx)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sign-up and email verification (PKCE)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SCRUM-148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login, session refresh and Remember 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logout and multi-tab sign-out sync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password reset and recovery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SCRUM-151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RBAC middleware and route guards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SCRUM-152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standard API error contract and auth error handling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SCRUM-153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Build shared UI component library (Tailwind v4 tokens)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3 / TICKETS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3: tickets 21–30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35 Ready • 0 Done • sprint not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login, registration and password reset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SCRUM-155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MapLibre map canvas with Metro Cebu viewport and Locate 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SCRUM-156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landing page, search bar and landmark auto-suggest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Implement filter pills, URL state sync and results drawer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SCRUM-158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Module 6: AI Rental Assistant Flowcharts and Specification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7"/>
              </a:rPr>
              <a:t>SCRUM-159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Define AI assistant API contract, prompt policy and evaluation set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8"/>
              </a:rPr>
              <a:t>SCRUM-160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Extend Function Specification Document with Modules 3 to 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9"/>
              </a:rPr>
              <a:t>SCRUM-161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Review and close Sprint 2 carry-over (SCRUM-125, 126, 127)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0"/>
              </a:rPr>
              <a:t>SCRUM-162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Execute authentication test plan against staging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11"/>
              </a:rPr>
              <a:t>SCRUM-163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Execute RBAC and route guard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SPRINT 3 / TICKETS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Sprint 3: tickets 31–35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35 Ready • 0 Done • sprint not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2"/>
              </a:rPr>
              <a:t>SCRUM-164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Browser, mobile and usability testing of auth pages and map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06624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3"/>
              </a:rPr>
              <a:t>SCRUM-165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816352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Write test plans for Modules 3, 4 and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02736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94176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4"/>
              </a:rPr>
              <a:t>SCRUM-166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712463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59352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Execute k6 load tests on staging (steady-state and burst)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98848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5"/>
              </a:rPr>
              <a:t>SCRUM-167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608576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55464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System test plan and first end-to-end run (auth to map to listing)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5394960"/>
            <a:ext cx="5367528" cy="813816"/>
          </a:xfrm>
          <a:prstGeom prst="roundRect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1">
                <a:solidFill>
                  <a:srgbClr val="3DD6B1"/>
                </a:solidFill>
                <a:latin typeface="Aptos"/>
              </a:defRPr>
            </a:pPr>
            <a:r>
              <a:rPr>
                <a:hlinkClick r:id="rId6"/>
              </a:rPr>
              <a:t>SCRUM-168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5504688"/>
            <a:ext cx="950976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1">
                <a:solidFill>
                  <a:srgbClr val="9FB7B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751576"/>
            <a:ext cx="5074920" cy="3931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F0F8F8"/>
                </a:solidFill>
                <a:latin typeface="Aptos"/>
              </a:defRPr>
            </a:pPr>
            <a:r>
              <a:t>Sprint 3 review, retrospective and reporting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73152" cy="566928"/>
          </a:xfrm>
          <a:prstGeom prst="roundRect">
            <a:avLst/>
          </a:prstGeom>
          <a:solidFill>
            <a:srgbClr val="3D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100" b="1">
                <a:solidFill>
                  <a:srgbClr val="3DD6B1"/>
                </a:solidFill>
                <a:latin typeface="Aptos"/>
              </a:defRPr>
            </a:pPr>
            <a:r>
              <a:t>SOURCE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86384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700" b="1">
                <a:solidFill>
                  <a:srgbClr val="F0F8F8"/>
                </a:solidFill>
                <a:latin typeface="Aptos"/>
              </a:defRPr>
            </a:pPr>
            <a:r>
              <a:t>Jira status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1097280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200" b="0">
                <a:solidFill>
                  <a:srgbClr val="9FB7BF"/>
                </a:solidFill>
                <a:latin typeface="Aptos"/>
              </a:defRPr>
            </a:pPr>
            <a:r>
              <a:t>Board 1 • project SCRUM • sprint IDs 4, 70, 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900" b="0">
                <a:solidFill>
                  <a:srgbClr val="9FB7BF"/>
                </a:solidFill>
                <a:latin typeface="Aptos"/>
              </a:defRPr>
            </a:pPr>
            <a:r>
              <a:t>ABANG CEBU AI  •  JIRA SNAPSHOT 16 OCT 2026  •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2300" b="1">
                <a:solidFill>
                  <a:srgbClr val="F0F8F8"/>
                </a:solidFill>
                <a:latin typeface="Aptos"/>
              </a:defRPr>
            </a:pPr>
            <a:r>
              <a:t>82 sprint issue entries: 27 + 20 + 35. Counts reconciled with Jira sprint issue-list totals.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27248"/>
            <a:ext cx="10058400" cy="1325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900" b="0">
                <a:solidFill>
                  <a:srgbClr val="9FB7BF"/>
                </a:solidFill>
                <a:latin typeface="Aptos"/>
              </a:defRPr>
            </a:pPr>
            <a:r>
              <a:t>Issue keys on the ticket slides link to Jira. “Done” means the current Jira workflow status only; it is not a code, artifact, test, or acceptance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01184"/>
            <a:ext cx="10058400" cy="51206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defRPr sz="1300" b="0">
                <a:solidFill>
                  <a:srgbClr val="3DD6B1"/>
                </a:solidFill>
                <a:latin typeface="Aptos"/>
              </a:defRPr>
            </a:pPr>
            <a:r>
              <a:t>Source: https://abangcebuai.atlassian.net/jira/software/projects/SCRUM/boards/1/backlog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