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abangcebuai.atlassian.net/browse/SCRUM-64"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abangcebuai.atlassian.net/browse/SCRUM-65"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bangcebuai.atlassian.net/browse/SCRUM-10" TargetMode="External"/><Relationship Id="rId3" Type="http://schemas.openxmlformats.org/officeDocument/2006/relationships/hyperlink" Target="https://abangcebuai.atlassian.net/browse/SCRUM-49" TargetMode="External"/><Relationship Id="rId4" Type="http://schemas.openxmlformats.org/officeDocument/2006/relationships/hyperlink" Target="https://abangcebuai.atlassian.net/browse/SCRUM-6" TargetMode="External"/><Relationship Id="rId5" Type="http://schemas.openxmlformats.org/officeDocument/2006/relationships/hyperlink" Target="https://abangcebuai.atlassian.net/browse/SCRUM-55" TargetMode="External"/><Relationship Id="rId6" Type="http://schemas.openxmlformats.org/officeDocument/2006/relationships/hyperlink" Target="https://abangcebuai.atlassian.net/browse/SCRUM-62" TargetMode="External"/><Relationship Id="rId7" Type="http://schemas.openxmlformats.org/officeDocument/2006/relationships/hyperlink" Target="https://abangcebuai.atlassian.net/browse/SCRUM-50"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bangcebuai.atlassian.net/browse/SCRUM-51" TargetMode="External"/><Relationship Id="rId3" Type="http://schemas.openxmlformats.org/officeDocument/2006/relationships/hyperlink" Target="https://abangcebuai.atlassian.net/browse/SCRUM-52" TargetMode="External"/><Relationship Id="rId4" Type="http://schemas.openxmlformats.org/officeDocument/2006/relationships/hyperlink" Target="https://abangcebuai.atlassian.net/browse/SCRUM-53" TargetMode="External"/><Relationship Id="rId5" Type="http://schemas.openxmlformats.org/officeDocument/2006/relationships/hyperlink" Target="https://abangcebuai.atlassian.net/browse/SCRUM-54" TargetMode="External"/><Relationship Id="rId6" Type="http://schemas.openxmlformats.org/officeDocument/2006/relationships/hyperlink" Target="https://abangcebuai.atlassian.net/browse/SCRUM-56" TargetMode="External"/><Relationship Id="rId7" Type="http://schemas.openxmlformats.org/officeDocument/2006/relationships/hyperlink" Target="https://abangcebuai.atlassian.net/browse/SCRUM-57"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bangcebuai.atlassian.net/browse/SCRUM-58" TargetMode="External"/><Relationship Id="rId3" Type="http://schemas.openxmlformats.org/officeDocument/2006/relationships/hyperlink" Target="https://abangcebuai.atlassian.net/browse/SCRUM-60" TargetMode="External"/><Relationship Id="rId4" Type="http://schemas.openxmlformats.org/officeDocument/2006/relationships/hyperlink" Target="https://abangcebuai.atlassian.net/browse/SCRUM-48" TargetMode="External"/><Relationship Id="rId5" Type="http://schemas.openxmlformats.org/officeDocument/2006/relationships/hyperlink" Target="https://abangcebuai.atlassian.net/browse/SCRUM-64" TargetMode="External"/><Relationship Id="rId6" Type="http://schemas.openxmlformats.org/officeDocument/2006/relationships/hyperlink" Target="https://abangcebuai.atlassian.net/browse/SCRUM-63" TargetMode="External"/><Relationship Id="rId7" Type="http://schemas.openxmlformats.org/officeDocument/2006/relationships/hyperlink" Target="https://abangcebuai.atlassian.net/browse/SCRUM-61"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bangcebuai.atlassian.net/browse/SCRUM-59" TargetMode="External"/><Relationship Id="rId3" Type="http://schemas.openxmlformats.org/officeDocument/2006/relationships/hyperlink" Target="https://abangcebuai.atlassian.net/browse/SCRUM-65" TargetMode="External"/><Relationship Id="rId4" Type="http://schemas.openxmlformats.org/officeDocument/2006/relationships/hyperlink" Target="https://abangcebuai.atlassian.net/browse/SCRUM-66" TargetMode="External"/><Relationship Id="rId5" Type="http://schemas.openxmlformats.org/officeDocument/2006/relationships/hyperlink" Target="https://abangcebuai.atlassian.net/browse/SCRUM-67" TargetMode="External"/><Relationship Id="rId6" Type="http://schemas.openxmlformats.org/officeDocument/2006/relationships/hyperlink" Target="https://abangcebuai.atlassian.net/browse/SCRUM-68" TargetMode="External"/><Relationship Id="rId7" Type="http://schemas.openxmlformats.org/officeDocument/2006/relationships/hyperlink" Target="https://abangcebuai.atlassian.net/browse/SCRUM-69"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bangcebuai.atlassian.net/browse/SCRUM-70" TargetMode="External"/><Relationship Id="rId3" Type="http://schemas.openxmlformats.org/officeDocument/2006/relationships/hyperlink" Target="https://abangcebuai.atlassian.net/browse/SCRUM-71" TargetMode="External"/><Relationship Id="rId4" Type="http://schemas.openxmlformats.org/officeDocument/2006/relationships/hyperlink" Target="https://abangcebuai.atlassian.net/browse/SCRUM-72"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abangcebuai.atlassian.net/browse/SCRUM-104"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hyperlink" Target="https://abangcebuai.atlassian.net/browse/SCRUM-116"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hyperlink" Target="https://abangcebuai.atlassian.net/browse/SCRUM-118"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hyperlink" Target="https://abangcebuai.atlassian.net/browse/SCRUM-125"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bangcebuai.atlassian.net/browse/SCRUM-104" TargetMode="External"/><Relationship Id="rId3" Type="http://schemas.openxmlformats.org/officeDocument/2006/relationships/hyperlink" Target="https://abangcebuai.atlassian.net/browse/SCRUM-105" TargetMode="External"/><Relationship Id="rId4" Type="http://schemas.openxmlformats.org/officeDocument/2006/relationships/hyperlink" Target="https://abangcebuai.atlassian.net/browse/SCRUM-106" TargetMode="External"/><Relationship Id="rId5" Type="http://schemas.openxmlformats.org/officeDocument/2006/relationships/hyperlink" Target="https://abangcebuai.atlassian.net/browse/SCRUM-107" TargetMode="External"/><Relationship Id="rId6" Type="http://schemas.openxmlformats.org/officeDocument/2006/relationships/hyperlink" Target="https://abangcebuai.atlassian.net/browse/SCRUM-108" TargetMode="External"/><Relationship Id="rId7" Type="http://schemas.openxmlformats.org/officeDocument/2006/relationships/hyperlink" Target="https://abangcebuai.atlassian.net/browse/SCRUM-109"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bangcebuai.atlassian.net/browse/SCRUM-110" TargetMode="External"/><Relationship Id="rId3" Type="http://schemas.openxmlformats.org/officeDocument/2006/relationships/hyperlink" Target="https://abangcebuai.atlassian.net/browse/SCRUM-111" TargetMode="External"/><Relationship Id="rId4" Type="http://schemas.openxmlformats.org/officeDocument/2006/relationships/hyperlink" Target="https://abangcebuai.atlassian.net/browse/SCRUM-112" TargetMode="External"/><Relationship Id="rId5" Type="http://schemas.openxmlformats.org/officeDocument/2006/relationships/hyperlink" Target="https://abangcebuai.atlassian.net/browse/SCRUM-113" TargetMode="External"/><Relationship Id="rId6" Type="http://schemas.openxmlformats.org/officeDocument/2006/relationships/hyperlink" Target="https://abangcebuai.atlassian.net/browse/SCRUM-114" TargetMode="External"/><Relationship Id="rId7" Type="http://schemas.openxmlformats.org/officeDocument/2006/relationships/hyperlink" Target="https://abangcebuai.atlassian.net/browse/SCRUM-116"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bangcebuai.atlassian.net/browse/SCRUM-117" TargetMode="External"/><Relationship Id="rId3" Type="http://schemas.openxmlformats.org/officeDocument/2006/relationships/hyperlink" Target="https://abangcebuai.atlassian.net/browse/SCRUM-118" TargetMode="External"/><Relationship Id="rId4" Type="http://schemas.openxmlformats.org/officeDocument/2006/relationships/hyperlink" Target="https://abangcebuai.atlassian.net/browse/SCRUM-119" TargetMode="External"/><Relationship Id="rId5" Type="http://schemas.openxmlformats.org/officeDocument/2006/relationships/hyperlink" Target="https://abangcebuai.atlassian.net/browse/SCRUM-120" TargetMode="External"/><Relationship Id="rId6" Type="http://schemas.openxmlformats.org/officeDocument/2006/relationships/hyperlink" Target="https://abangcebuai.atlassian.net/browse/SCRUM-122" TargetMode="External"/><Relationship Id="rId7" Type="http://schemas.openxmlformats.org/officeDocument/2006/relationships/hyperlink" Target="https://abangcebuai.atlassian.net/browse/SCRUM-125"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bangcebuai.atlassian.net/browse/SCRUM-126" TargetMode="External"/><Relationship Id="rId3" Type="http://schemas.openxmlformats.org/officeDocument/2006/relationships/hyperlink" Target="https://abangcebuai.atlassian.net/browse/SCRUM-127"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bangcebuai.atlassian.net/browse/SCRUM-134" TargetMode="External"/><Relationship Id="rId3" Type="http://schemas.openxmlformats.org/officeDocument/2006/relationships/hyperlink" Target="https://abangcebuai.atlassian.net/browse/SCRUM-135" TargetMode="External"/><Relationship Id="rId4" Type="http://schemas.openxmlformats.org/officeDocument/2006/relationships/hyperlink" Target="https://abangcebuai.atlassian.net/browse/SCRUM-136" TargetMode="External"/><Relationship Id="rId5" Type="http://schemas.openxmlformats.org/officeDocument/2006/relationships/hyperlink" Target="https://abangcebuai.atlassian.net/browse/SCRUM-137" TargetMode="External"/><Relationship Id="rId6" Type="http://schemas.openxmlformats.org/officeDocument/2006/relationships/hyperlink" Target="https://abangcebuai.atlassian.net/browse/SCRUM-138" TargetMode="External"/><Relationship Id="rId7" Type="http://schemas.openxmlformats.org/officeDocument/2006/relationships/hyperlink" Target="https://abangcebuai.atlassian.net/browse/SCRUM-139"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bangcebuai.atlassian.net/browse/SCRUM-140" TargetMode="External"/><Relationship Id="rId3" Type="http://schemas.openxmlformats.org/officeDocument/2006/relationships/hyperlink" Target="https://abangcebuai.atlassian.net/browse/SCRUM-141" TargetMode="External"/><Relationship Id="rId4" Type="http://schemas.openxmlformats.org/officeDocument/2006/relationships/hyperlink" Target="https://abangcebuai.atlassian.net/browse/SCRUM-142" TargetMode="External"/><Relationship Id="rId5" Type="http://schemas.openxmlformats.org/officeDocument/2006/relationships/hyperlink" Target="https://abangcebuai.atlassian.net/browse/SCRUM-143" TargetMode="External"/><Relationship Id="rId6" Type="http://schemas.openxmlformats.org/officeDocument/2006/relationships/hyperlink" Target="https://abangcebuai.atlassian.net/browse/SCRUM-144" TargetMode="External"/><Relationship Id="rId7" Type="http://schemas.openxmlformats.org/officeDocument/2006/relationships/hyperlink" Target="https://abangcebuai.atlassian.net/browse/SCRUM-145"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bangcebuai.atlassian.net/browse/SCRUM-146" TargetMode="External"/><Relationship Id="rId3" Type="http://schemas.openxmlformats.org/officeDocument/2006/relationships/hyperlink" Target="https://abangcebuai.atlassian.net/browse/SCRUM-147" TargetMode="External"/><Relationship Id="rId4" Type="http://schemas.openxmlformats.org/officeDocument/2006/relationships/hyperlink" Target="https://abangcebuai.atlassian.net/browse/SCRUM-148" TargetMode="External"/><Relationship Id="rId5" Type="http://schemas.openxmlformats.org/officeDocument/2006/relationships/hyperlink" Target="https://abangcebuai.atlassian.net/browse/SCRUM-149" TargetMode="External"/><Relationship Id="rId6" Type="http://schemas.openxmlformats.org/officeDocument/2006/relationships/hyperlink" Target="https://abangcebuai.atlassian.net/browse/SCRUM-150" TargetMode="External"/><Relationship Id="rId7" Type="http://schemas.openxmlformats.org/officeDocument/2006/relationships/hyperlink" Target="https://abangcebuai.atlassian.net/browse/SCRUM-151"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bangcebuai.atlassian.net/browse/SCRUM-152" TargetMode="External"/><Relationship Id="rId3" Type="http://schemas.openxmlformats.org/officeDocument/2006/relationships/hyperlink" Target="https://abangcebuai.atlassian.net/browse/SCRUM-153" TargetMode="External"/><Relationship Id="rId4" Type="http://schemas.openxmlformats.org/officeDocument/2006/relationships/hyperlink" Target="https://abangcebuai.atlassian.net/browse/SCRUM-154" TargetMode="External"/><Relationship Id="rId5" Type="http://schemas.openxmlformats.org/officeDocument/2006/relationships/hyperlink" Target="https://abangcebuai.atlassian.net/browse/SCRUM-155" TargetMode="External"/><Relationship Id="rId6" Type="http://schemas.openxmlformats.org/officeDocument/2006/relationships/hyperlink" Target="https://abangcebuai.atlassian.net/browse/SCRUM-156" TargetMode="External"/><Relationship Id="rId7" Type="http://schemas.openxmlformats.org/officeDocument/2006/relationships/hyperlink" Target="https://abangcebuai.atlassian.net/browse/SCRUM-157"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bangcebuai.atlassian.net/browse/SCRUM-158" TargetMode="External"/><Relationship Id="rId3" Type="http://schemas.openxmlformats.org/officeDocument/2006/relationships/hyperlink" Target="https://abangcebuai.atlassian.net/browse/SCRUM-159" TargetMode="External"/><Relationship Id="rId4" Type="http://schemas.openxmlformats.org/officeDocument/2006/relationships/hyperlink" Target="https://abangcebuai.atlassian.net/browse/SCRUM-160" TargetMode="External"/><Relationship Id="rId5" Type="http://schemas.openxmlformats.org/officeDocument/2006/relationships/hyperlink" Target="https://abangcebuai.atlassian.net/browse/SCRUM-161" TargetMode="External"/><Relationship Id="rId6" Type="http://schemas.openxmlformats.org/officeDocument/2006/relationships/hyperlink" Target="https://abangcebuai.atlassian.net/browse/SCRUM-162" TargetMode="External"/><Relationship Id="rId7" Type="http://schemas.openxmlformats.org/officeDocument/2006/relationships/hyperlink" Target="https://abangcebuai.atlassian.net/browse/SCRUM-163"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bangcebuai.atlassian.net/browse/SCRUM-164" TargetMode="External"/><Relationship Id="rId3" Type="http://schemas.openxmlformats.org/officeDocument/2006/relationships/hyperlink" Target="https://abangcebuai.atlassian.net/browse/SCRUM-165" TargetMode="External"/><Relationship Id="rId4" Type="http://schemas.openxmlformats.org/officeDocument/2006/relationships/hyperlink" Target="https://abangcebuai.atlassian.net/browse/SCRUM-166" TargetMode="External"/><Relationship Id="rId5" Type="http://schemas.openxmlformats.org/officeDocument/2006/relationships/hyperlink" Target="https://abangcebuai.atlassian.net/browse/SCRUM-167" TargetMode="External"/><Relationship Id="rId6" Type="http://schemas.openxmlformats.org/officeDocument/2006/relationships/hyperlink" Target="https://abangcebuai.atlassian.net/browse/SCRUM-168"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D33"/>
        </a:solidFill>
        <a:effectLst/>
      </p:bgPr>
    </p:bg>
    <p:spTree>
      <p:nvGrpSpPr>
        <p:cNvPr id="1" name=""/>
        <p:cNvGrpSpPr/>
        <p:nvPr/>
      </p:nvGrpSpPr>
      <p:grpSpPr/>
      <p:sp>
        <p:nvSpPr>
          <p:cNvPr id="2" name="Rectangle 1"/>
          <p:cNvSpPr/>
          <p:nvPr/>
        </p:nvSpPr>
        <p:spPr>
          <a:xfrm>
            <a:off x="585216" y="484632"/>
            <a:ext cx="64008" cy="429768"/>
          </a:xfrm>
          <a:prstGeom prst="rect">
            <a:avLst/>
          </a:prstGeom>
          <a:solidFill>
            <a:srgbClr val="43D2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30352"/>
            <a:ext cx="10058400" cy="256032"/>
          </a:xfrm>
          <a:prstGeom prst="rect">
            <a:avLst/>
          </a:prstGeom>
          <a:noFill/>
        </p:spPr>
        <p:txBody>
          <a:bodyPr wrap="square" lIns="18288" rIns="18288" tIns="9144" bIns="9144">
            <a:spAutoFit/>
          </a:bodyPr>
          <a:lstStyle/>
          <a:p>
            <a:pPr>
              <a:defRPr sz="1100" b="1">
                <a:solidFill>
                  <a:srgbClr val="70EBD1"/>
                </a:solidFill>
                <a:latin typeface="Aptos"/>
              </a:defRPr>
            </a:pPr>
            <a:r>
              <a:t>DELIVERY REVIEW / 01</a:t>
            </a:r>
          </a:p>
        </p:txBody>
      </p:sp>
      <p:sp>
        <p:nvSpPr>
          <p:cNvPr id="4" name="TextBox 3"/>
          <p:cNvSpPr txBox="1"/>
          <p:nvPr/>
        </p:nvSpPr>
        <p:spPr>
          <a:xfrm>
            <a:off x="822960" y="932688"/>
            <a:ext cx="10789920" cy="804672"/>
          </a:xfrm>
          <a:prstGeom prst="rect">
            <a:avLst/>
          </a:prstGeom>
          <a:noFill/>
        </p:spPr>
        <p:txBody>
          <a:bodyPr wrap="square" lIns="18288" rIns="18288" tIns="9144" bIns="9144">
            <a:spAutoFit/>
          </a:bodyPr>
          <a:lstStyle/>
          <a:p>
            <a:pPr>
              <a:defRPr sz="3100" b="1">
                <a:solidFill>
                  <a:srgbClr val="FFFFFF"/>
                </a:solidFill>
                <a:latin typeface="Aptos"/>
              </a:defRPr>
            </a:pPr>
            <a:r>
              <a:t>From specification to implementation</a:t>
            </a:r>
          </a:p>
        </p:txBody>
      </p:sp>
      <p:sp>
        <p:nvSpPr>
          <p:cNvPr id="5" name="TextBox 4"/>
          <p:cNvSpPr txBox="1"/>
          <p:nvPr/>
        </p:nvSpPr>
        <p:spPr>
          <a:xfrm>
            <a:off x="822960" y="1819656"/>
            <a:ext cx="10698480" cy="265176"/>
          </a:xfrm>
          <a:prstGeom prst="rect">
            <a:avLst/>
          </a:prstGeom>
          <a:noFill/>
        </p:spPr>
        <p:txBody>
          <a:bodyPr wrap="square" lIns="18288" rIns="18288" tIns="9144" bIns="9144">
            <a:spAutoFit/>
          </a:bodyPr>
          <a:lstStyle/>
          <a:p>
            <a:pPr>
              <a:defRPr sz="1300" b="0">
                <a:solidFill>
                  <a:srgbClr val="BDD7D6"/>
                </a:solidFill>
                <a:latin typeface="Aptos"/>
              </a:defRPr>
            </a:pPr>
            <a:r>
              <a:t>Sprint-by-sprint Jira tickets · 16 October 2026</a:t>
            </a:r>
          </a:p>
        </p:txBody>
      </p:sp>
      <p:sp>
        <p:nvSpPr>
          <p:cNvPr id="6" name="Rectangle 5"/>
          <p:cNvSpPr/>
          <p:nvPr/>
        </p:nvSpPr>
        <p:spPr>
          <a:xfrm>
            <a:off x="822960" y="6345936"/>
            <a:ext cx="10561320" cy="13716"/>
          </a:xfrm>
          <a:prstGeom prst="rect">
            <a:avLst/>
          </a:prstGeom>
          <a:solidFill>
            <a:srgbClr val="556B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428232"/>
            <a:ext cx="10789920" cy="237744"/>
          </a:xfrm>
          <a:prstGeom prst="rect">
            <a:avLst/>
          </a:prstGeom>
          <a:noFill/>
        </p:spPr>
        <p:txBody>
          <a:bodyPr wrap="square" lIns="18288" rIns="18288" tIns="9144" bIns="9144">
            <a:spAutoFit/>
          </a:bodyPr>
          <a:lstStyle/>
          <a:p>
            <a:pPr>
              <a:defRPr sz="900" b="0">
                <a:solidFill>
                  <a:srgbClr val="BCD8D6"/>
                </a:solidFill>
                <a:latin typeface="Aptos"/>
              </a:defRPr>
            </a:pPr>
            <a:r>
              <a:t>ABANG CEBU AI  /  JIRA SNAPSHOT 16 OCT 2026                                          01</a:t>
            </a:r>
          </a:p>
        </p:txBody>
      </p:sp>
      <p:sp>
        <p:nvSpPr>
          <p:cNvPr id="8" name="TextBox 7"/>
          <p:cNvSpPr txBox="1"/>
          <p:nvPr/>
        </p:nvSpPr>
        <p:spPr>
          <a:xfrm>
            <a:off x="914400" y="2798064"/>
            <a:ext cx="1828800" cy="731520"/>
          </a:xfrm>
          <a:prstGeom prst="rect">
            <a:avLst/>
          </a:prstGeom>
          <a:noFill/>
        </p:spPr>
        <p:txBody>
          <a:bodyPr wrap="square" lIns="18288" rIns="18288" tIns="9144" bIns="9144">
            <a:spAutoFit/>
          </a:bodyPr>
          <a:lstStyle/>
          <a:p>
            <a:pPr>
              <a:defRPr sz="5400" b="1">
                <a:solidFill>
                  <a:srgbClr val="70EBD1"/>
                </a:solidFill>
                <a:latin typeface="Aptos"/>
              </a:defRPr>
            </a:pPr>
            <a:r>
              <a:t>01</a:t>
            </a:r>
          </a:p>
        </p:txBody>
      </p:sp>
      <p:sp>
        <p:nvSpPr>
          <p:cNvPr id="9" name="TextBox 8"/>
          <p:cNvSpPr txBox="1"/>
          <p:nvPr/>
        </p:nvSpPr>
        <p:spPr>
          <a:xfrm>
            <a:off x="914400" y="3666744"/>
            <a:ext cx="2743200" cy="402336"/>
          </a:xfrm>
          <a:prstGeom prst="rect">
            <a:avLst/>
          </a:prstGeom>
          <a:noFill/>
        </p:spPr>
        <p:txBody>
          <a:bodyPr wrap="square" lIns="18288" rIns="18288" tIns="9144" bIns="9144">
            <a:spAutoFit/>
          </a:bodyPr>
          <a:lstStyle/>
          <a:p>
            <a:pPr>
              <a:defRPr sz="2000" b="0">
                <a:solidFill>
                  <a:srgbClr val="FFFFFF"/>
                </a:solidFill>
                <a:latin typeface="Aptos"/>
              </a:defRPr>
            </a:pPr>
            <a:r>
              <a:t>Foundation</a:t>
            </a:r>
          </a:p>
        </p:txBody>
      </p:sp>
      <p:sp>
        <p:nvSpPr>
          <p:cNvPr id="10" name="TextBox 9"/>
          <p:cNvSpPr txBox="1"/>
          <p:nvPr/>
        </p:nvSpPr>
        <p:spPr>
          <a:xfrm>
            <a:off x="4572000" y="2798064"/>
            <a:ext cx="1828800" cy="731520"/>
          </a:xfrm>
          <a:prstGeom prst="rect">
            <a:avLst/>
          </a:prstGeom>
          <a:noFill/>
        </p:spPr>
        <p:txBody>
          <a:bodyPr wrap="square" lIns="18288" rIns="18288" tIns="9144" bIns="9144">
            <a:spAutoFit/>
          </a:bodyPr>
          <a:lstStyle/>
          <a:p>
            <a:pPr>
              <a:defRPr sz="5400" b="1">
                <a:solidFill>
                  <a:srgbClr val="70EBD1"/>
                </a:solidFill>
                <a:latin typeface="Aptos"/>
              </a:defRPr>
            </a:pPr>
            <a:r>
              <a:t>02</a:t>
            </a:r>
          </a:p>
        </p:txBody>
      </p:sp>
      <p:sp>
        <p:nvSpPr>
          <p:cNvPr id="11" name="TextBox 10"/>
          <p:cNvSpPr txBox="1"/>
          <p:nvPr/>
        </p:nvSpPr>
        <p:spPr>
          <a:xfrm>
            <a:off x="4572000" y="3666744"/>
            <a:ext cx="2743200" cy="402336"/>
          </a:xfrm>
          <a:prstGeom prst="rect">
            <a:avLst/>
          </a:prstGeom>
          <a:noFill/>
        </p:spPr>
        <p:txBody>
          <a:bodyPr wrap="square" lIns="18288" rIns="18288" tIns="9144" bIns="9144">
            <a:spAutoFit/>
          </a:bodyPr>
          <a:lstStyle/>
          <a:p>
            <a:pPr>
              <a:defRPr sz="2000" b="0">
                <a:solidFill>
                  <a:srgbClr val="FFFFFF"/>
                </a:solidFill>
                <a:latin typeface="Aptos"/>
              </a:defRPr>
            </a:pPr>
            <a:r>
              <a:t>Detailed flows</a:t>
            </a:r>
          </a:p>
        </p:txBody>
      </p:sp>
      <p:sp>
        <p:nvSpPr>
          <p:cNvPr id="12" name="TextBox 11"/>
          <p:cNvSpPr txBox="1"/>
          <p:nvPr/>
        </p:nvSpPr>
        <p:spPr>
          <a:xfrm>
            <a:off x="8229600" y="2798064"/>
            <a:ext cx="1828800" cy="731520"/>
          </a:xfrm>
          <a:prstGeom prst="rect">
            <a:avLst/>
          </a:prstGeom>
          <a:noFill/>
        </p:spPr>
        <p:txBody>
          <a:bodyPr wrap="square" lIns="18288" rIns="18288" tIns="9144" bIns="9144">
            <a:spAutoFit/>
          </a:bodyPr>
          <a:lstStyle/>
          <a:p>
            <a:pPr>
              <a:defRPr sz="5400" b="1">
                <a:solidFill>
                  <a:srgbClr val="A9BCC3"/>
                </a:solidFill>
                <a:latin typeface="Aptos"/>
              </a:defRPr>
            </a:pPr>
            <a:r>
              <a:t>03</a:t>
            </a:r>
          </a:p>
        </p:txBody>
      </p:sp>
      <p:sp>
        <p:nvSpPr>
          <p:cNvPr id="13" name="TextBox 12"/>
          <p:cNvSpPr txBox="1"/>
          <p:nvPr/>
        </p:nvSpPr>
        <p:spPr>
          <a:xfrm>
            <a:off x="8229600" y="3666744"/>
            <a:ext cx="2743200" cy="402336"/>
          </a:xfrm>
          <a:prstGeom prst="rect">
            <a:avLst/>
          </a:prstGeom>
          <a:noFill/>
        </p:spPr>
        <p:txBody>
          <a:bodyPr wrap="square" lIns="18288" rIns="18288" tIns="9144" bIns="9144">
            <a:spAutoFit/>
          </a:bodyPr>
          <a:lstStyle/>
          <a:p>
            <a:pPr>
              <a:defRPr sz="2000" b="0">
                <a:solidFill>
                  <a:srgbClr val="FFFFFF"/>
                </a:solidFill>
                <a:latin typeface="Aptos"/>
              </a:defRPr>
            </a:pPr>
            <a:r>
              <a:t>Planned build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2D33"/>
        </a:solidFill>
        <a:effectLst/>
      </p:bgPr>
    </p:bg>
    <p:spTree>
      <p:nvGrpSpPr>
        <p:cNvPr id="1" name=""/>
        <p:cNvGrpSpPr/>
        <p:nvPr/>
      </p:nvGrpSpPr>
      <p:grpSpPr/>
      <p:sp>
        <p:nvSpPr>
          <p:cNvPr id="2" name="Rectangle 1"/>
          <p:cNvSpPr/>
          <p:nvPr/>
        </p:nvSpPr>
        <p:spPr>
          <a:xfrm>
            <a:off x="585216" y="484632"/>
            <a:ext cx="64008" cy="429768"/>
          </a:xfrm>
          <a:prstGeom prst="rect">
            <a:avLst/>
          </a:prstGeom>
          <a:solidFill>
            <a:srgbClr val="43D2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30352"/>
            <a:ext cx="10058400" cy="256032"/>
          </a:xfrm>
          <a:prstGeom prst="rect">
            <a:avLst/>
          </a:prstGeom>
          <a:noFill/>
        </p:spPr>
        <p:txBody>
          <a:bodyPr wrap="square" lIns="18288" rIns="18288" tIns="9144" bIns="9144">
            <a:spAutoFit/>
          </a:bodyPr>
          <a:lstStyle/>
          <a:p>
            <a:pPr>
              <a:defRPr sz="1100" b="1">
                <a:solidFill>
                  <a:srgbClr val="70EBD1"/>
                </a:solidFill>
                <a:latin typeface="Aptos"/>
              </a:defRPr>
            </a:pPr>
            <a:r>
              <a:t>SPRINT 1 / CLOSED</a:t>
            </a:r>
          </a:p>
        </p:txBody>
      </p:sp>
      <p:sp>
        <p:nvSpPr>
          <p:cNvPr id="4" name="TextBox 3"/>
          <p:cNvSpPr txBox="1"/>
          <p:nvPr/>
        </p:nvSpPr>
        <p:spPr>
          <a:xfrm>
            <a:off x="822960" y="932688"/>
            <a:ext cx="10789920" cy="804672"/>
          </a:xfrm>
          <a:prstGeom prst="rect">
            <a:avLst/>
          </a:prstGeom>
          <a:noFill/>
        </p:spPr>
        <p:txBody>
          <a:bodyPr wrap="square" lIns="18288" rIns="18288" tIns="9144" bIns="9144">
            <a:spAutoFit/>
          </a:bodyPr>
          <a:lstStyle/>
          <a:p>
            <a:pPr>
              <a:defRPr sz="3100" b="1">
                <a:solidFill>
                  <a:srgbClr val="FFFFFF"/>
                </a:solidFill>
                <a:latin typeface="Aptos"/>
              </a:defRPr>
            </a:pPr>
            <a:r>
              <a:t>Foundation, designed</a:t>
            </a:r>
          </a:p>
        </p:txBody>
      </p:sp>
      <p:sp>
        <p:nvSpPr>
          <p:cNvPr id="5" name="TextBox 4"/>
          <p:cNvSpPr txBox="1"/>
          <p:nvPr/>
        </p:nvSpPr>
        <p:spPr>
          <a:xfrm>
            <a:off x="822960" y="1819656"/>
            <a:ext cx="10698480" cy="265176"/>
          </a:xfrm>
          <a:prstGeom prst="rect">
            <a:avLst/>
          </a:prstGeom>
          <a:noFill/>
        </p:spPr>
        <p:txBody>
          <a:bodyPr wrap="square" lIns="18288" rIns="18288" tIns="9144" bIns="9144">
            <a:spAutoFit/>
          </a:bodyPr>
          <a:lstStyle/>
          <a:p>
            <a:pPr>
              <a:defRPr sz="1300" b="0">
                <a:solidFill>
                  <a:srgbClr val="BDD7D6"/>
                </a:solidFill>
                <a:latin typeface="Aptos"/>
              </a:defRPr>
            </a:pPr>
            <a:r>
              <a:t>15 Sep–2 Oct planned · completed 1 Oct</a:t>
            </a:r>
          </a:p>
        </p:txBody>
      </p:sp>
      <p:sp>
        <p:nvSpPr>
          <p:cNvPr id="6" name="Rectangle 5"/>
          <p:cNvSpPr/>
          <p:nvPr/>
        </p:nvSpPr>
        <p:spPr>
          <a:xfrm>
            <a:off x="822960" y="6345936"/>
            <a:ext cx="10561320" cy="13716"/>
          </a:xfrm>
          <a:prstGeom prst="rect">
            <a:avLst/>
          </a:prstGeom>
          <a:solidFill>
            <a:srgbClr val="556B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428232"/>
            <a:ext cx="10789920" cy="237744"/>
          </a:xfrm>
          <a:prstGeom prst="rect">
            <a:avLst/>
          </a:prstGeom>
          <a:noFill/>
        </p:spPr>
        <p:txBody>
          <a:bodyPr wrap="square" lIns="18288" rIns="18288" tIns="9144" bIns="9144">
            <a:spAutoFit/>
          </a:bodyPr>
          <a:lstStyle/>
          <a:p>
            <a:pPr>
              <a:defRPr sz="900" b="0">
                <a:solidFill>
                  <a:srgbClr val="BCD8D6"/>
                </a:solidFill>
                <a:latin typeface="Aptos"/>
              </a:defRPr>
            </a:pPr>
            <a:r>
              <a:t>ABANG CEBU AI  /  JIRA SNAPSHOT 16 OCT 2026                                          02</a:t>
            </a:r>
          </a:p>
        </p:txBody>
      </p:sp>
      <p:sp>
        <p:nvSpPr>
          <p:cNvPr id="8" name="TextBox 7"/>
          <p:cNvSpPr txBox="1"/>
          <p:nvPr/>
        </p:nvSpPr>
        <p:spPr>
          <a:xfrm>
            <a:off x="914400" y="2331720"/>
            <a:ext cx="2743200" cy="1051560"/>
          </a:xfrm>
          <a:prstGeom prst="rect">
            <a:avLst/>
          </a:prstGeom>
          <a:noFill/>
        </p:spPr>
        <p:txBody>
          <a:bodyPr wrap="square" lIns="18288" rIns="18288" tIns="9144" bIns="9144">
            <a:spAutoFit/>
          </a:bodyPr>
          <a:lstStyle/>
          <a:p>
            <a:pPr>
              <a:defRPr sz="6200" b="1">
                <a:solidFill>
                  <a:srgbClr val="FFFFFF"/>
                </a:solidFill>
                <a:latin typeface="Aptos"/>
              </a:defRPr>
            </a:pPr>
            <a:r>
              <a:t>27</a:t>
            </a:r>
          </a:p>
        </p:txBody>
      </p:sp>
      <p:sp>
        <p:nvSpPr>
          <p:cNvPr id="9" name="TextBox 8"/>
          <p:cNvSpPr txBox="1"/>
          <p:nvPr/>
        </p:nvSpPr>
        <p:spPr>
          <a:xfrm>
            <a:off x="914400" y="3383280"/>
            <a:ext cx="3657600" cy="365760"/>
          </a:xfrm>
          <a:prstGeom prst="rect">
            <a:avLst/>
          </a:prstGeom>
          <a:noFill/>
        </p:spPr>
        <p:txBody>
          <a:bodyPr wrap="square" lIns="18288" rIns="18288" tIns="9144" bIns="9144">
            <a:spAutoFit/>
          </a:bodyPr>
          <a:lstStyle/>
          <a:p>
            <a:pPr>
              <a:defRPr sz="2000" b="0">
                <a:solidFill>
                  <a:srgbClr val="BAD6D3"/>
                </a:solidFill>
                <a:latin typeface="Aptos"/>
              </a:defRPr>
            </a:pPr>
            <a:r>
              <a:t>tickets in sprint</a:t>
            </a:r>
          </a:p>
        </p:txBody>
      </p:sp>
      <p:sp>
        <p:nvSpPr>
          <p:cNvPr id="10" name="TextBox 9"/>
          <p:cNvSpPr txBox="1"/>
          <p:nvPr/>
        </p:nvSpPr>
        <p:spPr>
          <a:xfrm>
            <a:off x="4800600" y="2304288"/>
            <a:ext cx="1828800" cy="822960"/>
          </a:xfrm>
          <a:prstGeom prst="rect">
            <a:avLst/>
          </a:prstGeom>
          <a:noFill/>
        </p:spPr>
        <p:txBody>
          <a:bodyPr wrap="square" lIns="18288" rIns="18288" tIns="9144" bIns="9144">
            <a:spAutoFit/>
          </a:bodyPr>
          <a:lstStyle/>
          <a:p>
            <a:pPr>
              <a:defRPr sz="5000" b="1">
                <a:solidFill>
                  <a:srgbClr val="51D4B3"/>
                </a:solidFill>
                <a:latin typeface="Aptos"/>
              </a:defRPr>
            </a:pPr>
            <a:r>
              <a:t>27</a:t>
            </a:r>
          </a:p>
        </p:txBody>
      </p:sp>
      <p:sp>
        <p:nvSpPr>
          <p:cNvPr id="11" name="TextBox 10"/>
          <p:cNvSpPr txBox="1"/>
          <p:nvPr/>
        </p:nvSpPr>
        <p:spPr>
          <a:xfrm>
            <a:off x="4800600" y="3145536"/>
            <a:ext cx="2468880" cy="548640"/>
          </a:xfrm>
          <a:prstGeom prst="rect">
            <a:avLst/>
          </a:prstGeom>
          <a:noFill/>
        </p:spPr>
        <p:txBody>
          <a:bodyPr wrap="square" lIns="18288" rIns="18288" tIns="9144" bIns="9144">
            <a:spAutoFit/>
          </a:bodyPr>
          <a:lstStyle/>
          <a:p>
            <a:pPr>
              <a:defRPr sz="1700" b="1">
                <a:solidFill>
                  <a:srgbClr val="FFFFFF"/>
                </a:solidFill>
                <a:latin typeface="Aptos"/>
              </a:defRPr>
            </a:pPr>
            <a:r>
              <a:t>Done</a:t>
            </a:r>
          </a:p>
        </p:txBody>
      </p:sp>
      <p:sp>
        <p:nvSpPr>
          <p:cNvPr id="12" name="TextBox 11"/>
          <p:cNvSpPr txBox="1"/>
          <p:nvPr/>
        </p:nvSpPr>
        <p:spPr>
          <a:xfrm>
            <a:off x="914400" y="5020056"/>
            <a:ext cx="9144000" cy="457200"/>
          </a:xfrm>
          <a:prstGeom prst="rect">
            <a:avLst/>
          </a:prstGeom>
          <a:noFill/>
        </p:spPr>
        <p:txBody>
          <a:bodyPr wrap="square" lIns="18288" rIns="18288" tIns="9144" bIns="9144">
            <a:spAutoFit/>
          </a:bodyPr>
          <a:lstStyle/>
          <a:p>
            <a:pPr>
              <a:defRPr sz="1700" b="0">
                <a:solidFill>
                  <a:srgbClr val="BAD6D3"/>
                </a:solidFill>
                <a:latin typeface="Aptos"/>
              </a:defRPr>
            </a:pPr>
            <a:r>
              <a:t>Jira status ≠ independent acceptance or implementation audit.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6"/>
        </a:solidFill>
        <a:effectLst/>
      </p:bgPr>
    </p:bg>
    <p:spTree>
      <p:nvGrpSpPr>
        <p:cNvPr id="1" name=""/>
        <p:cNvGrpSpPr/>
        <p:nvPr/>
      </p:nvGrpSpPr>
      <p:grpSpPr/>
      <p:sp>
        <p:nvSpPr>
          <p:cNvPr id="2" name="Rectangle 1"/>
          <p:cNvSpPr/>
          <p:nvPr/>
        </p:nvSpPr>
        <p:spPr>
          <a:xfrm>
            <a:off x="585216" y="484632"/>
            <a:ext cx="64008" cy="429768"/>
          </a:xfrm>
          <a:prstGeom prst="rect">
            <a:avLst/>
          </a:prstGeom>
          <a:solidFill>
            <a:srgbClr val="087E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30352"/>
            <a:ext cx="10058400" cy="256032"/>
          </a:xfrm>
          <a:prstGeom prst="rect">
            <a:avLst/>
          </a:prstGeom>
          <a:noFill/>
        </p:spPr>
        <p:txBody>
          <a:bodyPr wrap="square" lIns="18288" rIns="18288" tIns="9144" bIns="9144">
            <a:spAutoFit/>
          </a:bodyPr>
          <a:lstStyle/>
          <a:p>
            <a:pPr>
              <a:defRPr sz="1100" b="1">
                <a:solidFill>
                  <a:srgbClr val="087E74"/>
                </a:solidFill>
                <a:latin typeface="Aptos"/>
              </a:defRPr>
            </a:pPr>
            <a:r>
              <a:t>SPRINT 1 / OUTCOME</a:t>
            </a:r>
          </a:p>
        </p:txBody>
      </p:sp>
      <p:sp>
        <p:nvSpPr>
          <p:cNvPr id="4" name="TextBox 3"/>
          <p:cNvSpPr txBox="1"/>
          <p:nvPr/>
        </p:nvSpPr>
        <p:spPr>
          <a:xfrm>
            <a:off x="822960" y="932688"/>
            <a:ext cx="10789920" cy="804672"/>
          </a:xfrm>
          <a:prstGeom prst="rect">
            <a:avLst/>
          </a:prstGeom>
          <a:noFill/>
        </p:spPr>
        <p:txBody>
          <a:bodyPr wrap="square" lIns="18288" rIns="18288" tIns="9144" bIns="9144">
            <a:spAutoFit/>
          </a:bodyPr>
          <a:lstStyle/>
          <a:p>
            <a:pPr>
              <a:defRPr sz="3100" b="1">
                <a:solidFill>
                  <a:srgbClr val="153036"/>
                </a:solidFill>
                <a:latin typeface="Aptos"/>
              </a:defRPr>
            </a:pPr>
            <a:r>
              <a:t>Requirements before implementation</a:t>
            </a:r>
          </a:p>
        </p:txBody>
      </p:sp>
      <p:sp>
        <p:nvSpPr>
          <p:cNvPr id="5" name="TextBox 4"/>
          <p:cNvSpPr txBox="1"/>
          <p:nvPr/>
        </p:nvSpPr>
        <p:spPr>
          <a:xfrm>
            <a:off x="822960" y="1819656"/>
            <a:ext cx="10698480" cy="265176"/>
          </a:xfrm>
          <a:prstGeom prst="rect">
            <a:avLst/>
          </a:prstGeom>
          <a:noFill/>
        </p:spPr>
        <p:txBody>
          <a:bodyPr wrap="square" lIns="18288" rIns="18288" tIns="9144" bIns="9144">
            <a:spAutoFit/>
          </a:bodyPr>
          <a:lstStyle/>
          <a:p>
            <a:pPr>
              <a:defRPr sz="1300" b="0">
                <a:solidFill>
                  <a:srgbClr val="556B75"/>
                </a:solidFill>
                <a:latin typeface="Aptos"/>
              </a:defRPr>
            </a:pPr>
            <a:r>
              <a:t>27 of 27 tickets marked Done; most outputs are plans and design artifacts.</a:t>
            </a:r>
          </a:p>
        </p:txBody>
      </p:sp>
      <p:sp>
        <p:nvSpPr>
          <p:cNvPr id="6" name="Rectangle 5"/>
          <p:cNvSpPr/>
          <p:nvPr/>
        </p:nvSpPr>
        <p:spPr>
          <a:xfrm>
            <a:off x="822960" y="6345936"/>
            <a:ext cx="10561320" cy="13716"/>
          </a:xfrm>
          <a:prstGeom prst="rect">
            <a:avLst/>
          </a:prstGeom>
          <a:solidFill>
            <a:srgbClr val="D8E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428232"/>
            <a:ext cx="10789920" cy="237744"/>
          </a:xfrm>
          <a:prstGeom prst="rect">
            <a:avLst/>
          </a:prstGeom>
          <a:noFill/>
        </p:spPr>
        <p:txBody>
          <a:bodyPr wrap="square" lIns="18288" rIns="18288" tIns="9144" bIns="9144">
            <a:spAutoFit/>
          </a:bodyPr>
          <a:lstStyle/>
          <a:p>
            <a:pPr>
              <a:defRPr sz="900" b="0">
                <a:solidFill>
                  <a:srgbClr val="556B75"/>
                </a:solidFill>
                <a:latin typeface="Aptos"/>
              </a:defRPr>
            </a:pPr>
            <a:r>
              <a:t>ABANG CEBU AI  /  JIRA SNAPSHOT 16 OCT 2026                                          03</a:t>
            </a:r>
          </a:p>
        </p:txBody>
      </p:sp>
      <p:sp>
        <p:nvSpPr>
          <p:cNvPr id="8" name="Rounded Rectangle 7"/>
          <p:cNvSpPr/>
          <p:nvPr/>
        </p:nvSpPr>
        <p:spPr>
          <a:xfrm>
            <a:off x="822960" y="2331720"/>
            <a:ext cx="10515600" cy="101498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459736"/>
            <a:ext cx="2971800" cy="310896"/>
          </a:xfrm>
          <a:prstGeom prst="rect">
            <a:avLst/>
          </a:prstGeom>
          <a:noFill/>
        </p:spPr>
        <p:txBody>
          <a:bodyPr wrap="square" lIns="18288" rIns="18288" tIns="9144" bIns="9144">
            <a:spAutoFit/>
          </a:bodyPr>
          <a:lstStyle/>
          <a:p>
            <a:pPr>
              <a:defRPr sz="1800" b="1">
                <a:solidFill>
                  <a:srgbClr val="087E74"/>
                </a:solidFill>
                <a:latin typeface="Aptos"/>
              </a:defRPr>
            </a:pPr>
            <a:r>
              <a:t>Foundation</a:t>
            </a:r>
          </a:p>
        </p:txBody>
      </p:sp>
      <p:sp>
        <p:nvSpPr>
          <p:cNvPr id="10" name="TextBox 9"/>
          <p:cNvSpPr txBox="1"/>
          <p:nvPr/>
        </p:nvSpPr>
        <p:spPr>
          <a:xfrm>
            <a:off x="3886200" y="2450591"/>
            <a:ext cx="7114032" cy="685800"/>
          </a:xfrm>
          <a:prstGeom prst="rect">
            <a:avLst/>
          </a:prstGeom>
          <a:noFill/>
        </p:spPr>
        <p:txBody>
          <a:bodyPr wrap="square" lIns="18288" rIns="18288" tIns="9144" bIns="9144">
            <a:spAutoFit/>
          </a:bodyPr>
          <a:lstStyle/>
          <a:p>
            <a:pPr>
              <a:defRPr sz="1700" b="0">
                <a:solidFill>
                  <a:srgbClr val="153036"/>
                </a:solidFill>
                <a:latin typeface="Aptos"/>
              </a:defRPr>
            </a:pPr>
            <a:r>
              <a:t>Git, AWS, Next.js/MapLibre and Supabase/PostGIS direction.</a:t>
            </a:r>
          </a:p>
        </p:txBody>
      </p:sp>
      <p:sp>
        <p:nvSpPr>
          <p:cNvPr id="11" name="Rounded Rectangle 10"/>
          <p:cNvSpPr/>
          <p:nvPr/>
        </p:nvSpPr>
        <p:spPr>
          <a:xfrm>
            <a:off x="822960" y="3529584"/>
            <a:ext cx="10515600" cy="101498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3657600"/>
            <a:ext cx="2971800" cy="310896"/>
          </a:xfrm>
          <a:prstGeom prst="rect">
            <a:avLst/>
          </a:prstGeom>
          <a:noFill/>
        </p:spPr>
        <p:txBody>
          <a:bodyPr wrap="square" lIns="18288" rIns="18288" tIns="9144" bIns="9144">
            <a:spAutoFit/>
          </a:bodyPr>
          <a:lstStyle/>
          <a:p>
            <a:pPr>
              <a:defRPr sz="1800" b="1">
                <a:solidFill>
                  <a:srgbClr val="087E74"/>
                </a:solidFill>
                <a:latin typeface="Aptos"/>
              </a:defRPr>
            </a:pPr>
            <a:r>
              <a:t>Access + data</a:t>
            </a:r>
          </a:p>
        </p:txBody>
      </p:sp>
      <p:sp>
        <p:nvSpPr>
          <p:cNvPr id="13" name="TextBox 12"/>
          <p:cNvSpPr txBox="1"/>
          <p:nvPr/>
        </p:nvSpPr>
        <p:spPr>
          <a:xfrm>
            <a:off x="3886200" y="3648456"/>
            <a:ext cx="7114032" cy="685800"/>
          </a:xfrm>
          <a:prstGeom prst="rect">
            <a:avLst/>
          </a:prstGeom>
          <a:noFill/>
        </p:spPr>
        <p:txBody>
          <a:bodyPr wrap="square" lIns="18288" rIns="18288" tIns="9144" bIns="9144">
            <a:spAutoFit/>
          </a:bodyPr>
          <a:lstStyle/>
          <a:p>
            <a:pPr>
              <a:defRPr sz="1700" b="0">
                <a:solidFill>
                  <a:srgbClr val="153036"/>
                </a:solidFill>
                <a:latin typeface="Aptos"/>
              </a:defRPr>
            </a:pPr>
            <a:r>
              <a:t>User/profile schema, RLS policy drafts, RBAC and renter/landlord personas.</a:t>
            </a:r>
          </a:p>
        </p:txBody>
      </p:sp>
      <p:sp>
        <p:nvSpPr>
          <p:cNvPr id="14" name="Rounded Rectangle 13"/>
          <p:cNvSpPr/>
          <p:nvPr/>
        </p:nvSpPr>
        <p:spPr>
          <a:xfrm>
            <a:off x="822960" y="4727448"/>
            <a:ext cx="10515600" cy="101498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4855464"/>
            <a:ext cx="2971800" cy="310896"/>
          </a:xfrm>
          <a:prstGeom prst="rect">
            <a:avLst/>
          </a:prstGeom>
          <a:noFill/>
        </p:spPr>
        <p:txBody>
          <a:bodyPr wrap="square" lIns="18288" rIns="18288" tIns="9144" bIns="9144">
            <a:spAutoFit/>
          </a:bodyPr>
          <a:lstStyle/>
          <a:p>
            <a:pPr>
              <a:defRPr sz="1800" b="1">
                <a:solidFill>
                  <a:srgbClr val="087E74"/>
                </a:solidFill>
                <a:latin typeface="Aptos"/>
              </a:defRPr>
            </a:pPr>
            <a:r>
              <a:t>Experience + QA</a:t>
            </a:r>
          </a:p>
        </p:txBody>
      </p:sp>
      <p:sp>
        <p:nvSpPr>
          <p:cNvPr id="16" name="TextBox 15"/>
          <p:cNvSpPr txBox="1"/>
          <p:nvPr/>
        </p:nvSpPr>
        <p:spPr>
          <a:xfrm>
            <a:off x="3886200" y="4846320"/>
            <a:ext cx="7114032" cy="685800"/>
          </a:xfrm>
          <a:prstGeom prst="rect">
            <a:avLst/>
          </a:prstGeom>
          <a:noFill/>
        </p:spPr>
        <p:txBody>
          <a:bodyPr wrap="square" lIns="18288" rIns="18288" tIns="9144" bIns="9144">
            <a:spAutoFit/>
          </a:bodyPr>
          <a:lstStyle/>
          <a:p>
            <a:pPr>
              <a:defRPr sz="1700" b="0">
                <a:solidFill>
                  <a:srgbClr val="153036"/>
                </a:solidFill>
                <a:latin typeface="Aptos"/>
              </a:defRPr>
            </a:pPr>
            <a:r>
              <a:t>Page wireframes, authentication workflow specifications and test plans.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6"/>
        </a:solidFill>
        <a:effectLst/>
      </p:bgPr>
    </p:bg>
    <p:spTree>
      <p:nvGrpSpPr>
        <p:cNvPr id="1" name=""/>
        <p:cNvGrpSpPr/>
        <p:nvPr/>
      </p:nvGrpSpPr>
      <p:grpSpPr/>
      <p:sp>
        <p:nvSpPr>
          <p:cNvPr id="2" name="Rectangle 1"/>
          <p:cNvSpPr/>
          <p:nvPr/>
        </p:nvSpPr>
        <p:spPr>
          <a:xfrm>
            <a:off x="585216" y="484632"/>
            <a:ext cx="64008" cy="429768"/>
          </a:xfrm>
          <a:prstGeom prst="rect">
            <a:avLst/>
          </a:prstGeom>
          <a:solidFill>
            <a:srgbClr val="087E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30352"/>
            <a:ext cx="10058400" cy="256032"/>
          </a:xfrm>
          <a:prstGeom prst="rect">
            <a:avLst/>
          </a:prstGeom>
          <a:noFill/>
        </p:spPr>
        <p:txBody>
          <a:bodyPr wrap="square" lIns="18288" rIns="18288" tIns="9144" bIns="9144">
            <a:spAutoFit/>
          </a:bodyPr>
          <a:lstStyle/>
          <a:p>
            <a:pPr>
              <a:defRPr sz="1100" b="1">
                <a:solidFill>
                  <a:srgbClr val="087E74"/>
                </a:solidFill>
                <a:latin typeface="Aptos"/>
              </a:defRPr>
            </a:pPr>
            <a:r>
              <a:t>SPRINT 1 / ARTIFACT SPOTLIGHT</a:t>
            </a:r>
          </a:p>
        </p:txBody>
      </p:sp>
      <p:sp>
        <p:nvSpPr>
          <p:cNvPr id="4" name="TextBox 3"/>
          <p:cNvSpPr txBox="1"/>
          <p:nvPr/>
        </p:nvSpPr>
        <p:spPr>
          <a:xfrm>
            <a:off x="822960" y="932688"/>
            <a:ext cx="10789920" cy="804672"/>
          </a:xfrm>
          <a:prstGeom prst="rect">
            <a:avLst/>
          </a:prstGeom>
          <a:noFill/>
        </p:spPr>
        <p:txBody>
          <a:bodyPr wrap="square" lIns="18288" rIns="18288" tIns="9144" bIns="9144">
            <a:spAutoFit/>
          </a:bodyPr>
          <a:lstStyle/>
          <a:p>
            <a:pPr>
              <a:defRPr sz="2600" b="1">
                <a:solidFill>
                  <a:srgbClr val="153036"/>
                </a:solidFill>
                <a:latin typeface="Aptos"/>
              </a:defRPr>
            </a:pPr>
            <a:r>
              <a:t>SCRUM-64 · Design Landing Page Wireframe / Mockup</a:t>
            </a:r>
          </a:p>
        </p:txBody>
      </p:sp>
      <p:sp>
        <p:nvSpPr>
          <p:cNvPr id="5" name="TextBox 4"/>
          <p:cNvSpPr txBox="1"/>
          <p:nvPr/>
        </p:nvSpPr>
        <p:spPr>
          <a:xfrm>
            <a:off x="822960" y="1819656"/>
            <a:ext cx="10698480" cy="265176"/>
          </a:xfrm>
          <a:prstGeom prst="rect">
            <a:avLst/>
          </a:prstGeom>
          <a:noFill/>
        </p:spPr>
        <p:txBody>
          <a:bodyPr wrap="square" lIns="18288" rIns="18288" tIns="9144" bIns="9144">
            <a:spAutoFit/>
          </a:bodyPr>
          <a:lstStyle/>
          <a:p>
            <a:pPr>
              <a:defRPr sz="1300" b="0">
                <a:solidFill>
                  <a:srgbClr val="556B75"/>
                </a:solidFill>
                <a:latin typeface="Aptos"/>
              </a:defRPr>
            </a:pPr>
            <a:r>
              <a:t>Ticket contents and artifact provenance</a:t>
            </a:r>
          </a:p>
        </p:txBody>
      </p:sp>
      <p:sp>
        <p:nvSpPr>
          <p:cNvPr id="6" name="Rectangle 5"/>
          <p:cNvSpPr/>
          <p:nvPr/>
        </p:nvSpPr>
        <p:spPr>
          <a:xfrm>
            <a:off x="822960" y="6345936"/>
            <a:ext cx="10561320" cy="13716"/>
          </a:xfrm>
          <a:prstGeom prst="rect">
            <a:avLst/>
          </a:prstGeom>
          <a:solidFill>
            <a:srgbClr val="D8E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428232"/>
            <a:ext cx="10789920" cy="237744"/>
          </a:xfrm>
          <a:prstGeom prst="rect">
            <a:avLst/>
          </a:prstGeom>
          <a:noFill/>
        </p:spPr>
        <p:txBody>
          <a:bodyPr wrap="square" lIns="18288" rIns="18288" tIns="9144" bIns="9144">
            <a:spAutoFit/>
          </a:bodyPr>
          <a:lstStyle/>
          <a:p>
            <a:pPr>
              <a:defRPr sz="900" b="0">
                <a:solidFill>
                  <a:srgbClr val="556B75"/>
                </a:solidFill>
                <a:latin typeface="Aptos"/>
              </a:defRPr>
            </a:pPr>
            <a:r>
              <a:t>ABANG CEBU AI  /  JIRA SNAPSHOT 16 OCT 2026                                          04</a:t>
            </a:r>
          </a:p>
        </p:txBody>
      </p:sp>
      <p:sp>
        <p:nvSpPr>
          <p:cNvPr id="8" name="Rounded Rectangle 7"/>
          <p:cNvSpPr/>
          <p:nvPr/>
        </p:nvSpPr>
        <p:spPr>
          <a:xfrm>
            <a:off x="822960" y="2157984"/>
            <a:ext cx="6400800" cy="3904487"/>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AbangCebu_Landing_Page_Desktop_Wireframe_Blueprint.png"/>
          <p:cNvPicPr>
            <a:picLocks noChangeAspect="1"/>
          </p:cNvPicPr>
          <p:nvPr/>
        </p:nvPicPr>
        <p:blipFill>
          <a:blip r:embed="rId2"/>
          <a:stretch>
            <a:fillRect/>
          </a:stretch>
        </p:blipFill>
        <p:spPr>
          <a:xfrm>
            <a:off x="1555495" y="2267712"/>
            <a:ext cx="4935728" cy="3172968"/>
          </a:xfrm>
          <a:prstGeom prst="rect">
            <a:avLst/>
          </a:prstGeom>
        </p:spPr>
      </p:pic>
      <p:sp>
        <p:nvSpPr>
          <p:cNvPr id="10" name="TextBox 9"/>
          <p:cNvSpPr txBox="1"/>
          <p:nvPr/>
        </p:nvSpPr>
        <p:spPr>
          <a:xfrm>
            <a:off x="1005840" y="5532120"/>
            <a:ext cx="6080760" cy="438912"/>
          </a:xfrm>
          <a:prstGeom prst="rect">
            <a:avLst/>
          </a:prstGeom>
          <a:noFill/>
        </p:spPr>
        <p:txBody>
          <a:bodyPr wrap="square" lIns="18288" rIns="18288" tIns="9144" bIns="9144">
            <a:spAutoFit/>
          </a:bodyPr>
          <a:lstStyle/>
          <a:p>
            <a:pPr>
              <a:defRPr sz="1200" b="0">
                <a:solidFill>
                  <a:srgbClr val="556B75"/>
                </a:solidFill>
                <a:latin typeface="Aptos"/>
              </a:defRPr>
            </a:pPr>
            <a:r>
              <a:t>Desktop landing-page blueprint · wireframe, not a live application</a:t>
            </a:r>
          </a:p>
        </p:txBody>
      </p:sp>
      <p:sp>
        <p:nvSpPr>
          <p:cNvPr id="11" name="Rounded Rectangle 10"/>
          <p:cNvSpPr/>
          <p:nvPr/>
        </p:nvSpPr>
        <p:spPr>
          <a:xfrm>
            <a:off x="7479792" y="2157984"/>
            <a:ext cx="3877056" cy="3904487"/>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763256" y="2414016"/>
            <a:ext cx="1371600" cy="356616"/>
          </a:xfrm>
          <a:prstGeom prst="roundRect">
            <a:avLst/>
          </a:prstGeom>
          <a:solidFill>
            <a:srgbClr val="087E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72983" y="2478024"/>
            <a:ext cx="1207008" cy="182880"/>
          </a:xfrm>
          <a:prstGeom prst="rect">
            <a:avLst/>
          </a:prstGeom>
          <a:noFill/>
        </p:spPr>
        <p:txBody>
          <a:bodyPr wrap="square" lIns="18288" rIns="18288" tIns="9144" bIns="9144">
            <a:spAutoFit/>
          </a:bodyPr>
          <a:lstStyle/>
          <a:p>
            <a:pPr>
              <a:defRPr sz="1000" b="1">
                <a:solidFill>
                  <a:srgbClr val="FFFFFF"/>
                </a:solidFill>
                <a:latin typeface="Aptos"/>
              </a:defRPr>
            </a:pPr>
            <a:r>
              <a:t>DONE</a:t>
            </a:r>
          </a:p>
        </p:txBody>
      </p:sp>
      <p:sp>
        <p:nvSpPr>
          <p:cNvPr id="14" name="TextBox 13"/>
          <p:cNvSpPr txBox="1"/>
          <p:nvPr/>
        </p:nvSpPr>
        <p:spPr>
          <a:xfrm>
            <a:off x="7763256" y="2990088"/>
            <a:ext cx="3264408" cy="621792"/>
          </a:xfrm>
          <a:prstGeom prst="rect">
            <a:avLst/>
          </a:prstGeom>
          <a:noFill/>
        </p:spPr>
        <p:txBody>
          <a:bodyPr wrap="square" lIns="18288" rIns="18288" tIns="9144" bIns="9144">
            <a:spAutoFit/>
          </a:bodyPr>
          <a:lstStyle/>
          <a:p>
            <a:pPr>
              <a:defRPr sz="1700" b="0">
                <a:solidFill>
                  <a:srgbClr val="153036"/>
                </a:solidFill>
                <a:latin typeface="Aptos"/>
              </a:defRPr>
            </a:pPr>
            <a:r>
              <a:t>• Map-led rental discovery layout</a:t>
            </a:r>
          </a:p>
        </p:txBody>
      </p:sp>
      <p:sp>
        <p:nvSpPr>
          <p:cNvPr id="15" name="TextBox 14"/>
          <p:cNvSpPr txBox="1"/>
          <p:nvPr/>
        </p:nvSpPr>
        <p:spPr>
          <a:xfrm>
            <a:off x="7763256" y="3785615"/>
            <a:ext cx="3264408" cy="621792"/>
          </a:xfrm>
          <a:prstGeom prst="rect">
            <a:avLst/>
          </a:prstGeom>
          <a:noFill/>
        </p:spPr>
        <p:txBody>
          <a:bodyPr wrap="square" lIns="18288" rIns="18288" tIns="9144" bIns="9144">
            <a:spAutoFit/>
          </a:bodyPr>
          <a:lstStyle/>
          <a:p>
            <a:pPr>
              <a:defRPr sz="1700" b="0">
                <a:solidFill>
                  <a:srgbClr val="153036"/>
                </a:solidFill>
                <a:latin typeface="Aptos"/>
              </a:defRPr>
            </a:pPr>
            <a:r>
              <a:t>• Search, filters and listing preview are design concepts</a:t>
            </a:r>
          </a:p>
        </p:txBody>
      </p:sp>
      <p:sp>
        <p:nvSpPr>
          <p:cNvPr id="16" name="TextBox 15"/>
          <p:cNvSpPr txBox="1"/>
          <p:nvPr/>
        </p:nvSpPr>
        <p:spPr>
          <a:xfrm>
            <a:off x="7763256" y="4800600"/>
            <a:ext cx="3291840" cy="621792"/>
          </a:xfrm>
          <a:prstGeom prst="rect">
            <a:avLst/>
          </a:prstGeom>
          <a:noFill/>
        </p:spPr>
        <p:txBody>
          <a:bodyPr wrap="square" lIns="18288" rIns="18288" tIns="9144" bIns="9144">
            <a:spAutoFit/>
          </a:bodyPr>
          <a:lstStyle/>
          <a:p>
            <a:pPr>
              <a:defRPr sz="1100" b="0">
                <a:solidFill>
                  <a:srgbClr val="556B75"/>
                </a:solidFill>
                <a:latin typeface="Aptos"/>
              </a:defRPr>
            </a:pPr>
            <a:r>
              <a:t>Local wireframe; Jira lists same-named attachment</a:t>
            </a:r>
          </a:p>
        </p:txBody>
      </p:sp>
      <p:sp>
        <p:nvSpPr>
          <p:cNvPr id="17" name="TextBox 16"/>
          <p:cNvSpPr txBox="1"/>
          <p:nvPr/>
        </p:nvSpPr>
        <p:spPr>
          <a:xfrm>
            <a:off x="7763256" y="5605272"/>
            <a:ext cx="3291840" cy="256032"/>
          </a:xfrm>
          <a:prstGeom prst="rect">
            <a:avLst/>
          </a:prstGeom>
          <a:noFill/>
        </p:spPr>
        <p:txBody>
          <a:bodyPr wrap="square" lIns="18288" rIns="18288" tIns="9144" bIns="9144">
            <a:spAutoFit/>
          </a:bodyPr>
          <a:lstStyle/>
          <a:p>
            <a:pPr>
              <a:defRPr sz="1200" b="1">
                <a:solidFill>
                  <a:srgbClr val="087E74"/>
                </a:solidFill>
                <a:latin typeface="Aptos"/>
              </a:defRPr>
            </a:pPr>
            <a:r>
              <a:rPr>
                <a:hlinkClick r:id="rId3"/>
              </a:rPr>
              <a:t>OPEN JIRA ISSUE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6"/>
        </a:solidFill>
        <a:effectLst/>
      </p:bgPr>
    </p:bg>
    <p:spTree>
      <p:nvGrpSpPr>
        <p:cNvPr id="1" name=""/>
        <p:cNvGrpSpPr/>
        <p:nvPr/>
      </p:nvGrpSpPr>
      <p:grpSpPr/>
      <p:sp>
        <p:nvSpPr>
          <p:cNvPr id="2" name="Rectangle 1"/>
          <p:cNvSpPr/>
          <p:nvPr/>
        </p:nvSpPr>
        <p:spPr>
          <a:xfrm>
            <a:off x="585216" y="484632"/>
            <a:ext cx="64008" cy="429768"/>
          </a:xfrm>
          <a:prstGeom prst="rect">
            <a:avLst/>
          </a:prstGeom>
          <a:solidFill>
            <a:srgbClr val="087E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30352"/>
            <a:ext cx="10058400" cy="256032"/>
          </a:xfrm>
          <a:prstGeom prst="rect">
            <a:avLst/>
          </a:prstGeom>
          <a:noFill/>
        </p:spPr>
        <p:txBody>
          <a:bodyPr wrap="square" lIns="18288" rIns="18288" tIns="9144" bIns="9144">
            <a:spAutoFit/>
          </a:bodyPr>
          <a:lstStyle/>
          <a:p>
            <a:pPr>
              <a:defRPr sz="1100" b="1">
                <a:solidFill>
                  <a:srgbClr val="087E74"/>
                </a:solidFill>
                <a:latin typeface="Aptos"/>
              </a:defRPr>
            </a:pPr>
            <a:r>
              <a:t>SPRINT 1 / ARTIFACT SPOTLIGHT</a:t>
            </a:r>
          </a:p>
        </p:txBody>
      </p:sp>
      <p:sp>
        <p:nvSpPr>
          <p:cNvPr id="4" name="TextBox 3"/>
          <p:cNvSpPr txBox="1"/>
          <p:nvPr/>
        </p:nvSpPr>
        <p:spPr>
          <a:xfrm>
            <a:off x="822960" y="932688"/>
            <a:ext cx="10789920" cy="804672"/>
          </a:xfrm>
          <a:prstGeom prst="rect">
            <a:avLst/>
          </a:prstGeom>
          <a:noFill/>
        </p:spPr>
        <p:txBody>
          <a:bodyPr wrap="square" lIns="18288" rIns="18288" tIns="9144" bIns="9144">
            <a:spAutoFit/>
          </a:bodyPr>
          <a:lstStyle/>
          <a:p>
            <a:pPr>
              <a:defRPr sz="3100" b="1">
                <a:solidFill>
                  <a:srgbClr val="153036"/>
                </a:solidFill>
                <a:latin typeface="Aptos"/>
              </a:defRPr>
            </a:pPr>
            <a:r>
              <a:t>SCRUM-65 · Design Login Page Wireframe / Mockup</a:t>
            </a:r>
          </a:p>
        </p:txBody>
      </p:sp>
      <p:sp>
        <p:nvSpPr>
          <p:cNvPr id="5" name="TextBox 4"/>
          <p:cNvSpPr txBox="1"/>
          <p:nvPr/>
        </p:nvSpPr>
        <p:spPr>
          <a:xfrm>
            <a:off x="822960" y="1819656"/>
            <a:ext cx="10698480" cy="265176"/>
          </a:xfrm>
          <a:prstGeom prst="rect">
            <a:avLst/>
          </a:prstGeom>
          <a:noFill/>
        </p:spPr>
        <p:txBody>
          <a:bodyPr wrap="square" lIns="18288" rIns="18288" tIns="9144" bIns="9144">
            <a:spAutoFit/>
          </a:bodyPr>
          <a:lstStyle/>
          <a:p>
            <a:pPr>
              <a:defRPr sz="1300" b="0">
                <a:solidFill>
                  <a:srgbClr val="556B75"/>
                </a:solidFill>
                <a:latin typeface="Aptos"/>
              </a:defRPr>
            </a:pPr>
            <a:r>
              <a:t>Ticket contents and artifact provenance</a:t>
            </a:r>
          </a:p>
        </p:txBody>
      </p:sp>
      <p:sp>
        <p:nvSpPr>
          <p:cNvPr id="6" name="Rectangle 5"/>
          <p:cNvSpPr/>
          <p:nvPr/>
        </p:nvSpPr>
        <p:spPr>
          <a:xfrm>
            <a:off x="822960" y="6345936"/>
            <a:ext cx="10561320" cy="13716"/>
          </a:xfrm>
          <a:prstGeom prst="rect">
            <a:avLst/>
          </a:prstGeom>
          <a:solidFill>
            <a:srgbClr val="D8E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428232"/>
            <a:ext cx="10789920" cy="237744"/>
          </a:xfrm>
          <a:prstGeom prst="rect">
            <a:avLst/>
          </a:prstGeom>
          <a:noFill/>
        </p:spPr>
        <p:txBody>
          <a:bodyPr wrap="square" lIns="18288" rIns="18288" tIns="9144" bIns="9144">
            <a:spAutoFit/>
          </a:bodyPr>
          <a:lstStyle/>
          <a:p>
            <a:pPr>
              <a:defRPr sz="900" b="0">
                <a:solidFill>
                  <a:srgbClr val="556B75"/>
                </a:solidFill>
                <a:latin typeface="Aptos"/>
              </a:defRPr>
            </a:pPr>
            <a:r>
              <a:t>ABANG CEBU AI  /  JIRA SNAPSHOT 16 OCT 2026                                          05</a:t>
            </a:r>
          </a:p>
        </p:txBody>
      </p:sp>
      <p:sp>
        <p:nvSpPr>
          <p:cNvPr id="8" name="Rounded Rectangle 7"/>
          <p:cNvSpPr/>
          <p:nvPr/>
        </p:nvSpPr>
        <p:spPr>
          <a:xfrm>
            <a:off x="822960" y="2157984"/>
            <a:ext cx="6400800" cy="3904487"/>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AbangCebu_Login_Page_Desktop_Wireframe_Blueprint.png"/>
          <p:cNvPicPr>
            <a:picLocks noChangeAspect="1"/>
          </p:cNvPicPr>
          <p:nvPr/>
        </p:nvPicPr>
        <p:blipFill>
          <a:blip r:embed="rId2"/>
          <a:stretch>
            <a:fillRect/>
          </a:stretch>
        </p:blipFill>
        <p:spPr>
          <a:xfrm>
            <a:off x="1555495" y="2267712"/>
            <a:ext cx="4935728" cy="3172968"/>
          </a:xfrm>
          <a:prstGeom prst="rect">
            <a:avLst/>
          </a:prstGeom>
        </p:spPr>
      </p:pic>
      <p:sp>
        <p:nvSpPr>
          <p:cNvPr id="10" name="TextBox 9"/>
          <p:cNvSpPr txBox="1"/>
          <p:nvPr/>
        </p:nvSpPr>
        <p:spPr>
          <a:xfrm>
            <a:off x="1005840" y="5532120"/>
            <a:ext cx="6080760" cy="438912"/>
          </a:xfrm>
          <a:prstGeom prst="rect">
            <a:avLst/>
          </a:prstGeom>
          <a:noFill/>
        </p:spPr>
        <p:txBody>
          <a:bodyPr wrap="square" lIns="18288" rIns="18288" tIns="9144" bIns="9144">
            <a:spAutoFit/>
          </a:bodyPr>
          <a:lstStyle/>
          <a:p>
            <a:pPr>
              <a:defRPr sz="1200" b="0">
                <a:solidFill>
                  <a:srgbClr val="556B75"/>
                </a:solidFill>
                <a:latin typeface="Aptos"/>
              </a:defRPr>
            </a:pPr>
            <a:r>
              <a:t>Desktop login-page blueprint · wireframe, not a live application</a:t>
            </a:r>
          </a:p>
        </p:txBody>
      </p:sp>
      <p:sp>
        <p:nvSpPr>
          <p:cNvPr id="11" name="Rounded Rectangle 10"/>
          <p:cNvSpPr/>
          <p:nvPr/>
        </p:nvSpPr>
        <p:spPr>
          <a:xfrm>
            <a:off x="7479792" y="2157984"/>
            <a:ext cx="3877056" cy="3904487"/>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763256" y="2414016"/>
            <a:ext cx="1371600" cy="356616"/>
          </a:xfrm>
          <a:prstGeom prst="roundRect">
            <a:avLst/>
          </a:prstGeom>
          <a:solidFill>
            <a:srgbClr val="087E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72983" y="2478024"/>
            <a:ext cx="1207008" cy="182880"/>
          </a:xfrm>
          <a:prstGeom prst="rect">
            <a:avLst/>
          </a:prstGeom>
          <a:noFill/>
        </p:spPr>
        <p:txBody>
          <a:bodyPr wrap="square" lIns="18288" rIns="18288" tIns="9144" bIns="9144">
            <a:spAutoFit/>
          </a:bodyPr>
          <a:lstStyle/>
          <a:p>
            <a:pPr>
              <a:defRPr sz="1000" b="1">
                <a:solidFill>
                  <a:srgbClr val="FFFFFF"/>
                </a:solidFill>
                <a:latin typeface="Aptos"/>
              </a:defRPr>
            </a:pPr>
            <a:r>
              <a:t>DONE</a:t>
            </a:r>
          </a:p>
        </p:txBody>
      </p:sp>
      <p:sp>
        <p:nvSpPr>
          <p:cNvPr id="14" name="TextBox 13"/>
          <p:cNvSpPr txBox="1"/>
          <p:nvPr/>
        </p:nvSpPr>
        <p:spPr>
          <a:xfrm>
            <a:off x="7763256" y="2990088"/>
            <a:ext cx="3264408" cy="621792"/>
          </a:xfrm>
          <a:prstGeom prst="rect">
            <a:avLst/>
          </a:prstGeom>
          <a:noFill/>
        </p:spPr>
        <p:txBody>
          <a:bodyPr wrap="square" lIns="18288" rIns="18288" tIns="9144" bIns="9144">
            <a:spAutoFit/>
          </a:bodyPr>
          <a:lstStyle/>
          <a:p>
            <a:pPr>
              <a:defRPr sz="1700" b="0">
                <a:solidFill>
                  <a:srgbClr val="153036"/>
                </a:solidFill>
                <a:latin typeface="Aptos"/>
              </a:defRPr>
            </a:pPr>
            <a:r>
              <a:t>• Login page visual specification</a:t>
            </a:r>
          </a:p>
        </p:txBody>
      </p:sp>
      <p:sp>
        <p:nvSpPr>
          <p:cNvPr id="15" name="TextBox 14"/>
          <p:cNvSpPr txBox="1"/>
          <p:nvPr/>
        </p:nvSpPr>
        <p:spPr>
          <a:xfrm>
            <a:off x="7763256" y="3785615"/>
            <a:ext cx="3264408" cy="621792"/>
          </a:xfrm>
          <a:prstGeom prst="rect">
            <a:avLst/>
          </a:prstGeom>
          <a:noFill/>
        </p:spPr>
        <p:txBody>
          <a:bodyPr wrap="square" lIns="18288" rIns="18288" tIns="9144" bIns="9144">
            <a:spAutoFit/>
          </a:bodyPr>
          <a:lstStyle/>
          <a:p>
            <a:pPr>
              <a:defRPr sz="1700" b="0">
                <a:solidFill>
                  <a:srgbClr val="153036"/>
                </a:solidFill>
                <a:latin typeface="Aptos"/>
              </a:defRPr>
            </a:pPr>
            <a:r>
              <a:t>• Auth implementation remains separate work</a:t>
            </a:r>
          </a:p>
        </p:txBody>
      </p:sp>
      <p:sp>
        <p:nvSpPr>
          <p:cNvPr id="16" name="TextBox 15"/>
          <p:cNvSpPr txBox="1"/>
          <p:nvPr/>
        </p:nvSpPr>
        <p:spPr>
          <a:xfrm>
            <a:off x="7763256" y="4800600"/>
            <a:ext cx="3291840" cy="621792"/>
          </a:xfrm>
          <a:prstGeom prst="rect">
            <a:avLst/>
          </a:prstGeom>
          <a:noFill/>
        </p:spPr>
        <p:txBody>
          <a:bodyPr wrap="square" lIns="18288" rIns="18288" tIns="9144" bIns="9144">
            <a:spAutoFit/>
          </a:bodyPr>
          <a:lstStyle/>
          <a:p>
            <a:pPr>
              <a:defRPr sz="1100" b="0">
                <a:solidFill>
                  <a:srgbClr val="556B75"/>
                </a:solidFill>
                <a:latin typeface="Aptos"/>
              </a:defRPr>
            </a:pPr>
            <a:r>
              <a:t>Local wireframe; Jira attachment linkage not independently checked</a:t>
            </a:r>
          </a:p>
        </p:txBody>
      </p:sp>
      <p:sp>
        <p:nvSpPr>
          <p:cNvPr id="17" name="TextBox 16"/>
          <p:cNvSpPr txBox="1"/>
          <p:nvPr/>
        </p:nvSpPr>
        <p:spPr>
          <a:xfrm>
            <a:off x="7763256" y="5605272"/>
            <a:ext cx="3291840" cy="256032"/>
          </a:xfrm>
          <a:prstGeom prst="rect">
            <a:avLst/>
          </a:prstGeom>
          <a:noFill/>
        </p:spPr>
        <p:txBody>
          <a:bodyPr wrap="square" lIns="18288" rIns="18288" tIns="9144" bIns="9144">
            <a:spAutoFit/>
          </a:bodyPr>
          <a:lstStyle/>
          <a:p>
            <a:pPr>
              <a:defRPr sz="1200" b="1">
                <a:solidFill>
                  <a:srgbClr val="087E74"/>
                </a:solidFill>
                <a:latin typeface="Aptos"/>
              </a:defRPr>
            </a:pPr>
            <a:r>
              <a:rPr>
                <a:hlinkClick r:id="rId3"/>
              </a:rPr>
              <a:t>OPEN JIRA ISSUE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6"/>
        </a:solidFill>
        <a:effectLst/>
      </p:bgPr>
    </p:bg>
    <p:spTree>
      <p:nvGrpSpPr>
        <p:cNvPr id="1" name=""/>
        <p:cNvGrpSpPr/>
        <p:nvPr/>
      </p:nvGrpSpPr>
      <p:grpSpPr/>
      <p:sp>
        <p:nvSpPr>
          <p:cNvPr id="2" name="Rectangle 1"/>
          <p:cNvSpPr/>
          <p:nvPr/>
        </p:nvSpPr>
        <p:spPr>
          <a:xfrm>
            <a:off x="585216" y="484632"/>
            <a:ext cx="64008" cy="429768"/>
          </a:xfrm>
          <a:prstGeom prst="rect">
            <a:avLst/>
          </a:prstGeom>
          <a:solidFill>
            <a:srgbClr val="087E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30352"/>
            <a:ext cx="10058400" cy="256032"/>
          </a:xfrm>
          <a:prstGeom prst="rect">
            <a:avLst/>
          </a:prstGeom>
          <a:noFill/>
        </p:spPr>
        <p:txBody>
          <a:bodyPr wrap="square" lIns="18288" rIns="18288" tIns="9144" bIns="9144">
            <a:spAutoFit/>
          </a:bodyPr>
          <a:lstStyle/>
          <a:p>
            <a:pPr>
              <a:defRPr sz="1100" b="1">
                <a:solidFill>
                  <a:srgbClr val="087E74"/>
                </a:solidFill>
                <a:latin typeface="Aptos"/>
              </a:defRPr>
            </a:pPr>
            <a:r>
              <a:t>INVENTORY / SPRINT 1</a:t>
            </a:r>
          </a:p>
        </p:txBody>
      </p:sp>
      <p:sp>
        <p:nvSpPr>
          <p:cNvPr id="4" name="TextBox 3"/>
          <p:cNvSpPr txBox="1"/>
          <p:nvPr/>
        </p:nvSpPr>
        <p:spPr>
          <a:xfrm>
            <a:off x="822960" y="932688"/>
            <a:ext cx="10789920" cy="804672"/>
          </a:xfrm>
          <a:prstGeom prst="rect">
            <a:avLst/>
          </a:prstGeom>
          <a:noFill/>
        </p:spPr>
        <p:txBody>
          <a:bodyPr wrap="square" lIns="18288" rIns="18288" tIns="9144" bIns="9144">
            <a:spAutoFit/>
          </a:bodyPr>
          <a:lstStyle/>
          <a:p>
            <a:pPr>
              <a:defRPr sz="3100" b="1">
                <a:solidFill>
                  <a:srgbClr val="153036"/>
                </a:solidFill>
                <a:latin typeface="Aptos"/>
              </a:defRPr>
            </a:pPr>
            <a:r>
              <a:t>Sprint 1 · ticket register</a:t>
            </a:r>
          </a:p>
        </p:txBody>
      </p:sp>
      <p:sp>
        <p:nvSpPr>
          <p:cNvPr id="5" name="TextBox 4"/>
          <p:cNvSpPr txBox="1"/>
          <p:nvPr/>
        </p:nvSpPr>
        <p:spPr>
          <a:xfrm>
            <a:off x="822960" y="1819656"/>
            <a:ext cx="10698480" cy="265176"/>
          </a:xfrm>
          <a:prstGeom prst="rect">
            <a:avLst/>
          </a:prstGeom>
          <a:noFill/>
        </p:spPr>
        <p:txBody>
          <a:bodyPr wrap="square" lIns="18288" rIns="18288" tIns="9144" bIns="9144">
            <a:spAutoFit/>
          </a:bodyPr>
          <a:lstStyle/>
          <a:p>
            <a:pPr>
              <a:defRPr sz="1300" b="0">
                <a:solidFill>
                  <a:srgbClr val="556B75"/>
                </a:solidFill>
                <a:latin typeface="Aptos"/>
              </a:defRPr>
            </a:pPr>
            <a:r>
              <a:t>1–6 of 27  /  appendix page 1 of 5</a:t>
            </a:r>
          </a:p>
        </p:txBody>
      </p:sp>
      <p:sp>
        <p:nvSpPr>
          <p:cNvPr id="6" name="Rectangle 5"/>
          <p:cNvSpPr/>
          <p:nvPr/>
        </p:nvSpPr>
        <p:spPr>
          <a:xfrm>
            <a:off x="822960" y="6345936"/>
            <a:ext cx="10561320" cy="13716"/>
          </a:xfrm>
          <a:prstGeom prst="rect">
            <a:avLst/>
          </a:prstGeom>
          <a:solidFill>
            <a:srgbClr val="D8E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428232"/>
            <a:ext cx="10789920" cy="237744"/>
          </a:xfrm>
          <a:prstGeom prst="rect">
            <a:avLst/>
          </a:prstGeom>
          <a:noFill/>
        </p:spPr>
        <p:txBody>
          <a:bodyPr wrap="square" lIns="18288" rIns="18288" tIns="9144" bIns="9144">
            <a:spAutoFit/>
          </a:bodyPr>
          <a:lstStyle/>
          <a:p>
            <a:pPr>
              <a:defRPr sz="900" b="0">
                <a:solidFill>
                  <a:srgbClr val="556B75"/>
                </a:solidFill>
                <a:latin typeface="Aptos"/>
              </a:defRPr>
            </a:pPr>
            <a:r>
              <a:t>ABANG CEBU AI  /  JIRA SNAPSHOT 16 OCT 2026                                          06</a:t>
            </a:r>
          </a:p>
        </p:txBody>
      </p:sp>
      <p:sp>
        <p:nvSpPr>
          <p:cNvPr id="8" name="Rounded Rectangle 7"/>
          <p:cNvSpPr/>
          <p:nvPr/>
        </p:nvSpPr>
        <p:spPr>
          <a:xfrm>
            <a:off x="822960" y="2130552"/>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249424"/>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2"/>
              </a:rPr>
              <a:t>SCRUM-10</a:t>
            </a:r>
          </a:p>
        </p:txBody>
      </p:sp>
      <p:sp>
        <p:nvSpPr>
          <p:cNvPr id="10" name="TextBox 9"/>
          <p:cNvSpPr txBox="1"/>
          <p:nvPr/>
        </p:nvSpPr>
        <p:spPr>
          <a:xfrm>
            <a:off x="2350008" y="2221992"/>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Create AbangCebu System Flowcharts</a:t>
            </a:r>
          </a:p>
        </p:txBody>
      </p:sp>
      <p:sp>
        <p:nvSpPr>
          <p:cNvPr id="11" name="TextBox 10"/>
          <p:cNvSpPr txBox="1"/>
          <p:nvPr/>
        </p:nvSpPr>
        <p:spPr>
          <a:xfrm>
            <a:off x="10021824" y="2286000"/>
            <a:ext cx="1124712" cy="228600"/>
          </a:xfrm>
          <a:prstGeom prst="rect">
            <a:avLst/>
          </a:prstGeom>
          <a:noFill/>
        </p:spPr>
        <p:txBody>
          <a:bodyPr wrap="square" lIns="18288" rIns="18288" tIns="9144" bIns="9144">
            <a:spAutoFit/>
          </a:bodyPr>
          <a:lstStyle/>
          <a:p>
            <a:pPr>
              <a:defRPr sz="1000" b="1">
                <a:solidFill>
                  <a:srgbClr val="087E74"/>
                </a:solidFill>
                <a:latin typeface="Aptos"/>
              </a:defRPr>
            </a:pPr>
            <a:r>
              <a:t>DONE</a:t>
            </a:r>
          </a:p>
        </p:txBody>
      </p:sp>
      <p:sp>
        <p:nvSpPr>
          <p:cNvPr id="12" name="Rounded Rectangle 11"/>
          <p:cNvSpPr/>
          <p:nvPr/>
        </p:nvSpPr>
        <p:spPr>
          <a:xfrm>
            <a:off x="822960" y="2788920"/>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8" y="2907791"/>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3"/>
              </a:rPr>
              <a:t>SCRUM-49</a:t>
            </a:r>
          </a:p>
        </p:txBody>
      </p:sp>
      <p:sp>
        <p:nvSpPr>
          <p:cNvPr id="14" name="TextBox 13"/>
          <p:cNvSpPr txBox="1"/>
          <p:nvPr/>
        </p:nvSpPr>
        <p:spPr>
          <a:xfrm>
            <a:off x="2350008" y="2880360"/>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Establish Git Branching &amp; PR Collaboration Strategy</a:t>
            </a:r>
          </a:p>
        </p:txBody>
      </p:sp>
      <p:sp>
        <p:nvSpPr>
          <p:cNvPr id="15" name="TextBox 14"/>
          <p:cNvSpPr txBox="1"/>
          <p:nvPr/>
        </p:nvSpPr>
        <p:spPr>
          <a:xfrm>
            <a:off x="10021824" y="2944368"/>
            <a:ext cx="1124712" cy="228600"/>
          </a:xfrm>
          <a:prstGeom prst="rect">
            <a:avLst/>
          </a:prstGeom>
          <a:noFill/>
        </p:spPr>
        <p:txBody>
          <a:bodyPr wrap="square" lIns="18288" rIns="18288" tIns="9144" bIns="9144">
            <a:spAutoFit/>
          </a:bodyPr>
          <a:lstStyle/>
          <a:p>
            <a:pPr>
              <a:defRPr sz="1000" b="1">
                <a:solidFill>
                  <a:srgbClr val="087E74"/>
                </a:solidFill>
                <a:latin typeface="Aptos"/>
              </a:defRPr>
            </a:pPr>
            <a:r>
              <a:t>DONE</a:t>
            </a:r>
          </a:p>
        </p:txBody>
      </p:sp>
      <p:sp>
        <p:nvSpPr>
          <p:cNvPr id="16" name="Rounded Rectangle 15"/>
          <p:cNvSpPr/>
          <p:nvPr/>
        </p:nvSpPr>
        <p:spPr>
          <a:xfrm>
            <a:off x="822960" y="3447288"/>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4128" y="3566160"/>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4"/>
              </a:rPr>
              <a:t>SCRUM-6</a:t>
            </a:r>
          </a:p>
        </p:txBody>
      </p:sp>
      <p:sp>
        <p:nvSpPr>
          <p:cNvPr id="18" name="TextBox 17"/>
          <p:cNvSpPr txBox="1"/>
          <p:nvPr/>
        </p:nvSpPr>
        <p:spPr>
          <a:xfrm>
            <a:off x="2350008" y="3538728"/>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create AWS account for the team</a:t>
            </a:r>
          </a:p>
        </p:txBody>
      </p:sp>
      <p:sp>
        <p:nvSpPr>
          <p:cNvPr id="19" name="TextBox 18"/>
          <p:cNvSpPr txBox="1"/>
          <p:nvPr/>
        </p:nvSpPr>
        <p:spPr>
          <a:xfrm>
            <a:off x="10021824" y="3602736"/>
            <a:ext cx="1124712" cy="228600"/>
          </a:xfrm>
          <a:prstGeom prst="rect">
            <a:avLst/>
          </a:prstGeom>
          <a:noFill/>
        </p:spPr>
        <p:txBody>
          <a:bodyPr wrap="square" lIns="18288" rIns="18288" tIns="9144" bIns="9144">
            <a:spAutoFit/>
          </a:bodyPr>
          <a:lstStyle/>
          <a:p>
            <a:pPr>
              <a:defRPr sz="1000" b="1">
                <a:solidFill>
                  <a:srgbClr val="087E74"/>
                </a:solidFill>
                <a:latin typeface="Aptos"/>
              </a:defRPr>
            </a:pPr>
            <a:r>
              <a:t>DONE</a:t>
            </a:r>
          </a:p>
        </p:txBody>
      </p:sp>
      <p:sp>
        <p:nvSpPr>
          <p:cNvPr id="20" name="Rounded Rectangle 19"/>
          <p:cNvSpPr/>
          <p:nvPr/>
        </p:nvSpPr>
        <p:spPr>
          <a:xfrm>
            <a:off x="822960" y="4105656"/>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24128" y="4224528"/>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5"/>
              </a:rPr>
              <a:t>SCRUM-55</a:t>
            </a:r>
          </a:p>
        </p:txBody>
      </p:sp>
      <p:sp>
        <p:nvSpPr>
          <p:cNvPr id="22" name="TextBox 21"/>
          <p:cNvSpPr txBox="1"/>
          <p:nvPr/>
        </p:nvSpPr>
        <p:spPr>
          <a:xfrm>
            <a:off x="2350008" y="4197096"/>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Draft Row Level Security (RLS) Policy Specifications</a:t>
            </a:r>
          </a:p>
        </p:txBody>
      </p:sp>
      <p:sp>
        <p:nvSpPr>
          <p:cNvPr id="23" name="TextBox 22"/>
          <p:cNvSpPr txBox="1"/>
          <p:nvPr/>
        </p:nvSpPr>
        <p:spPr>
          <a:xfrm>
            <a:off x="10021824" y="4261104"/>
            <a:ext cx="1124712" cy="228600"/>
          </a:xfrm>
          <a:prstGeom prst="rect">
            <a:avLst/>
          </a:prstGeom>
          <a:noFill/>
        </p:spPr>
        <p:txBody>
          <a:bodyPr wrap="square" lIns="18288" rIns="18288" tIns="9144" bIns="9144">
            <a:spAutoFit/>
          </a:bodyPr>
          <a:lstStyle/>
          <a:p>
            <a:pPr>
              <a:defRPr sz="1000" b="1">
                <a:solidFill>
                  <a:srgbClr val="087E74"/>
                </a:solidFill>
                <a:latin typeface="Aptos"/>
              </a:defRPr>
            </a:pPr>
            <a:r>
              <a:t>DONE</a:t>
            </a:r>
          </a:p>
        </p:txBody>
      </p:sp>
      <p:sp>
        <p:nvSpPr>
          <p:cNvPr id="24" name="Rounded Rectangle 23"/>
          <p:cNvSpPr/>
          <p:nvPr/>
        </p:nvSpPr>
        <p:spPr>
          <a:xfrm>
            <a:off x="822960" y="4764024"/>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24128" y="4882896"/>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6"/>
              </a:rPr>
              <a:t>SCRUM-62</a:t>
            </a:r>
          </a:p>
        </p:txBody>
      </p:sp>
      <p:sp>
        <p:nvSpPr>
          <p:cNvPr id="26" name="TextBox 25"/>
          <p:cNvSpPr txBox="1"/>
          <p:nvPr/>
        </p:nvSpPr>
        <p:spPr>
          <a:xfrm>
            <a:off x="2350008" y="4855464"/>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Define Landlord Persona, Permissions &amp; Capabilities</a:t>
            </a:r>
          </a:p>
        </p:txBody>
      </p:sp>
      <p:sp>
        <p:nvSpPr>
          <p:cNvPr id="27" name="TextBox 26"/>
          <p:cNvSpPr txBox="1"/>
          <p:nvPr/>
        </p:nvSpPr>
        <p:spPr>
          <a:xfrm>
            <a:off x="10021824" y="4919472"/>
            <a:ext cx="1124712" cy="228600"/>
          </a:xfrm>
          <a:prstGeom prst="rect">
            <a:avLst/>
          </a:prstGeom>
          <a:noFill/>
        </p:spPr>
        <p:txBody>
          <a:bodyPr wrap="square" lIns="18288" rIns="18288" tIns="9144" bIns="9144">
            <a:spAutoFit/>
          </a:bodyPr>
          <a:lstStyle/>
          <a:p>
            <a:pPr>
              <a:defRPr sz="1000" b="1">
                <a:solidFill>
                  <a:srgbClr val="087E74"/>
                </a:solidFill>
                <a:latin typeface="Aptos"/>
              </a:defRPr>
            </a:pPr>
            <a:r>
              <a:t>DONE</a:t>
            </a:r>
          </a:p>
        </p:txBody>
      </p:sp>
      <p:sp>
        <p:nvSpPr>
          <p:cNvPr id="28" name="Rounded Rectangle 27"/>
          <p:cNvSpPr/>
          <p:nvPr/>
        </p:nvSpPr>
        <p:spPr>
          <a:xfrm>
            <a:off x="822960" y="5422392"/>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4128" y="5541264"/>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7"/>
              </a:rPr>
              <a:t>SCRUM-50</a:t>
            </a:r>
          </a:p>
        </p:txBody>
      </p:sp>
      <p:sp>
        <p:nvSpPr>
          <p:cNvPr id="30" name="TextBox 29"/>
          <p:cNvSpPr txBox="1"/>
          <p:nvPr/>
        </p:nvSpPr>
        <p:spPr>
          <a:xfrm>
            <a:off x="2350008" y="5513831"/>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Configure UI Framework &amp; Styling Guidelines</a:t>
            </a:r>
          </a:p>
        </p:txBody>
      </p:sp>
      <p:sp>
        <p:nvSpPr>
          <p:cNvPr id="31" name="TextBox 30"/>
          <p:cNvSpPr txBox="1"/>
          <p:nvPr/>
        </p:nvSpPr>
        <p:spPr>
          <a:xfrm>
            <a:off x="10021824" y="5577840"/>
            <a:ext cx="1124712" cy="228600"/>
          </a:xfrm>
          <a:prstGeom prst="rect">
            <a:avLst/>
          </a:prstGeom>
          <a:noFill/>
        </p:spPr>
        <p:txBody>
          <a:bodyPr wrap="square" lIns="18288" rIns="18288" tIns="9144" bIns="9144">
            <a:spAutoFit/>
          </a:bodyPr>
          <a:lstStyle/>
          <a:p>
            <a:pPr>
              <a:defRPr sz="1000" b="1">
                <a:solidFill>
                  <a:srgbClr val="087E74"/>
                </a:solidFill>
                <a:latin typeface="Aptos"/>
              </a:defRPr>
            </a:pPr>
            <a:r>
              <a:t>DONE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6"/>
        </a:solidFill>
        <a:effectLst/>
      </p:bgPr>
    </p:bg>
    <p:spTree>
      <p:nvGrpSpPr>
        <p:cNvPr id="1" name=""/>
        <p:cNvGrpSpPr/>
        <p:nvPr/>
      </p:nvGrpSpPr>
      <p:grpSpPr/>
      <p:sp>
        <p:nvSpPr>
          <p:cNvPr id="2" name="Rectangle 1"/>
          <p:cNvSpPr/>
          <p:nvPr/>
        </p:nvSpPr>
        <p:spPr>
          <a:xfrm>
            <a:off x="585216" y="484632"/>
            <a:ext cx="64008" cy="429768"/>
          </a:xfrm>
          <a:prstGeom prst="rect">
            <a:avLst/>
          </a:prstGeom>
          <a:solidFill>
            <a:srgbClr val="087E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30352"/>
            <a:ext cx="10058400" cy="256032"/>
          </a:xfrm>
          <a:prstGeom prst="rect">
            <a:avLst/>
          </a:prstGeom>
          <a:noFill/>
        </p:spPr>
        <p:txBody>
          <a:bodyPr wrap="square" lIns="18288" rIns="18288" tIns="9144" bIns="9144">
            <a:spAutoFit/>
          </a:bodyPr>
          <a:lstStyle/>
          <a:p>
            <a:pPr>
              <a:defRPr sz="1100" b="1">
                <a:solidFill>
                  <a:srgbClr val="087E74"/>
                </a:solidFill>
                <a:latin typeface="Aptos"/>
              </a:defRPr>
            </a:pPr>
            <a:r>
              <a:t>INVENTORY / SPRINT 1</a:t>
            </a:r>
          </a:p>
        </p:txBody>
      </p:sp>
      <p:sp>
        <p:nvSpPr>
          <p:cNvPr id="4" name="TextBox 3"/>
          <p:cNvSpPr txBox="1"/>
          <p:nvPr/>
        </p:nvSpPr>
        <p:spPr>
          <a:xfrm>
            <a:off x="822960" y="932688"/>
            <a:ext cx="10789920" cy="804672"/>
          </a:xfrm>
          <a:prstGeom prst="rect">
            <a:avLst/>
          </a:prstGeom>
          <a:noFill/>
        </p:spPr>
        <p:txBody>
          <a:bodyPr wrap="square" lIns="18288" rIns="18288" tIns="9144" bIns="9144">
            <a:spAutoFit/>
          </a:bodyPr>
          <a:lstStyle/>
          <a:p>
            <a:pPr>
              <a:defRPr sz="3100" b="1">
                <a:solidFill>
                  <a:srgbClr val="153036"/>
                </a:solidFill>
                <a:latin typeface="Aptos"/>
              </a:defRPr>
            </a:pPr>
            <a:r>
              <a:t>Sprint 1 · ticket register</a:t>
            </a:r>
          </a:p>
        </p:txBody>
      </p:sp>
      <p:sp>
        <p:nvSpPr>
          <p:cNvPr id="5" name="TextBox 4"/>
          <p:cNvSpPr txBox="1"/>
          <p:nvPr/>
        </p:nvSpPr>
        <p:spPr>
          <a:xfrm>
            <a:off x="822960" y="1819656"/>
            <a:ext cx="10698480" cy="265176"/>
          </a:xfrm>
          <a:prstGeom prst="rect">
            <a:avLst/>
          </a:prstGeom>
          <a:noFill/>
        </p:spPr>
        <p:txBody>
          <a:bodyPr wrap="square" lIns="18288" rIns="18288" tIns="9144" bIns="9144">
            <a:spAutoFit/>
          </a:bodyPr>
          <a:lstStyle/>
          <a:p>
            <a:pPr>
              <a:defRPr sz="1300" b="0">
                <a:solidFill>
                  <a:srgbClr val="556B75"/>
                </a:solidFill>
                <a:latin typeface="Aptos"/>
              </a:defRPr>
            </a:pPr>
            <a:r>
              <a:t>7–12 of 27  /  appendix page 2 of 5</a:t>
            </a:r>
          </a:p>
        </p:txBody>
      </p:sp>
      <p:sp>
        <p:nvSpPr>
          <p:cNvPr id="6" name="Rectangle 5"/>
          <p:cNvSpPr/>
          <p:nvPr/>
        </p:nvSpPr>
        <p:spPr>
          <a:xfrm>
            <a:off x="822960" y="6345936"/>
            <a:ext cx="10561320" cy="13716"/>
          </a:xfrm>
          <a:prstGeom prst="rect">
            <a:avLst/>
          </a:prstGeom>
          <a:solidFill>
            <a:srgbClr val="D8E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428232"/>
            <a:ext cx="10789920" cy="237744"/>
          </a:xfrm>
          <a:prstGeom prst="rect">
            <a:avLst/>
          </a:prstGeom>
          <a:noFill/>
        </p:spPr>
        <p:txBody>
          <a:bodyPr wrap="square" lIns="18288" rIns="18288" tIns="9144" bIns="9144">
            <a:spAutoFit/>
          </a:bodyPr>
          <a:lstStyle/>
          <a:p>
            <a:pPr>
              <a:defRPr sz="900" b="0">
                <a:solidFill>
                  <a:srgbClr val="556B75"/>
                </a:solidFill>
                <a:latin typeface="Aptos"/>
              </a:defRPr>
            </a:pPr>
            <a:r>
              <a:t>ABANG CEBU AI  /  JIRA SNAPSHOT 16 OCT 2026                                          07</a:t>
            </a:r>
          </a:p>
        </p:txBody>
      </p:sp>
      <p:sp>
        <p:nvSpPr>
          <p:cNvPr id="8" name="Rounded Rectangle 7"/>
          <p:cNvSpPr/>
          <p:nvPr/>
        </p:nvSpPr>
        <p:spPr>
          <a:xfrm>
            <a:off x="822960" y="2130552"/>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249424"/>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2"/>
              </a:rPr>
              <a:t>SCRUM-51</a:t>
            </a:r>
          </a:p>
        </p:txBody>
      </p:sp>
      <p:sp>
        <p:nvSpPr>
          <p:cNvPr id="10" name="TextBox 9"/>
          <p:cNvSpPr txBox="1"/>
          <p:nvPr/>
        </p:nvSpPr>
        <p:spPr>
          <a:xfrm>
            <a:off x="2350008" y="2221992"/>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Environment Variables &amp; Secrets Governance Plan</a:t>
            </a:r>
          </a:p>
        </p:txBody>
      </p:sp>
      <p:sp>
        <p:nvSpPr>
          <p:cNvPr id="11" name="TextBox 10"/>
          <p:cNvSpPr txBox="1"/>
          <p:nvPr/>
        </p:nvSpPr>
        <p:spPr>
          <a:xfrm>
            <a:off x="10021824" y="2286000"/>
            <a:ext cx="1124712" cy="228600"/>
          </a:xfrm>
          <a:prstGeom prst="rect">
            <a:avLst/>
          </a:prstGeom>
          <a:noFill/>
        </p:spPr>
        <p:txBody>
          <a:bodyPr wrap="square" lIns="18288" rIns="18288" tIns="9144" bIns="9144">
            <a:spAutoFit/>
          </a:bodyPr>
          <a:lstStyle/>
          <a:p>
            <a:pPr>
              <a:defRPr sz="1000" b="1">
                <a:solidFill>
                  <a:srgbClr val="087E74"/>
                </a:solidFill>
                <a:latin typeface="Aptos"/>
              </a:defRPr>
            </a:pPr>
            <a:r>
              <a:t>DONE</a:t>
            </a:r>
          </a:p>
        </p:txBody>
      </p:sp>
      <p:sp>
        <p:nvSpPr>
          <p:cNvPr id="12" name="Rounded Rectangle 11"/>
          <p:cNvSpPr/>
          <p:nvPr/>
        </p:nvSpPr>
        <p:spPr>
          <a:xfrm>
            <a:off x="822960" y="2788920"/>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8" y="2907791"/>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3"/>
              </a:rPr>
              <a:t>SCRUM-52</a:t>
            </a:r>
          </a:p>
        </p:txBody>
      </p:sp>
      <p:sp>
        <p:nvSpPr>
          <p:cNvPr id="14" name="TextBox 13"/>
          <p:cNvSpPr txBox="1"/>
          <p:nvPr/>
        </p:nvSpPr>
        <p:spPr>
          <a:xfrm>
            <a:off x="2350008" y="2880360"/>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Plan Supabase Project Structure &amp; Extensions</a:t>
            </a:r>
          </a:p>
        </p:txBody>
      </p:sp>
      <p:sp>
        <p:nvSpPr>
          <p:cNvPr id="15" name="TextBox 14"/>
          <p:cNvSpPr txBox="1"/>
          <p:nvPr/>
        </p:nvSpPr>
        <p:spPr>
          <a:xfrm>
            <a:off x="10021824" y="2944368"/>
            <a:ext cx="1124712" cy="228600"/>
          </a:xfrm>
          <a:prstGeom prst="rect">
            <a:avLst/>
          </a:prstGeom>
          <a:noFill/>
        </p:spPr>
        <p:txBody>
          <a:bodyPr wrap="square" lIns="18288" rIns="18288" tIns="9144" bIns="9144">
            <a:spAutoFit/>
          </a:bodyPr>
          <a:lstStyle/>
          <a:p>
            <a:pPr>
              <a:defRPr sz="1000" b="1">
                <a:solidFill>
                  <a:srgbClr val="087E74"/>
                </a:solidFill>
                <a:latin typeface="Aptos"/>
              </a:defRPr>
            </a:pPr>
            <a:r>
              <a:t>DONE</a:t>
            </a:r>
          </a:p>
        </p:txBody>
      </p:sp>
      <p:sp>
        <p:nvSpPr>
          <p:cNvPr id="16" name="Rounded Rectangle 15"/>
          <p:cNvSpPr/>
          <p:nvPr/>
        </p:nvSpPr>
        <p:spPr>
          <a:xfrm>
            <a:off x="822960" y="3447288"/>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4128" y="3566160"/>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4"/>
              </a:rPr>
              <a:t>SCRUM-53</a:t>
            </a:r>
          </a:p>
        </p:txBody>
      </p:sp>
      <p:sp>
        <p:nvSpPr>
          <p:cNvPr id="18" name="TextBox 17"/>
          <p:cNvSpPr txBox="1"/>
          <p:nvPr/>
        </p:nvSpPr>
        <p:spPr>
          <a:xfrm>
            <a:off x="2350008" y="3538728"/>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Design Initial Database ERD Diagram</a:t>
            </a:r>
          </a:p>
        </p:txBody>
      </p:sp>
      <p:sp>
        <p:nvSpPr>
          <p:cNvPr id="19" name="TextBox 18"/>
          <p:cNvSpPr txBox="1"/>
          <p:nvPr/>
        </p:nvSpPr>
        <p:spPr>
          <a:xfrm>
            <a:off x="10021824" y="3602736"/>
            <a:ext cx="1124712" cy="228600"/>
          </a:xfrm>
          <a:prstGeom prst="rect">
            <a:avLst/>
          </a:prstGeom>
          <a:noFill/>
        </p:spPr>
        <p:txBody>
          <a:bodyPr wrap="square" lIns="18288" rIns="18288" tIns="9144" bIns="9144">
            <a:spAutoFit/>
          </a:bodyPr>
          <a:lstStyle/>
          <a:p>
            <a:pPr>
              <a:defRPr sz="1000" b="1">
                <a:solidFill>
                  <a:srgbClr val="087E74"/>
                </a:solidFill>
                <a:latin typeface="Aptos"/>
              </a:defRPr>
            </a:pPr>
            <a:r>
              <a:t>DONE</a:t>
            </a:r>
          </a:p>
        </p:txBody>
      </p:sp>
      <p:sp>
        <p:nvSpPr>
          <p:cNvPr id="20" name="Rounded Rectangle 19"/>
          <p:cNvSpPr/>
          <p:nvPr/>
        </p:nvSpPr>
        <p:spPr>
          <a:xfrm>
            <a:off x="822960" y="4105656"/>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24128" y="4224528"/>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5"/>
              </a:rPr>
              <a:t>SCRUM-54</a:t>
            </a:r>
          </a:p>
        </p:txBody>
      </p:sp>
      <p:sp>
        <p:nvSpPr>
          <p:cNvPr id="22" name="TextBox 21"/>
          <p:cNvSpPr txBox="1"/>
          <p:nvPr/>
        </p:nvSpPr>
        <p:spPr>
          <a:xfrm>
            <a:off x="2350008" y="4197096"/>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Define Users &amp; Profiles Table Schema Specification</a:t>
            </a:r>
          </a:p>
        </p:txBody>
      </p:sp>
      <p:sp>
        <p:nvSpPr>
          <p:cNvPr id="23" name="TextBox 22"/>
          <p:cNvSpPr txBox="1"/>
          <p:nvPr/>
        </p:nvSpPr>
        <p:spPr>
          <a:xfrm>
            <a:off x="10021824" y="4261104"/>
            <a:ext cx="1124712" cy="228600"/>
          </a:xfrm>
          <a:prstGeom prst="rect">
            <a:avLst/>
          </a:prstGeom>
          <a:noFill/>
        </p:spPr>
        <p:txBody>
          <a:bodyPr wrap="square" lIns="18288" rIns="18288" tIns="9144" bIns="9144">
            <a:spAutoFit/>
          </a:bodyPr>
          <a:lstStyle/>
          <a:p>
            <a:pPr>
              <a:defRPr sz="1000" b="1">
                <a:solidFill>
                  <a:srgbClr val="087E74"/>
                </a:solidFill>
                <a:latin typeface="Aptos"/>
              </a:defRPr>
            </a:pPr>
            <a:r>
              <a:t>DONE</a:t>
            </a:r>
          </a:p>
        </p:txBody>
      </p:sp>
      <p:sp>
        <p:nvSpPr>
          <p:cNvPr id="24" name="Rounded Rectangle 23"/>
          <p:cNvSpPr/>
          <p:nvPr/>
        </p:nvSpPr>
        <p:spPr>
          <a:xfrm>
            <a:off x="822960" y="4764024"/>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24128" y="4882896"/>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6"/>
              </a:rPr>
              <a:t>SCRUM-56</a:t>
            </a:r>
          </a:p>
        </p:txBody>
      </p:sp>
      <p:sp>
        <p:nvSpPr>
          <p:cNvPr id="26" name="TextBox 25"/>
          <p:cNvSpPr txBox="1"/>
          <p:nvPr/>
        </p:nvSpPr>
        <p:spPr>
          <a:xfrm>
            <a:off x="2350008" y="4855464"/>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Specify User Registration Workflow &amp; Data Contract</a:t>
            </a:r>
          </a:p>
        </p:txBody>
      </p:sp>
      <p:sp>
        <p:nvSpPr>
          <p:cNvPr id="27" name="TextBox 26"/>
          <p:cNvSpPr txBox="1"/>
          <p:nvPr/>
        </p:nvSpPr>
        <p:spPr>
          <a:xfrm>
            <a:off x="10021824" y="4919472"/>
            <a:ext cx="1124712" cy="228600"/>
          </a:xfrm>
          <a:prstGeom prst="rect">
            <a:avLst/>
          </a:prstGeom>
          <a:noFill/>
        </p:spPr>
        <p:txBody>
          <a:bodyPr wrap="square" lIns="18288" rIns="18288" tIns="9144" bIns="9144">
            <a:spAutoFit/>
          </a:bodyPr>
          <a:lstStyle/>
          <a:p>
            <a:pPr>
              <a:defRPr sz="1000" b="1">
                <a:solidFill>
                  <a:srgbClr val="087E74"/>
                </a:solidFill>
                <a:latin typeface="Aptos"/>
              </a:defRPr>
            </a:pPr>
            <a:r>
              <a:t>DONE</a:t>
            </a:r>
          </a:p>
        </p:txBody>
      </p:sp>
      <p:sp>
        <p:nvSpPr>
          <p:cNvPr id="28" name="Rounded Rectangle 27"/>
          <p:cNvSpPr/>
          <p:nvPr/>
        </p:nvSpPr>
        <p:spPr>
          <a:xfrm>
            <a:off x="822960" y="5422392"/>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4128" y="5541264"/>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7"/>
              </a:rPr>
              <a:t>SCRUM-57</a:t>
            </a:r>
          </a:p>
        </p:txBody>
      </p:sp>
      <p:sp>
        <p:nvSpPr>
          <p:cNvPr id="30" name="TextBox 29"/>
          <p:cNvSpPr txBox="1"/>
          <p:nvPr/>
        </p:nvSpPr>
        <p:spPr>
          <a:xfrm>
            <a:off x="2350008" y="5513831"/>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Specify User Login &amp; Session Token Lifecycle</a:t>
            </a:r>
          </a:p>
        </p:txBody>
      </p:sp>
      <p:sp>
        <p:nvSpPr>
          <p:cNvPr id="31" name="TextBox 30"/>
          <p:cNvSpPr txBox="1"/>
          <p:nvPr/>
        </p:nvSpPr>
        <p:spPr>
          <a:xfrm>
            <a:off x="10021824" y="5577840"/>
            <a:ext cx="1124712" cy="228600"/>
          </a:xfrm>
          <a:prstGeom prst="rect">
            <a:avLst/>
          </a:prstGeom>
          <a:noFill/>
        </p:spPr>
        <p:txBody>
          <a:bodyPr wrap="square" lIns="18288" rIns="18288" tIns="9144" bIns="9144">
            <a:spAutoFit/>
          </a:bodyPr>
          <a:lstStyle/>
          <a:p>
            <a:pPr>
              <a:defRPr sz="1000" b="1">
                <a:solidFill>
                  <a:srgbClr val="087E74"/>
                </a:solidFill>
                <a:latin typeface="Aptos"/>
              </a:defRPr>
            </a:pPr>
            <a:r>
              <a:t>DONE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6"/>
        </a:solidFill>
        <a:effectLst/>
      </p:bgPr>
    </p:bg>
    <p:spTree>
      <p:nvGrpSpPr>
        <p:cNvPr id="1" name=""/>
        <p:cNvGrpSpPr/>
        <p:nvPr/>
      </p:nvGrpSpPr>
      <p:grpSpPr/>
      <p:sp>
        <p:nvSpPr>
          <p:cNvPr id="2" name="Rectangle 1"/>
          <p:cNvSpPr/>
          <p:nvPr/>
        </p:nvSpPr>
        <p:spPr>
          <a:xfrm>
            <a:off x="585216" y="484632"/>
            <a:ext cx="64008" cy="429768"/>
          </a:xfrm>
          <a:prstGeom prst="rect">
            <a:avLst/>
          </a:prstGeom>
          <a:solidFill>
            <a:srgbClr val="087E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30352"/>
            <a:ext cx="10058400" cy="256032"/>
          </a:xfrm>
          <a:prstGeom prst="rect">
            <a:avLst/>
          </a:prstGeom>
          <a:noFill/>
        </p:spPr>
        <p:txBody>
          <a:bodyPr wrap="square" lIns="18288" rIns="18288" tIns="9144" bIns="9144">
            <a:spAutoFit/>
          </a:bodyPr>
          <a:lstStyle/>
          <a:p>
            <a:pPr>
              <a:defRPr sz="1100" b="1">
                <a:solidFill>
                  <a:srgbClr val="087E74"/>
                </a:solidFill>
                <a:latin typeface="Aptos"/>
              </a:defRPr>
            </a:pPr>
            <a:r>
              <a:t>INVENTORY / SPRINT 1</a:t>
            </a:r>
          </a:p>
        </p:txBody>
      </p:sp>
      <p:sp>
        <p:nvSpPr>
          <p:cNvPr id="4" name="TextBox 3"/>
          <p:cNvSpPr txBox="1"/>
          <p:nvPr/>
        </p:nvSpPr>
        <p:spPr>
          <a:xfrm>
            <a:off x="822960" y="932688"/>
            <a:ext cx="10789920" cy="804672"/>
          </a:xfrm>
          <a:prstGeom prst="rect">
            <a:avLst/>
          </a:prstGeom>
          <a:noFill/>
        </p:spPr>
        <p:txBody>
          <a:bodyPr wrap="square" lIns="18288" rIns="18288" tIns="9144" bIns="9144">
            <a:spAutoFit/>
          </a:bodyPr>
          <a:lstStyle/>
          <a:p>
            <a:pPr>
              <a:defRPr sz="3100" b="1">
                <a:solidFill>
                  <a:srgbClr val="153036"/>
                </a:solidFill>
                <a:latin typeface="Aptos"/>
              </a:defRPr>
            </a:pPr>
            <a:r>
              <a:t>Sprint 1 · ticket register</a:t>
            </a:r>
          </a:p>
        </p:txBody>
      </p:sp>
      <p:sp>
        <p:nvSpPr>
          <p:cNvPr id="5" name="TextBox 4"/>
          <p:cNvSpPr txBox="1"/>
          <p:nvPr/>
        </p:nvSpPr>
        <p:spPr>
          <a:xfrm>
            <a:off x="822960" y="1819656"/>
            <a:ext cx="10698480" cy="265176"/>
          </a:xfrm>
          <a:prstGeom prst="rect">
            <a:avLst/>
          </a:prstGeom>
          <a:noFill/>
        </p:spPr>
        <p:txBody>
          <a:bodyPr wrap="square" lIns="18288" rIns="18288" tIns="9144" bIns="9144">
            <a:spAutoFit/>
          </a:bodyPr>
          <a:lstStyle/>
          <a:p>
            <a:pPr>
              <a:defRPr sz="1300" b="0">
                <a:solidFill>
                  <a:srgbClr val="556B75"/>
                </a:solidFill>
                <a:latin typeface="Aptos"/>
              </a:defRPr>
            </a:pPr>
            <a:r>
              <a:t>13–18 of 27  /  appendix page 3 of 5</a:t>
            </a:r>
          </a:p>
        </p:txBody>
      </p:sp>
      <p:sp>
        <p:nvSpPr>
          <p:cNvPr id="6" name="Rectangle 5"/>
          <p:cNvSpPr/>
          <p:nvPr/>
        </p:nvSpPr>
        <p:spPr>
          <a:xfrm>
            <a:off x="822960" y="6345936"/>
            <a:ext cx="10561320" cy="13716"/>
          </a:xfrm>
          <a:prstGeom prst="rect">
            <a:avLst/>
          </a:prstGeom>
          <a:solidFill>
            <a:srgbClr val="D8E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428232"/>
            <a:ext cx="10789920" cy="237744"/>
          </a:xfrm>
          <a:prstGeom prst="rect">
            <a:avLst/>
          </a:prstGeom>
          <a:noFill/>
        </p:spPr>
        <p:txBody>
          <a:bodyPr wrap="square" lIns="18288" rIns="18288" tIns="9144" bIns="9144">
            <a:spAutoFit/>
          </a:bodyPr>
          <a:lstStyle/>
          <a:p>
            <a:pPr>
              <a:defRPr sz="900" b="0">
                <a:solidFill>
                  <a:srgbClr val="556B75"/>
                </a:solidFill>
                <a:latin typeface="Aptos"/>
              </a:defRPr>
            </a:pPr>
            <a:r>
              <a:t>ABANG CEBU AI  /  JIRA SNAPSHOT 16 OCT 2026                                          08</a:t>
            </a:r>
          </a:p>
        </p:txBody>
      </p:sp>
      <p:sp>
        <p:nvSpPr>
          <p:cNvPr id="8" name="Rounded Rectangle 7"/>
          <p:cNvSpPr/>
          <p:nvPr/>
        </p:nvSpPr>
        <p:spPr>
          <a:xfrm>
            <a:off x="822960" y="2130552"/>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249424"/>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2"/>
              </a:rPr>
              <a:t>SCRUM-58</a:t>
            </a:r>
          </a:p>
        </p:txBody>
      </p:sp>
      <p:sp>
        <p:nvSpPr>
          <p:cNvPr id="10" name="TextBox 9"/>
          <p:cNvSpPr txBox="1"/>
          <p:nvPr/>
        </p:nvSpPr>
        <p:spPr>
          <a:xfrm>
            <a:off x="2350008" y="2221992"/>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Specify User Logout &amp; Session Invalidation</a:t>
            </a:r>
          </a:p>
        </p:txBody>
      </p:sp>
      <p:sp>
        <p:nvSpPr>
          <p:cNvPr id="11" name="TextBox 10"/>
          <p:cNvSpPr txBox="1"/>
          <p:nvPr/>
        </p:nvSpPr>
        <p:spPr>
          <a:xfrm>
            <a:off x="10021824" y="2286000"/>
            <a:ext cx="1124712" cy="228600"/>
          </a:xfrm>
          <a:prstGeom prst="rect">
            <a:avLst/>
          </a:prstGeom>
          <a:noFill/>
        </p:spPr>
        <p:txBody>
          <a:bodyPr wrap="square" lIns="18288" rIns="18288" tIns="9144" bIns="9144">
            <a:spAutoFit/>
          </a:bodyPr>
          <a:lstStyle/>
          <a:p>
            <a:pPr>
              <a:defRPr sz="1000" b="1">
                <a:solidFill>
                  <a:srgbClr val="087E74"/>
                </a:solidFill>
                <a:latin typeface="Aptos"/>
              </a:defRPr>
            </a:pPr>
            <a:r>
              <a:t>DONE</a:t>
            </a:r>
          </a:p>
        </p:txBody>
      </p:sp>
      <p:sp>
        <p:nvSpPr>
          <p:cNvPr id="12" name="Rounded Rectangle 11"/>
          <p:cNvSpPr/>
          <p:nvPr/>
        </p:nvSpPr>
        <p:spPr>
          <a:xfrm>
            <a:off x="822960" y="2788920"/>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8" y="2907791"/>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3"/>
              </a:rPr>
              <a:t>SCRUM-60</a:t>
            </a:r>
          </a:p>
        </p:txBody>
      </p:sp>
      <p:sp>
        <p:nvSpPr>
          <p:cNvPr id="14" name="TextBox 13"/>
          <p:cNvSpPr txBox="1"/>
          <p:nvPr/>
        </p:nvSpPr>
        <p:spPr>
          <a:xfrm>
            <a:off x="2350008" y="2880360"/>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Document Authentication Error Handling &amp; Edge Cases</a:t>
            </a:r>
          </a:p>
        </p:txBody>
      </p:sp>
      <p:sp>
        <p:nvSpPr>
          <p:cNvPr id="15" name="TextBox 14"/>
          <p:cNvSpPr txBox="1"/>
          <p:nvPr/>
        </p:nvSpPr>
        <p:spPr>
          <a:xfrm>
            <a:off x="10021824" y="2944368"/>
            <a:ext cx="1124712" cy="228600"/>
          </a:xfrm>
          <a:prstGeom prst="rect">
            <a:avLst/>
          </a:prstGeom>
          <a:noFill/>
        </p:spPr>
        <p:txBody>
          <a:bodyPr wrap="square" lIns="18288" rIns="18288" tIns="9144" bIns="9144">
            <a:spAutoFit/>
          </a:bodyPr>
          <a:lstStyle/>
          <a:p>
            <a:pPr>
              <a:defRPr sz="1000" b="1">
                <a:solidFill>
                  <a:srgbClr val="087E74"/>
                </a:solidFill>
                <a:latin typeface="Aptos"/>
              </a:defRPr>
            </a:pPr>
            <a:r>
              <a:t>DONE</a:t>
            </a:r>
          </a:p>
        </p:txBody>
      </p:sp>
      <p:sp>
        <p:nvSpPr>
          <p:cNvPr id="16" name="Rounded Rectangle 15"/>
          <p:cNvSpPr/>
          <p:nvPr/>
        </p:nvSpPr>
        <p:spPr>
          <a:xfrm>
            <a:off x="822960" y="3447288"/>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4128" y="3566160"/>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4"/>
              </a:rPr>
              <a:t>SCRUM-48</a:t>
            </a:r>
          </a:p>
        </p:txBody>
      </p:sp>
      <p:sp>
        <p:nvSpPr>
          <p:cNvPr id="18" name="TextBox 17"/>
          <p:cNvSpPr txBox="1"/>
          <p:nvPr/>
        </p:nvSpPr>
        <p:spPr>
          <a:xfrm>
            <a:off x="2350008" y="3538728"/>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Plan Next.js 15 &amp; MapLibre Project Foundation</a:t>
            </a:r>
          </a:p>
        </p:txBody>
      </p:sp>
      <p:sp>
        <p:nvSpPr>
          <p:cNvPr id="19" name="TextBox 18"/>
          <p:cNvSpPr txBox="1"/>
          <p:nvPr/>
        </p:nvSpPr>
        <p:spPr>
          <a:xfrm>
            <a:off x="10021824" y="3602736"/>
            <a:ext cx="1124712" cy="228600"/>
          </a:xfrm>
          <a:prstGeom prst="rect">
            <a:avLst/>
          </a:prstGeom>
          <a:noFill/>
        </p:spPr>
        <p:txBody>
          <a:bodyPr wrap="square" lIns="18288" rIns="18288" tIns="9144" bIns="9144">
            <a:spAutoFit/>
          </a:bodyPr>
          <a:lstStyle/>
          <a:p>
            <a:pPr>
              <a:defRPr sz="1000" b="1">
                <a:solidFill>
                  <a:srgbClr val="087E74"/>
                </a:solidFill>
                <a:latin typeface="Aptos"/>
              </a:defRPr>
            </a:pPr>
            <a:r>
              <a:t>DONE</a:t>
            </a:r>
          </a:p>
        </p:txBody>
      </p:sp>
      <p:sp>
        <p:nvSpPr>
          <p:cNvPr id="20" name="Rounded Rectangle 19"/>
          <p:cNvSpPr/>
          <p:nvPr/>
        </p:nvSpPr>
        <p:spPr>
          <a:xfrm>
            <a:off x="822960" y="4105656"/>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24128" y="4224528"/>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5"/>
              </a:rPr>
              <a:t>SCRUM-64</a:t>
            </a:r>
          </a:p>
        </p:txBody>
      </p:sp>
      <p:sp>
        <p:nvSpPr>
          <p:cNvPr id="22" name="TextBox 21"/>
          <p:cNvSpPr txBox="1"/>
          <p:nvPr/>
        </p:nvSpPr>
        <p:spPr>
          <a:xfrm>
            <a:off x="2350008" y="4197096"/>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Design Landing Page Wireframe / Mockup</a:t>
            </a:r>
          </a:p>
        </p:txBody>
      </p:sp>
      <p:sp>
        <p:nvSpPr>
          <p:cNvPr id="23" name="TextBox 22"/>
          <p:cNvSpPr txBox="1"/>
          <p:nvPr/>
        </p:nvSpPr>
        <p:spPr>
          <a:xfrm>
            <a:off x="10021824" y="4261104"/>
            <a:ext cx="1124712" cy="228600"/>
          </a:xfrm>
          <a:prstGeom prst="rect">
            <a:avLst/>
          </a:prstGeom>
          <a:noFill/>
        </p:spPr>
        <p:txBody>
          <a:bodyPr wrap="square" lIns="18288" rIns="18288" tIns="9144" bIns="9144">
            <a:spAutoFit/>
          </a:bodyPr>
          <a:lstStyle/>
          <a:p>
            <a:pPr>
              <a:defRPr sz="1000" b="1">
                <a:solidFill>
                  <a:srgbClr val="087E74"/>
                </a:solidFill>
                <a:latin typeface="Aptos"/>
              </a:defRPr>
            </a:pPr>
            <a:r>
              <a:t>DONE</a:t>
            </a:r>
          </a:p>
        </p:txBody>
      </p:sp>
      <p:sp>
        <p:nvSpPr>
          <p:cNvPr id="24" name="Rounded Rectangle 23"/>
          <p:cNvSpPr/>
          <p:nvPr/>
        </p:nvSpPr>
        <p:spPr>
          <a:xfrm>
            <a:off x="822960" y="4764024"/>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24128" y="4882896"/>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6"/>
              </a:rPr>
              <a:t>SCRUM-63</a:t>
            </a:r>
          </a:p>
        </p:txBody>
      </p:sp>
      <p:sp>
        <p:nvSpPr>
          <p:cNvPr id="26" name="TextBox 25"/>
          <p:cNvSpPr txBox="1"/>
          <p:nvPr/>
        </p:nvSpPr>
        <p:spPr>
          <a:xfrm>
            <a:off x="2350008" y="4855464"/>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Create Role-Based Access Control (RBAC) Matrix</a:t>
            </a:r>
          </a:p>
        </p:txBody>
      </p:sp>
      <p:sp>
        <p:nvSpPr>
          <p:cNvPr id="27" name="TextBox 26"/>
          <p:cNvSpPr txBox="1"/>
          <p:nvPr/>
        </p:nvSpPr>
        <p:spPr>
          <a:xfrm>
            <a:off x="10021824" y="4919472"/>
            <a:ext cx="1124712" cy="228600"/>
          </a:xfrm>
          <a:prstGeom prst="rect">
            <a:avLst/>
          </a:prstGeom>
          <a:noFill/>
        </p:spPr>
        <p:txBody>
          <a:bodyPr wrap="square" lIns="18288" rIns="18288" tIns="9144" bIns="9144">
            <a:spAutoFit/>
          </a:bodyPr>
          <a:lstStyle/>
          <a:p>
            <a:pPr>
              <a:defRPr sz="1000" b="1">
                <a:solidFill>
                  <a:srgbClr val="087E74"/>
                </a:solidFill>
                <a:latin typeface="Aptos"/>
              </a:defRPr>
            </a:pPr>
            <a:r>
              <a:t>DONE</a:t>
            </a:r>
          </a:p>
        </p:txBody>
      </p:sp>
      <p:sp>
        <p:nvSpPr>
          <p:cNvPr id="28" name="Rounded Rectangle 27"/>
          <p:cNvSpPr/>
          <p:nvPr/>
        </p:nvSpPr>
        <p:spPr>
          <a:xfrm>
            <a:off x="822960" y="5422392"/>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4128" y="5541264"/>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7"/>
              </a:rPr>
              <a:t>SCRUM-61</a:t>
            </a:r>
          </a:p>
        </p:txBody>
      </p:sp>
      <p:sp>
        <p:nvSpPr>
          <p:cNvPr id="30" name="TextBox 29"/>
          <p:cNvSpPr txBox="1"/>
          <p:nvPr/>
        </p:nvSpPr>
        <p:spPr>
          <a:xfrm>
            <a:off x="2350008" y="5513831"/>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Define Renter Persona, Permissions &amp; Capabilities</a:t>
            </a:r>
          </a:p>
        </p:txBody>
      </p:sp>
      <p:sp>
        <p:nvSpPr>
          <p:cNvPr id="31" name="TextBox 30"/>
          <p:cNvSpPr txBox="1"/>
          <p:nvPr/>
        </p:nvSpPr>
        <p:spPr>
          <a:xfrm>
            <a:off x="10021824" y="5577840"/>
            <a:ext cx="1124712" cy="228600"/>
          </a:xfrm>
          <a:prstGeom prst="rect">
            <a:avLst/>
          </a:prstGeom>
          <a:noFill/>
        </p:spPr>
        <p:txBody>
          <a:bodyPr wrap="square" lIns="18288" rIns="18288" tIns="9144" bIns="9144">
            <a:spAutoFit/>
          </a:bodyPr>
          <a:lstStyle/>
          <a:p>
            <a:pPr>
              <a:defRPr sz="1000" b="1">
                <a:solidFill>
                  <a:srgbClr val="087E74"/>
                </a:solidFill>
                <a:latin typeface="Aptos"/>
              </a:defRPr>
            </a:pPr>
            <a:r>
              <a:t>DONE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6"/>
        </a:solidFill>
        <a:effectLst/>
      </p:bgPr>
    </p:bg>
    <p:spTree>
      <p:nvGrpSpPr>
        <p:cNvPr id="1" name=""/>
        <p:cNvGrpSpPr/>
        <p:nvPr/>
      </p:nvGrpSpPr>
      <p:grpSpPr/>
      <p:sp>
        <p:nvSpPr>
          <p:cNvPr id="2" name="Rectangle 1"/>
          <p:cNvSpPr/>
          <p:nvPr/>
        </p:nvSpPr>
        <p:spPr>
          <a:xfrm>
            <a:off x="585216" y="484632"/>
            <a:ext cx="64008" cy="429768"/>
          </a:xfrm>
          <a:prstGeom prst="rect">
            <a:avLst/>
          </a:prstGeom>
          <a:solidFill>
            <a:srgbClr val="087E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30352"/>
            <a:ext cx="10058400" cy="256032"/>
          </a:xfrm>
          <a:prstGeom prst="rect">
            <a:avLst/>
          </a:prstGeom>
          <a:noFill/>
        </p:spPr>
        <p:txBody>
          <a:bodyPr wrap="square" lIns="18288" rIns="18288" tIns="9144" bIns="9144">
            <a:spAutoFit/>
          </a:bodyPr>
          <a:lstStyle/>
          <a:p>
            <a:pPr>
              <a:defRPr sz="1100" b="1">
                <a:solidFill>
                  <a:srgbClr val="087E74"/>
                </a:solidFill>
                <a:latin typeface="Aptos"/>
              </a:defRPr>
            </a:pPr>
            <a:r>
              <a:t>INVENTORY / SPRINT 1</a:t>
            </a:r>
          </a:p>
        </p:txBody>
      </p:sp>
      <p:sp>
        <p:nvSpPr>
          <p:cNvPr id="4" name="TextBox 3"/>
          <p:cNvSpPr txBox="1"/>
          <p:nvPr/>
        </p:nvSpPr>
        <p:spPr>
          <a:xfrm>
            <a:off x="822960" y="932688"/>
            <a:ext cx="10789920" cy="804672"/>
          </a:xfrm>
          <a:prstGeom prst="rect">
            <a:avLst/>
          </a:prstGeom>
          <a:noFill/>
        </p:spPr>
        <p:txBody>
          <a:bodyPr wrap="square" lIns="18288" rIns="18288" tIns="9144" bIns="9144">
            <a:spAutoFit/>
          </a:bodyPr>
          <a:lstStyle/>
          <a:p>
            <a:pPr>
              <a:defRPr sz="3100" b="1">
                <a:solidFill>
                  <a:srgbClr val="153036"/>
                </a:solidFill>
                <a:latin typeface="Aptos"/>
              </a:defRPr>
            </a:pPr>
            <a:r>
              <a:t>Sprint 1 · ticket register</a:t>
            </a:r>
          </a:p>
        </p:txBody>
      </p:sp>
      <p:sp>
        <p:nvSpPr>
          <p:cNvPr id="5" name="TextBox 4"/>
          <p:cNvSpPr txBox="1"/>
          <p:nvPr/>
        </p:nvSpPr>
        <p:spPr>
          <a:xfrm>
            <a:off x="822960" y="1819656"/>
            <a:ext cx="10698480" cy="265176"/>
          </a:xfrm>
          <a:prstGeom prst="rect">
            <a:avLst/>
          </a:prstGeom>
          <a:noFill/>
        </p:spPr>
        <p:txBody>
          <a:bodyPr wrap="square" lIns="18288" rIns="18288" tIns="9144" bIns="9144">
            <a:spAutoFit/>
          </a:bodyPr>
          <a:lstStyle/>
          <a:p>
            <a:pPr>
              <a:defRPr sz="1300" b="0">
                <a:solidFill>
                  <a:srgbClr val="556B75"/>
                </a:solidFill>
                <a:latin typeface="Aptos"/>
              </a:defRPr>
            </a:pPr>
            <a:r>
              <a:t>19–24 of 27  /  appendix page 4 of 5</a:t>
            </a:r>
          </a:p>
        </p:txBody>
      </p:sp>
      <p:sp>
        <p:nvSpPr>
          <p:cNvPr id="6" name="Rectangle 5"/>
          <p:cNvSpPr/>
          <p:nvPr/>
        </p:nvSpPr>
        <p:spPr>
          <a:xfrm>
            <a:off x="822960" y="6345936"/>
            <a:ext cx="10561320" cy="13716"/>
          </a:xfrm>
          <a:prstGeom prst="rect">
            <a:avLst/>
          </a:prstGeom>
          <a:solidFill>
            <a:srgbClr val="D8E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428232"/>
            <a:ext cx="10789920" cy="237744"/>
          </a:xfrm>
          <a:prstGeom prst="rect">
            <a:avLst/>
          </a:prstGeom>
          <a:noFill/>
        </p:spPr>
        <p:txBody>
          <a:bodyPr wrap="square" lIns="18288" rIns="18288" tIns="9144" bIns="9144">
            <a:spAutoFit/>
          </a:bodyPr>
          <a:lstStyle/>
          <a:p>
            <a:pPr>
              <a:defRPr sz="900" b="0">
                <a:solidFill>
                  <a:srgbClr val="556B75"/>
                </a:solidFill>
                <a:latin typeface="Aptos"/>
              </a:defRPr>
            </a:pPr>
            <a:r>
              <a:t>ABANG CEBU AI  /  JIRA SNAPSHOT 16 OCT 2026                                          09</a:t>
            </a:r>
          </a:p>
        </p:txBody>
      </p:sp>
      <p:sp>
        <p:nvSpPr>
          <p:cNvPr id="8" name="Rounded Rectangle 7"/>
          <p:cNvSpPr/>
          <p:nvPr/>
        </p:nvSpPr>
        <p:spPr>
          <a:xfrm>
            <a:off x="822960" y="2130552"/>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249424"/>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2"/>
              </a:rPr>
              <a:t>SCRUM-59</a:t>
            </a:r>
          </a:p>
        </p:txBody>
      </p:sp>
      <p:sp>
        <p:nvSpPr>
          <p:cNvPr id="10" name="TextBox 9"/>
          <p:cNvSpPr txBox="1"/>
          <p:nvPr/>
        </p:nvSpPr>
        <p:spPr>
          <a:xfrm>
            <a:off x="2350008" y="2221992"/>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Specify Password Reset &amp; Recovery Workflow</a:t>
            </a:r>
          </a:p>
        </p:txBody>
      </p:sp>
      <p:sp>
        <p:nvSpPr>
          <p:cNvPr id="11" name="TextBox 10"/>
          <p:cNvSpPr txBox="1"/>
          <p:nvPr/>
        </p:nvSpPr>
        <p:spPr>
          <a:xfrm>
            <a:off x="10021824" y="2286000"/>
            <a:ext cx="1124712" cy="228600"/>
          </a:xfrm>
          <a:prstGeom prst="rect">
            <a:avLst/>
          </a:prstGeom>
          <a:noFill/>
        </p:spPr>
        <p:txBody>
          <a:bodyPr wrap="square" lIns="18288" rIns="18288" tIns="9144" bIns="9144">
            <a:spAutoFit/>
          </a:bodyPr>
          <a:lstStyle/>
          <a:p>
            <a:pPr>
              <a:defRPr sz="1000" b="1">
                <a:solidFill>
                  <a:srgbClr val="087E74"/>
                </a:solidFill>
                <a:latin typeface="Aptos"/>
              </a:defRPr>
            </a:pPr>
            <a:r>
              <a:t>DONE</a:t>
            </a:r>
          </a:p>
        </p:txBody>
      </p:sp>
      <p:sp>
        <p:nvSpPr>
          <p:cNvPr id="12" name="Rounded Rectangle 11"/>
          <p:cNvSpPr/>
          <p:nvPr/>
        </p:nvSpPr>
        <p:spPr>
          <a:xfrm>
            <a:off x="822960" y="2788920"/>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8" y="2907791"/>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3"/>
              </a:rPr>
              <a:t>SCRUM-65</a:t>
            </a:r>
          </a:p>
        </p:txBody>
      </p:sp>
      <p:sp>
        <p:nvSpPr>
          <p:cNvPr id="14" name="TextBox 13"/>
          <p:cNvSpPr txBox="1"/>
          <p:nvPr/>
        </p:nvSpPr>
        <p:spPr>
          <a:xfrm>
            <a:off x="2350008" y="2880360"/>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Design Login Page Wireframe / Mockup</a:t>
            </a:r>
          </a:p>
        </p:txBody>
      </p:sp>
      <p:sp>
        <p:nvSpPr>
          <p:cNvPr id="15" name="TextBox 14"/>
          <p:cNvSpPr txBox="1"/>
          <p:nvPr/>
        </p:nvSpPr>
        <p:spPr>
          <a:xfrm>
            <a:off x="10021824" y="2944368"/>
            <a:ext cx="1124712" cy="228600"/>
          </a:xfrm>
          <a:prstGeom prst="rect">
            <a:avLst/>
          </a:prstGeom>
          <a:noFill/>
        </p:spPr>
        <p:txBody>
          <a:bodyPr wrap="square" lIns="18288" rIns="18288" tIns="9144" bIns="9144">
            <a:spAutoFit/>
          </a:bodyPr>
          <a:lstStyle/>
          <a:p>
            <a:pPr>
              <a:defRPr sz="1000" b="1">
                <a:solidFill>
                  <a:srgbClr val="087E74"/>
                </a:solidFill>
                <a:latin typeface="Aptos"/>
              </a:defRPr>
            </a:pPr>
            <a:r>
              <a:t>DONE</a:t>
            </a:r>
          </a:p>
        </p:txBody>
      </p:sp>
      <p:sp>
        <p:nvSpPr>
          <p:cNvPr id="16" name="Rounded Rectangle 15"/>
          <p:cNvSpPr/>
          <p:nvPr/>
        </p:nvSpPr>
        <p:spPr>
          <a:xfrm>
            <a:off x="822960" y="3447288"/>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4128" y="3566160"/>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4"/>
              </a:rPr>
              <a:t>SCRUM-66</a:t>
            </a:r>
          </a:p>
        </p:txBody>
      </p:sp>
      <p:sp>
        <p:nvSpPr>
          <p:cNvPr id="18" name="TextBox 17"/>
          <p:cNvSpPr txBox="1"/>
          <p:nvPr/>
        </p:nvSpPr>
        <p:spPr>
          <a:xfrm>
            <a:off x="2350008" y="3538728"/>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Design Registration Page Wireframe / Mockup</a:t>
            </a:r>
          </a:p>
        </p:txBody>
      </p:sp>
      <p:sp>
        <p:nvSpPr>
          <p:cNvPr id="19" name="TextBox 18"/>
          <p:cNvSpPr txBox="1"/>
          <p:nvPr/>
        </p:nvSpPr>
        <p:spPr>
          <a:xfrm>
            <a:off x="10021824" y="3602736"/>
            <a:ext cx="1124712" cy="228600"/>
          </a:xfrm>
          <a:prstGeom prst="rect">
            <a:avLst/>
          </a:prstGeom>
          <a:noFill/>
        </p:spPr>
        <p:txBody>
          <a:bodyPr wrap="square" lIns="18288" rIns="18288" tIns="9144" bIns="9144">
            <a:spAutoFit/>
          </a:bodyPr>
          <a:lstStyle/>
          <a:p>
            <a:pPr>
              <a:defRPr sz="1000" b="1">
                <a:solidFill>
                  <a:srgbClr val="087E74"/>
                </a:solidFill>
                <a:latin typeface="Aptos"/>
              </a:defRPr>
            </a:pPr>
            <a:r>
              <a:t>DONE</a:t>
            </a:r>
          </a:p>
        </p:txBody>
      </p:sp>
      <p:sp>
        <p:nvSpPr>
          <p:cNvPr id="20" name="Rounded Rectangle 19"/>
          <p:cNvSpPr/>
          <p:nvPr/>
        </p:nvSpPr>
        <p:spPr>
          <a:xfrm>
            <a:off x="822960" y="4105656"/>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24128" y="4224528"/>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5"/>
              </a:rPr>
              <a:t>SCRUM-67</a:t>
            </a:r>
          </a:p>
        </p:txBody>
      </p:sp>
      <p:sp>
        <p:nvSpPr>
          <p:cNvPr id="22" name="TextBox 21"/>
          <p:cNvSpPr txBox="1"/>
          <p:nvPr/>
        </p:nvSpPr>
        <p:spPr>
          <a:xfrm>
            <a:off x="2350008" y="4197096"/>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Design User Dashboard Wireframe / Mockup</a:t>
            </a:r>
          </a:p>
        </p:txBody>
      </p:sp>
      <p:sp>
        <p:nvSpPr>
          <p:cNvPr id="23" name="TextBox 22"/>
          <p:cNvSpPr txBox="1"/>
          <p:nvPr/>
        </p:nvSpPr>
        <p:spPr>
          <a:xfrm>
            <a:off x="10021824" y="4261104"/>
            <a:ext cx="1124712" cy="228600"/>
          </a:xfrm>
          <a:prstGeom prst="rect">
            <a:avLst/>
          </a:prstGeom>
          <a:noFill/>
        </p:spPr>
        <p:txBody>
          <a:bodyPr wrap="square" lIns="18288" rIns="18288" tIns="9144" bIns="9144">
            <a:spAutoFit/>
          </a:bodyPr>
          <a:lstStyle/>
          <a:p>
            <a:pPr>
              <a:defRPr sz="1000" b="1">
                <a:solidFill>
                  <a:srgbClr val="087E74"/>
                </a:solidFill>
                <a:latin typeface="Aptos"/>
              </a:defRPr>
            </a:pPr>
            <a:r>
              <a:t>DONE</a:t>
            </a:r>
          </a:p>
        </p:txBody>
      </p:sp>
      <p:sp>
        <p:nvSpPr>
          <p:cNvPr id="24" name="Rounded Rectangle 23"/>
          <p:cNvSpPr/>
          <p:nvPr/>
        </p:nvSpPr>
        <p:spPr>
          <a:xfrm>
            <a:off x="822960" y="4764024"/>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24128" y="4882896"/>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6"/>
              </a:rPr>
              <a:t>SCRUM-68</a:t>
            </a:r>
          </a:p>
        </p:txBody>
      </p:sp>
      <p:sp>
        <p:nvSpPr>
          <p:cNvPr id="26" name="TextBox 25"/>
          <p:cNvSpPr txBox="1"/>
          <p:nvPr/>
        </p:nvSpPr>
        <p:spPr>
          <a:xfrm>
            <a:off x="2350008" y="4855464"/>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Design Profile Page Wireframe / Mockup</a:t>
            </a:r>
          </a:p>
        </p:txBody>
      </p:sp>
      <p:sp>
        <p:nvSpPr>
          <p:cNvPr id="27" name="TextBox 26"/>
          <p:cNvSpPr txBox="1"/>
          <p:nvPr/>
        </p:nvSpPr>
        <p:spPr>
          <a:xfrm>
            <a:off x="10021824" y="4919472"/>
            <a:ext cx="1124712" cy="228600"/>
          </a:xfrm>
          <a:prstGeom prst="rect">
            <a:avLst/>
          </a:prstGeom>
          <a:noFill/>
        </p:spPr>
        <p:txBody>
          <a:bodyPr wrap="square" lIns="18288" rIns="18288" tIns="9144" bIns="9144">
            <a:spAutoFit/>
          </a:bodyPr>
          <a:lstStyle/>
          <a:p>
            <a:pPr>
              <a:defRPr sz="1000" b="1">
                <a:solidFill>
                  <a:srgbClr val="087E74"/>
                </a:solidFill>
                <a:latin typeface="Aptos"/>
              </a:defRPr>
            </a:pPr>
            <a:r>
              <a:t>DONE</a:t>
            </a:r>
          </a:p>
        </p:txBody>
      </p:sp>
      <p:sp>
        <p:nvSpPr>
          <p:cNvPr id="28" name="Rounded Rectangle 27"/>
          <p:cNvSpPr/>
          <p:nvPr/>
        </p:nvSpPr>
        <p:spPr>
          <a:xfrm>
            <a:off x="822960" y="5422392"/>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4128" y="5541264"/>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7"/>
              </a:rPr>
              <a:t>SCRUM-69</a:t>
            </a:r>
          </a:p>
        </p:txBody>
      </p:sp>
      <p:sp>
        <p:nvSpPr>
          <p:cNvPr id="30" name="TextBox 29"/>
          <p:cNvSpPr txBox="1"/>
          <p:nvPr/>
        </p:nvSpPr>
        <p:spPr>
          <a:xfrm>
            <a:off x="2350008" y="5513831"/>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Draft Authentication Test Plan &amp; Test Scenarios</a:t>
            </a:r>
          </a:p>
        </p:txBody>
      </p:sp>
      <p:sp>
        <p:nvSpPr>
          <p:cNvPr id="31" name="TextBox 30"/>
          <p:cNvSpPr txBox="1"/>
          <p:nvPr/>
        </p:nvSpPr>
        <p:spPr>
          <a:xfrm>
            <a:off x="10021824" y="5577840"/>
            <a:ext cx="1124712" cy="228600"/>
          </a:xfrm>
          <a:prstGeom prst="rect">
            <a:avLst/>
          </a:prstGeom>
          <a:noFill/>
        </p:spPr>
        <p:txBody>
          <a:bodyPr wrap="square" lIns="18288" rIns="18288" tIns="9144" bIns="9144">
            <a:spAutoFit/>
          </a:bodyPr>
          <a:lstStyle/>
          <a:p>
            <a:pPr>
              <a:defRPr sz="1000" b="1">
                <a:solidFill>
                  <a:srgbClr val="087E74"/>
                </a:solidFill>
                <a:latin typeface="Aptos"/>
              </a:defRPr>
            </a:pPr>
            <a:r>
              <a:t>DONE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6"/>
        </a:solidFill>
        <a:effectLst/>
      </p:bgPr>
    </p:bg>
    <p:spTree>
      <p:nvGrpSpPr>
        <p:cNvPr id="1" name=""/>
        <p:cNvGrpSpPr/>
        <p:nvPr/>
      </p:nvGrpSpPr>
      <p:grpSpPr/>
      <p:sp>
        <p:nvSpPr>
          <p:cNvPr id="2" name="Rectangle 1"/>
          <p:cNvSpPr/>
          <p:nvPr/>
        </p:nvSpPr>
        <p:spPr>
          <a:xfrm>
            <a:off x="585216" y="484632"/>
            <a:ext cx="64008" cy="429768"/>
          </a:xfrm>
          <a:prstGeom prst="rect">
            <a:avLst/>
          </a:prstGeom>
          <a:solidFill>
            <a:srgbClr val="087E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30352"/>
            <a:ext cx="10058400" cy="256032"/>
          </a:xfrm>
          <a:prstGeom prst="rect">
            <a:avLst/>
          </a:prstGeom>
          <a:noFill/>
        </p:spPr>
        <p:txBody>
          <a:bodyPr wrap="square" lIns="18288" rIns="18288" tIns="9144" bIns="9144">
            <a:spAutoFit/>
          </a:bodyPr>
          <a:lstStyle/>
          <a:p>
            <a:pPr>
              <a:defRPr sz="1100" b="1">
                <a:solidFill>
                  <a:srgbClr val="087E74"/>
                </a:solidFill>
                <a:latin typeface="Aptos"/>
              </a:defRPr>
            </a:pPr>
            <a:r>
              <a:t>INVENTORY / SPRINT 1</a:t>
            </a:r>
          </a:p>
        </p:txBody>
      </p:sp>
      <p:sp>
        <p:nvSpPr>
          <p:cNvPr id="4" name="TextBox 3"/>
          <p:cNvSpPr txBox="1"/>
          <p:nvPr/>
        </p:nvSpPr>
        <p:spPr>
          <a:xfrm>
            <a:off x="822960" y="932688"/>
            <a:ext cx="10789920" cy="804672"/>
          </a:xfrm>
          <a:prstGeom prst="rect">
            <a:avLst/>
          </a:prstGeom>
          <a:noFill/>
        </p:spPr>
        <p:txBody>
          <a:bodyPr wrap="square" lIns="18288" rIns="18288" tIns="9144" bIns="9144">
            <a:spAutoFit/>
          </a:bodyPr>
          <a:lstStyle/>
          <a:p>
            <a:pPr>
              <a:defRPr sz="3100" b="1">
                <a:solidFill>
                  <a:srgbClr val="153036"/>
                </a:solidFill>
                <a:latin typeface="Aptos"/>
              </a:defRPr>
            </a:pPr>
            <a:r>
              <a:t>Sprint 1 · ticket register</a:t>
            </a:r>
          </a:p>
        </p:txBody>
      </p:sp>
      <p:sp>
        <p:nvSpPr>
          <p:cNvPr id="5" name="TextBox 4"/>
          <p:cNvSpPr txBox="1"/>
          <p:nvPr/>
        </p:nvSpPr>
        <p:spPr>
          <a:xfrm>
            <a:off x="822960" y="1819656"/>
            <a:ext cx="10698480" cy="265176"/>
          </a:xfrm>
          <a:prstGeom prst="rect">
            <a:avLst/>
          </a:prstGeom>
          <a:noFill/>
        </p:spPr>
        <p:txBody>
          <a:bodyPr wrap="square" lIns="18288" rIns="18288" tIns="9144" bIns="9144">
            <a:spAutoFit/>
          </a:bodyPr>
          <a:lstStyle/>
          <a:p>
            <a:pPr>
              <a:defRPr sz="1300" b="0">
                <a:solidFill>
                  <a:srgbClr val="556B75"/>
                </a:solidFill>
                <a:latin typeface="Aptos"/>
              </a:defRPr>
            </a:pPr>
            <a:r>
              <a:t>25–27 of 27  /  appendix page 5 of 5</a:t>
            </a:r>
          </a:p>
        </p:txBody>
      </p:sp>
      <p:sp>
        <p:nvSpPr>
          <p:cNvPr id="6" name="Rectangle 5"/>
          <p:cNvSpPr/>
          <p:nvPr/>
        </p:nvSpPr>
        <p:spPr>
          <a:xfrm>
            <a:off x="822960" y="6345936"/>
            <a:ext cx="10561320" cy="13716"/>
          </a:xfrm>
          <a:prstGeom prst="rect">
            <a:avLst/>
          </a:prstGeom>
          <a:solidFill>
            <a:srgbClr val="D8E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428232"/>
            <a:ext cx="10789920" cy="237744"/>
          </a:xfrm>
          <a:prstGeom prst="rect">
            <a:avLst/>
          </a:prstGeom>
          <a:noFill/>
        </p:spPr>
        <p:txBody>
          <a:bodyPr wrap="square" lIns="18288" rIns="18288" tIns="9144" bIns="9144">
            <a:spAutoFit/>
          </a:bodyPr>
          <a:lstStyle/>
          <a:p>
            <a:pPr>
              <a:defRPr sz="900" b="0">
                <a:solidFill>
                  <a:srgbClr val="556B75"/>
                </a:solidFill>
                <a:latin typeface="Aptos"/>
              </a:defRPr>
            </a:pPr>
            <a:r>
              <a:t>ABANG CEBU AI  /  JIRA SNAPSHOT 16 OCT 2026                                          10</a:t>
            </a:r>
          </a:p>
        </p:txBody>
      </p:sp>
      <p:sp>
        <p:nvSpPr>
          <p:cNvPr id="8" name="Rounded Rectangle 7"/>
          <p:cNvSpPr/>
          <p:nvPr/>
        </p:nvSpPr>
        <p:spPr>
          <a:xfrm>
            <a:off x="822960" y="2130552"/>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249424"/>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2"/>
              </a:rPr>
              <a:t>SCRUM-70</a:t>
            </a:r>
          </a:p>
        </p:txBody>
      </p:sp>
      <p:sp>
        <p:nvSpPr>
          <p:cNvPr id="10" name="TextBox 9"/>
          <p:cNvSpPr txBox="1"/>
          <p:nvPr/>
        </p:nvSpPr>
        <p:spPr>
          <a:xfrm>
            <a:off x="2350008" y="2221992"/>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Draft Role &amp; Access Permission Verification Test Cases</a:t>
            </a:r>
          </a:p>
        </p:txBody>
      </p:sp>
      <p:sp>
        <p:nvSpPr>
          <p:cNvPr id="11" name="TextBox 10"/>
          <p:cNvSpPr txBox="1"/>
          <p:nvPr/>
        </p:nvSpPr>
        <p:spPr>
          <a:xfrm>
            <a:off x="10021824" y="2286000"/>
            <a:ext cx="1124712" cy="228600"/>
          </a:xfrm>
          <a:prstGeom prst="rect">
            <a:avLst/>
          </a:prstGeom>
          <a:noFill/>
        </p:spPr>
        <p:txBody>
          <a:bodyPr wrap="square" lIns="18288" rIns="18288" tIns="9144" bIns="9144">
            <a:spAutoFit/>
          </a:bodyPr>
          <a:lstStyle/>
          <a:p>
            <a:pPr>
              <a:defRPr sz="1000" b="1">
                <a:solidFill>
                  <a:srgbClr val="087E74"/>
                </a:solidFill>
                <a:latin typeface="Aptos"/>
              </a:defRPr>
            </a:pPr>
            <a:r>
              <a:t>DONE</a:t>
            </a:r>
          </a:p>
        </p:txBody>
      </p:sp>
      <p:sp>
        <p:nvSpPr>
          <p:cNvPr id="12" name="Rounded Rectangle 11"/>
          <p:cNvSpPr/>
          <p:nvPr/>
        </p:nvSpPr>
        <p:spPr>
          <a:xfrm>
            <a:off x="822960" y="2788920"/>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8" y="2907791"/>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3"/>
              </a:rPr>
              <a:t>SCRUM-71</a:t>
            </a:r>
          </a:p>
        </p:txBody>
      </p:sp>
      <p:sp>
        <p:nvSpPr>
          <p:cNvPr id="14" name="TextBox 13"/>
          <p:cNvSpPr txBox="1"/>
          <p:nvPr/>
        </p:nvSpPr>
        <p:spPr>
          <a:xfrm>
            <a:off x="2350008" y="2880360"/>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Draft Protected Route &amp; Middleware Test Scenarios</a:t>
            </a:r>
          </a:p>
        </p:txBody>
      </p:sp>
      <p:sp>
        <p:nvSpPr>
          <p:cNvPr id="15" name="TextBox 14"/>
          <p:cNvSpPr txBox="1"/>
          <p:nvPr/>
        </p:nvSpPr>
        <p:spPr>
          <a:xfrm>
            <a:off x="10021824" y="2944368"/>
            <a:ext cx="1124712" cy="228600"/>
          </a:xfrm>
          <a:prstGeom prst="rect">
            <a:avLst/>
          </a:prstGeom>
          <a:noFill/>
        </p:spPr>
        <p:txBody>
          <a:bodyPr wrap="square" lIns="18288" rIns="18288" tIns="9144" bIns="9144">
            <a:spAutoFit/>
          </a:bodyPr>
          <a:lstStyle/>
          <a:p>
            <a:pPr>
              <a:defRPr sz="1000" b="1">
                <a:solidFill>
                  <a:srgbClr val="087E74"/>
                </a:solidFill>
                <a:latin typeface="Aptos"/>
              </a:defRPr>
            </a:pPr>
            <a:r>
              <a:t>DONE</a:t>
            </a:r>
          </a:p>
        </p:txBody>
      </p:sp>
      <p:sp>
        <p:nvSpPr>
          <p:cNvPr id="16" name="Rounded Rectangle 15"/>
          <p:cNvSpPr/>
          <p:nvPr/>
        </p:nvSpPr>
        <p:spPr>
          <a:xfrm>
            <a:off x="822960" y="3447288"/>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4128" y="3566160"/>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4"/>
              </a:rPr>
              <a:t>SCRUM-72</a:t>
            </a:r>
          </a:p>
        </p:txBody>
      </p:sp>
      <p:sp>
        <p:nvSpPr>
          <p:cNvPr id="18" name="TextBox 17"/>
          <p:cNvSpPr txBox="1"/>
          <p:nvPr/>
        </p:nvSpPr>
        <p:spPr>
          <a:xfrm>
            <a:off x="2350008" y="3538728"/>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Plan Authentication Baseline Latency &amp; Load Strategy</a:t>
            </a:r>
          </a:p>
        </p:txBody>
      </p:sp>
      <p:sp>
        <p:nvSpPr>
          <p:cNvPr id="19" name="TextBox 18"/>
          <p:cNvSpPr txBox="1"/>
          <p:nvPr/>
        </p:nvSpPr>
        <p:spPr>
          <a:xfrm>
            <a:off x="10021824" y="3602736"/>
            <a:ext cx="1124712" cy="228600"/>
          </a:xfrm>
          <a:prstGeom prst="rect">
            <a:avLst/>
          </a:prstGeom>
          <a:noFill/>
        </p:spPr>
        <p:txBody>
          <a:bodyPr wrap="square" lIns="18288" rIns="18288" tIns="9144" bIns="9144">
            <a:spAutoFit/>
          </a:bodyPr>
          <a:lstStyle/>
          <a:p>
            <a:pPr>
              <a:defRPr sz="1000" b="1">
                <a:solidFill>
                  <a:srgbClr val="087E74"/>
                </a:solidFill>
                <a:latin typeface="Aptos"/>
              </a:defRPr>
            </a:pPr>
            <a:r>
              <a:t>DONE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02D33"/>
        </a:solidFill>
        <a:effectLst/>
      </p:bgPr>
    </p:bg>
    <p:spTree>
      <p:nvGrpSpPr>
        <p:cNvPr id="1" name=""/>
        <p:cNvGrpSpPr/>
        <p:nvPr/>
      </p:nvGrpSpPr>
      <p:grpSpPr/>
      <p:sp>
        <p:nvSpPr>
          <p:cNvPr id="2" name="Rectangle 1"/>
          <p:cNvSpPr/>
          <p:nvPr/>
        </p:nvSpPr>
        <p:spPr>
          <a:xfrm>
            <a:off x="585216" y="484632"/>
            <a:ext cx="64008" cy="429768"/>
          </a:xfrm>
          <a:prstGeom prst="rect">
            <a:avLst/>
          </a:prstGeom>
          <a:solidFill>
            <a:srgbClr val="43D2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30352"/>
            <a:ext cx="10058400" cy="256032"/>
          </a:xfrm>
          <a:prstGeom prst="rect">
            <a:avLst/>
          </a:prstGeom>
          <a:noFill/>
        </p:spPr>
        <p:txBody>
          <a:bodyPr wrap="square" lIns="18288" rIns="18288" tIns="9144" bIns="9144">
            <a:spAutoFit/>
          </a:bodyPr>
          <a:lstStyle/>
          <a:p>
            <a:pPr>
              <a:defRPr sz="1100" b="1">
                <a:solidFill>
                  <a:srgbClr val="70EBD1"/>
                </a:solidFill>
                <a:latin typeface="Aptos"/>
              </a:defRPr>
            </a:pPr>
            <a:r>
              <a:t>SPRINT 2 / ACTIVE</a:t>
            </a:r>
          </a:p>
        </p:txBody>
      </p:sp>
      <p:sp>
        <p:nvSpPr>
          <p:cNvPr id="4" name="TextBox 3"/>
          <p:cNvSpPr txBox="1"/>
          <p:nvPr/>
        </p:nvSpPr>
        <p:spPr>
          <a:xfrm>
            <a:off x="822960" y="932688"/>
            <a:ext cx="10789920" cy="804672"/>
          </a:xfrm>
          <a:prstGeom prst="rect">
            <a:avLst/>
          </a:prstGeom>
          <a:noFill/>
        </p:spPr>
        <p:txBody>
          <a:bodyPr wrap="square" lIns="18288" rIns="18288" tIns="9144" bIns="9144">
            <a:spAutoFit/>
          </a:bodyPr>
          <a:lstStyle/>
          <a:p>
            <a:pPr>
              <a:defRPr sz="3100" b="1">
                <a:solidFill>
                  <a:srgbClr val="FFFFFF"/>
                </a:solidFill>
                <a:latin typeface="Aptos"/>
              </a:defRPr>
            </a:pPr>
            <a:r>
              <a:t>Flows, specified</a:t>
            </a:r>
          </a:p>
        </p:txBody>
      </p:sp>
      <p:sp>
        <p:nvSpPr>
          <p:cNvPr id="5" name="TextBox 4"/>
          <p:cNvSpPr txBox="1"/>
          <p:nvPr/>
        </p:nvSpPr>
        <p:spPr>
          <a:xfrm>
            <a:off x="822960" y="1819656"/>
            <a:ext cx="10698480" cy="265176"/>
          </a:xfrm>
          <a:prstGeom prst="rect">
            <a:avLst/>
          </a:prstGeom>
          <a:noFill/>
        </p:spPr>
        <p:txBody>
          <a:bodyPr wrap="square" lIns="18288" rIns="18288" tIns="9144" bIns="9144">
            <a:spAutoFit/>
          </a:bodyPr>
          <a:lstStyle/>
          <a:p>
            <a:pPr>
              <a:defRPr sz="1300" b="0">
                <a:solidFill>
                  <a:srgbClr val="BDD7D6"/>
                </a:solidFill>
                <a:latin typeface="Aptos"/>
              </a:defRPr>
            </a:pPr>
            <a:r>
              <a:t>1–15 Oct planned · still active on 16 Oct</a:t>
            </a:r>
          </a:p>
        </p:txBody>
      </p:sp>
      <p:sp>
        <p:nvSpPr>
          <p:cNvPr id="6" name="Rectangle 5"/>
          <p:cNvSpPr/>
          <p:nvPr/>
        </p:nvSpPr>
        <p:spPr>
          <a:xfrm>
            <a:off x="822960" y="6345936"/>
            <a:ext cx="10561320" cy="13716"/>
          </a:xfrm>
          <a:prstGeom prst="rect">
            <a:avLst/>
          </a:prstGeom>
          <a:solidFill>
            <a:srgbClr val="556B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428232"/>
            <a:ext cx="10789920" cy="237744"/>
          </a:xfrm>
          <a:prstGeom prst="rect">
            <a:avLst/>
          </a:prstGeom>
          <a:noFill/>
        </p:spPr>
        <p:txBody>
          <a:bodyPr wrap="square" lIns="18288" rIns="18288" tIns="9144" bIns="9144">
            <a:spAutoFit/>
          </a:bodyPr>
          <a:lstStyle/>
          <a:p>
            <a:pPr>
              <a:defRPr sz="900" b="0">
                <a:solidFill>
                  <a:srgbClr val="BCD8D6"/>
                </a:solidFill>
                <a:latin typeface="Aptos"/>
              </a:defRPr>
            </a:pPr>
            <a:r>
              <a:t>ABANG CEBU AI  /  JIRA SNAPSHOT 16 OCT 2026                                          11</a:t>
            </a:r>
          </a:p>
        </p:txBody>
      </p:sp>
      <p:sp>
        <p:nvSpPr>
          <p:cNvPr id="8" name="TextBox 7"/>
          <p:cNvSpPr txBox="1"/>
          <p:nvPr/>
        </p:nvSpPr>
        <p:spPr>
          <a:xfrm>
            <a:off x="914400" y="2331720"/>
            <a:ext cx="2743200" cy="1051560"/>
          </a:xfrm>
          <a:prstGeom prst="rect">
            <a:avLst/>
          </a:prstGeom>
          <a:noFill/>
        </p:spPr>
        <p:txBody>
          <a:bodyPr wrap="square" lIns="18288" rIns="18288" tIns="9144" bIns="9144">
            <a:spAutoFit/>
          </a:bodyPr>
          <a:lstStyle/>
          <a:p>
            <a:pPr>
              <a:defRPr sz="6200" b="1">
                <a:solidFill>
                  <a:srgbClr val="FFFFFF"/>
                </a:solidFill>
                <a:latin typeface="Aptos"/>
              </a:defRPr>
            </a:pPr>
            <a:r>
              <a:t>20</a:t>
            </a:r>
          </a:p>
        </p:txBody>
      </p:sp>
      <p:sp>
        <p:nvSpPr>
          <p:cNvPr id="9" name="TextBox 8"/>
          <p:cNvSpPr txBox="1"/>
          <p:nvPr/>
        </p:nvSpPr>
        <p:spPr>
          <a:xfrm>
            <a:off x="914400" y="3383280"/>
            <a:ext cx="3657600" cy="365760"/>
          </a:xfrm>
          <a:prstGeom prst="rect">
            <a:avLst/>
          </a:prstGeom>
          <a:noFill/>
        </p:spPr>
        <p:txBody>
          <a:bodyPr wrap="square" lIns="18288" rIns="18288" tIns="9144" bIns="9144">
            <a:spAutoFit/>
          </a:bodyPr>
          <a:lstStyle/>
          <a:p>
            <a:pPr>
              <a:defRPr sz="2000" b="0">
                <a:solidFill>
                  <a:srgbClr val="BAD6D3"/>
                </a:solidFill>
                <a:latin typeface="Aptos"/>
              </a:defRPr>
            </a:pPr>
            <a:r>
              <a:t>tickets in sprint</a:t>
            </a:r>
          </a:p>
        </p:txBody>
      </p:sp>
      <p:sp>
        <p:nvSpPr>
          <p:cNvPr id="10" name="TextBox 9"/>
          <p:cNvSpPr txBox="1"/>
          <p:nvPr/>
        </p:nvSpPr>
        <p:spPr>
          <a:xfrm>
            <a:off x="4800600" y="2304288"/>
            <a:ext cx="1828800" cy="822960"/>
          </a:xfrm>
          <a:prstGeom prst="rect">
            <a:avLst/>
          </a:prstGeom>
          <a:noFill/>
        </p:spPr>
        <p:txBody>
          <a:bodyPr wrap="square" lIns="18288" rIns="18288" tIns="9144" bIns="9144">
            <a:spAutoFit/>
          </a:bodyPr>
          <a:lstStyle/>
          <a:p>
            <a:pPr>
              <a:defRPr sz="5000" b="1">
                <a:solidFill>
                  <a:srgbClr val="51D4B3"/>
                </a:solidFill>
                <a:latin typeface="Aptos"/>
              </a:defRPr>
            </a:pPr>
            <a:r>
              <a:t>17</a:t>
            </a:r>
          </a:p>
        </p:txBody>
      </p:sp>
      <p:sp>
        <p:nvSpPr>
          <p:cNvPr id="11" name="TextBox 10"/>
          <p:cNvSpPr txBox="1"/>
          <p:nvPr/>
        </p:nvSpPr>
        <p:spPr>
          <a:xfrm>
            <a:off x="4800600" y="3145536"/>
            <a:ext cx="2468880" cy="548640"/>
          </a:xfrm>
          <a:prstGeom prst="rect">
            <a:avLst/>
          </a:prstGeom>
          <a:noFill/>
        </p:spPr>
        <p:txBody>
          <a:bodyPr wrap="square" lIns="18288" rIns="18288" tIns="9144" bIns="9144">
            <a:spAutoFit/>
          </a:bodyPr>
          <a:lstStyle/>
          <a:p>
            <a:pPr>
              <a:defRPr sz="1700" b="1">
                <a:solidFill>
                  <a:srgbClr val="FFFFFF"/>
                </a:solidFill>
                <a:latin typeface="Aptos"/>
              </a:defRPr>
            </a:pPr>
            <a:r>
              <a:t>Done</a:t>
            </a:r>
          </a:p>
        </p:txBody>
      </p:sp>
      <p:sp>
        <p:nvSpPr>
          <p:cNvPr id="12" name="TextBox 11"/>
          <p:cNvSpPr txBox="1"/>
          <p:nvPr/>
        </p:nvSpPr>
        <p:spPr>
          <a:xfrm>
            <a:off x="7223760" y="2304288"/>
            <a:ext cx="1828800" cy="822960"/>
          </a:xfrm>
          <a:prstGeom prst="rect">
            <a:avLst/>
          </a:prstGeom>
          <a:noFill/>
        </p:spPr>
        <p:txBody>
          <a:bodyPr wrap="square" lIns="18288" rIns="18288" tIns="9144" bIns="9144">
            <a:spAutoFit/>
          </a:bodyPr>
          <a:lstStyle/>
          <a:p>
            <a:pPr>
              <a:defRPr sz="5000" b="1">
                <a:solidFill>
                  <a:srgbClr val="B26B13"/>
                </a:solidFill>
                <a:latin typeface="Aptos"/>
              </a:defRPr>
            </a:pPr>
            <a:r>
              <a:t>3</a:t>
            </a:r>
          </a:p>
        </p:txBody>
      </p:sp>
      <p:sp>
        <p:nvSpPr>
          <p:cNvPr id="13" name="TextBox 12"/>
          <p:cNvSpPr txBox="1"/>
          <p:nvPr/>
        </p:nvSpPr>
        <p:spPr>
          <a:xfrm>
            <a:off x="7223760" y="3145536"/>
            <a:ext cx="2468880" cy="548640"/>
          </a:xfrm>
          <a:prstGeom prst="rect">
            <a:avLst/>
          </a:prstGeom>
          <a:noFill/>
        </p:spPr>
        <p:txBody>
          <a:bodyPr wrap="square" lIns="18288" rIns="18288" tIns="9144" bIns="9144">
            <a:spAutoFit/>
          </a:bodyPr>
          <a:lstStyle/>
          <a:p>
            <a:pPr>
              <a:defRPr sz="1700" b="1">
                <a:solidFill>
                  <a:srgbClr val="FFFFFF"/>
                </a:solidFill>
                <a:latin typeface="Aptos"/>
              </a:defRPr>
            </a:pPr>
            <a:r>
              <a:t>In Development</a:t>
            </a:r>
          </a:p>
        </p:txBody>
      </p:sp>
      <p:sp>
        <p:nvSpPr>
          <p:cNvPr id="14" name="TextBox 13"/>
          <p:cNvSpPr txBox="1"/>
          <p:nvPr/>
        </p:nvSpPr>
        <p:spPr>
          <a:xfrm>
            <a:off x="914400" y="5020056"/>
            <a:ext cx="9144000" cy="457200"/>
          </a:xfrm>
          <a:prstGeom prst="rect">
            <a:avLst/>
          </a:prstGeom>
          <a:noFill/>
        </p:spPr>
        <p:txBody>
          <a:bodyPr wrap="square" lIns="18288" rIns="18288" tIns="9144" bIns="9144">
            <a:spAutoFit/>
          </a:bodyPr>
          <a:lstStyle/>
          <a:p>
            <a:pPr>
              <a:defRPr sz="1700" b="0">
                <a:solidFill>
                  <a:srgbClr val="BAD6D3"/>
                </a:solidFill>
                <a:latin typeface="Aptos"/>
              </a:defRPr>
            </a:pPr>
            <a:r>
              <a:t>Jira status ≠ independent acceptance or implementation audit.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6"/>
        </a:solidFill>
        <a:effectLst/>
      </p:bgPr>
    </p:bg>
    <p:spTree>
      <p:nvGrpSpPr>
        <p:cNvPr id="1" name=""/>
        <p:cNvGrpSpPr/>
        <p:nvPr/>
      </p:nvGrpSpPr>
      <p:grpSpPr/>
      <p:sp>
        <p:nvSpPr>
          <p:cNvPr id="2" name="Rectangle 1"/>
          <p:cNvSpPr/>
          <p:nvPr/>
        </p:nvSpPr>
        <p:spPr>
          <a:xfrm>
            <a:off x="585216" y="484632"/>
            <a:ext cx="64008" cy="429768"/>
          </a:xfrm>
          <a:prstGeom prst="rect">
            <a:avLst/>
          </a:prstGeom>
          <a:solidFill>
            <a:srgbClr val="087E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30352"/>
            <a:ext cx="10058400" cy="256032"/>
          </a:xfrm>
          <a:prstGeom prst="rect">
            <a:avLst/>
          </a:prstGeom>
          <a:noFill/>
        </p:spPr>
        <p:txBody>
          <a:bodyPr wrap="square" lIns="18288" rIns="18288" tIns="9144" bIns="9144">
            <a:spAutoFit/>
          </a:bodyPr>
          <a:lstStyle/>
          <a:p>
            <a:pPr>
              <a:defRPr sz="1100" b="1">
                <a:solidFill>
                  <a:srgbClr val="087E74"/>
                </a:solidFill>
                <a:latin typeface="Aptos"/>
              </a:defRPr>
            </a:pPr>
            <a:r>
              <a:t>SPRINT 2 / OUTCOME</a:t>
            </a:r>
          </a:p>
        </p:txBody>
      </p:sp>
      <p:sp>
        <p:nvSpPr>
          <p:cNvPr id="4" name="TextBox 3"/>
          <p:cNvSpPr txBox="1"/>
          <p:nvPr/>
        </p:nvSpPr>
        <p:spPr>
          <a:xfrm>
            <a:off x="822960" y="932688"/>
            <a:ext cx="10789920" cy="804672"/>
          </a:xfrm>
          <a:prstGeom prst="rect">
            <a:avLst/>
          </a:prstGeom>
          <a:noFill/>
        </p:spPr>
        <p:txBody>
          <a:bodyPr wrap="square" lIns="18288" rIns="18288" tIns="9144" bIns="9144">
            <a:spAutoFit/>
          </a:bodyPr>
          <a:lstStyle/>
          <a:p>
            <a:pPr>
              <a:defRPr sz="3100" b="1">
                <a:solidFill>
                  <a:srgbClr val="153036"/>
                </a:solidFill>
                <a:latin typeface="Aptos"/>
              </a:defRPr>
            </a:pPr>
            <a:r>
              <a:t>Authentication and discovery mapped</a:t>
            </a:r>
          </a:p>
        </p:txBody>
      </p:sp>
      <p:sp>
        <p:nvSpPr>
          <p:cNvPr id="5" name="TextBox 4"/>
          <p:cNvSpPr txBox="1"/>
          <p:nvPr/>
        </p:nvSpPr>
        <p:spPr>
          <a:xfrm>
            <a:off x="822960" y="1819656"/>
            <a:ext cx="10698480" cy="265176"/>
          </a:xfrm>
          <a:prstGeom prst="rect">
            <a:avLst/>
          </a:prstGeom>
          <a:noFill/>
        </p:spPr>
        <p:txBody>
          <a:bodyPr wrap="square" lIns="18288" rIns="18288" tIns="9144" bIns="9144">
            <a:spAutoFit/>
          </a:bodyPr>
          <a:lstStyle/>
          <a:p>
            <a:pPr>
              <a:defRPr sz="1300" b="0">
                <a:solidFill>
                  <a:srgbClr val="556B75"/>
                </a:solidFill>
                <a:latin typeface="Aptos"/>
              </a:defRPr>
            </a:pPr>
            <a:r>
              <a:t>17 Done; 3 In Development. The sprint still reads Active in Jira.</a:t>
            </a:r>
          </a:p>
        </p:txBody>
      </p:sp>
      <p:sp>
        <p:nvSpPr>
          <p:cNvPr id="6" name="Rectangle 5"/>
          <p:cNvSpPr/>
          <p:nvPr/>
        </p:nvSpPr>
        <p:spPr>
          <a:xfrm>
            <a:off x="822960" y="6345936"/>
            <a:ext cx="10561320" cy="13716"/>
          </a:xfrm>
          <a:prstGeom prst="rect">
            <a:avLst/>
          </a:prstGeom>
          <a:solidFill>
            <a:srgbClr val="D8E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428232"/>
            <a:ext cx="10789920" cy="237744"/>
          </a:xfrm>
          <a:prstGeom prst="rect">
            <a:avLst/>
          </a:prstGeom>
          <a:noFill/>
        </p:spPr>
        <p:txBody>
          <a:bodyPr wrap="square" lIns="18288" rIns="18288" tIns="9144" bIns="9144">
            <a:spAutoFit/>
          </a:bodyPr>
          <a:lstStyle/>
          <a:p>
            <a:pPr>
              <a:defRPr sz="900" b="0">
                <a:solidFill>
                  <a:srgbClr val="556B75"/>
                </a:solidFill>
                <a:latin typeface="Aptos"/>
              </a:defRPr>
            </a:pPr>
            <a:r>
              <a:t>ABANG CEBU AI  /  JIRA SNAPSHOT 16 OCT 2026                                          12</a:t>
            </a:r>
          </a:p>
        </p:txBody>
      </p:sp>
      <p:sp>
        <p:nvSpPr>
          <p:cNvPr id="8" name="Rounded Rectangle 7"/>
          <p:cNvSpPr/>
          <p:nvPr/>
        </p:nvSpPr>
        <p:spPr>
          <a:xfrm>
            <a:off x="822960" y="2331720"/>
            <a:ext cx="10515600" cy="101498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459736"/>
            <a:ext cx="2971800" cy="310896"/>
          </a:xfrm>
          <a:prstGeom prst="rect">
            <a:avLst/>
          </a:prstGeom>
          <a:noFill/>
        </p:spPr>
        <p:txBody>
          <a:bodyPr wrap="square" lIns="18288" rIns="18288" tIns="9144" bIns="9144">
            <a:spAutoFit/>
          </a:bodyPr>
          <a:lstStyle/>
          <a:p>
            <a:pPr>
              <a:defRPr sz="1800" b="1">
                <a:solidFill>
                  <a:srgbClr val="087E74"/>
                </a:solidFill>
                <a:latin typeface="Aptos"/>
              </a:defRPr>
            </a:pPr>
            <a:r>
              <a:t>Authentication</a:t>
            </a:r>
          </a:p>
        </p:txBody>
      </p:sp>
      <p:sp>
        <p:nvSpPr>
          <p:cNvPr id="10" name="TextBox 9"/>
          <p:cNvSpPr txBox="1"/>
          <p:nvPr/>
        </p:nvSpPr>
        <p:spPr>
          <a:xfrm>
            <a:off x="3886200" y="2450591"/>
            <a:ext cx="7114032" cy="685800"/>
          </a:xfrm>
          <a:prstGeom prst="rect">
            <a:avLst/>
          </a:prstGeom>
          <a:noFill/>
        </p:spPr>
        <p:txBody>
          <a:bodyPr wrap="square" lIns="18288" rIns="18288" tIns="9144" bIns="9144">
            <a:spAutoFit/>
          </a:bodyPr>
          <a:lstStyle/>
          <a:p>
            <a:pPr>
              <a:defRPr sz="1700" b="0">
                <a:solidFill>
                  <a:srgbClr val="153036"/>
                </a:solidFill>
                <a:latin typeface="Aptos"/>
              </a:defRPr>
            </a:pPr>
            <a:r>
              <a:t>Registration, login, reset, sign-out and failure flows; test matrices.</a:t>
            </a:r>
          </a:p>
        </p:txBody>
      </p:sp>
      <p:sp>
        <p:nvSpPr>
          <p:cNvPr id="11" name="Rounded Rectangle 10"/>
          <p:cNvSpPr/>
          <p:nvPr/>
        </p:nvSpPr>
        <p:spPr>
          <a:xfrm>
            <a:off x="822960" y="3529584"/>
            <a:ext cx="10515600" cy="101498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3657600"/>
            <a:ext cx="2971800" cy="310896"/>
          </a:xfrm>
          <a:prstGeom prst="rect">
            <a:avLst/>
          </a:prstGeom>
          <a:noFill/>
        </p:spPr>
        <p:txBody>
          <a:bodyPr wrap="square" lIns="18288" rIns="18288" tIns="9144" bIns="9144">
            <a:spAutoFit/>
          </a:bodyPr>
          <a:lstStyle/>
          <a:p>
            <a:pPr>
              <a:defRPr sz="1800" b="1">
                <a:solidFill>
                  <a:srgbClr val="087E74"/>
                </a:solidFill>
                <a:latin typeface="Aptos"/>
              </a:defRPr>
            </a:pPr>
            <a:r>
              <a:t>Spatial discovery</a:t>
            </a:r>
          </a:p>
        </p:txBody>
      </p:sp>
      <p:sp>
        <p:nvSpPr>
          <p:cNvPr id="13" name="TextBox 12"/>
          <p:cNvSpPr txBox="1"/>
          <p:nvPr/>
        </p:nvSpPr>
        <p:spPr>
          <a:xfrm>
            <a:off x="3886200" y="3648456"/>
            <a:ext cx="7114032" cy="685800"/>
          </a:xfrm>
          <a:prstGeom prst="rect">
            <a:avLst/>
          </a:prstGeom>
          <a:noFill/>
        </p:spPr>
        <p:txBody>
          <a:bodyPr wrap="square" lIns="18288" rIns="18288" tIns="9144" bIns="9144">
            <a:spAutoFit/>
          </a:bodyPr>
          <a:lstStyle/>
          <a:p>
            <a:pPr>
              <a:defRPr sz="1700" b="0">
                <a:solidFill>
                  <a:srgbClr val="153036"/>
                </a:solidFill>
                <a:latin typeface="Aptos"/>
              </a:defRPr>
            </a:pPr>
            <a:r>
              <a:t>Map initialization, search, filters and pin/drawer interaction flowcharts.</a:t>
            </a:r>
          </a:p>
        </p:txBody>
      </p:sp>
      <p:sp>
        <p:nvSpPr>
          <p:cNvPr id="14" name="Rounded Rectangle 13"/>
          <p:cNvSpPr/>
          <p:nvPr/>
        </p:nvSpPr>
        <p:spPr>
          <a:xfrm>
            <a:off x="822960" y="4727448"/>
            <a:ext cx="10515600" cy="101498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4855464"/>
            <a:ext cx="2971800" cy="310896"/>
          </a:xfrm>
          <a:prstGeom prst="rect">
            <a:avLst/>
          </a:prstGeom>
          <a:noFill/>
        </p:spPr>
        <p:txBody>
          <a:bodyPr wrap="square" lIns="18288" rIns="18288" tIns="9144" bIns="9144">
            <a:spAutoFit/>
          </a:bodyPr>
          <a:lstStyle/>
          <a:p>
            <a:pPr>
              <a:defRPr sz="1800" b="1">
                <a:solidFill>
                  <a:srgbClr val="087E74"/>
                </a:solidFill>
                <a:latin typeface="Aptos"/>
              </a:defRPr>
            </a:pPr>
            <a:r>
              <a:t>Carry-over</a:t>
            </a:r>
          </a:p>
        </p:txBody>
      </p:sp>
      <p:sp>
        <p:nvSpPr>
          <p:cNvPr id="16" name="TextBox 15"/>
          <p:cNvSpPr txBox="1"/>
          <p:nvPr/>
        </p:nvSpPr>
        <p:spPr>
          <a:xfrm>
            <a:off x="3886200" y="4846320"/>
            <a:ext cx="7114032" cy="685800"/>
          </a:xfrm>
          <a:prstGeom prst="rect">
            <a:avLst/>
          </a:prstGeom>
          <a:noFill/>
        </p:spPr>
        <p:txBody>
          <a:bodyPr wrap="square" lIns="18288" rIns="18288" tIns="9144" bIns="9144">
            <a:spAutoFit/>
          </a:bodyPr>
          <a:lstStyle/>
          <a:p>
            <a:pPr>
              <a:defRPr sz="1700" b="0">
                <a:solidFill>
                  <a:srgbClr val="153036"/>
                </a:solidFill>
                <a:latin typeface="Aptos"/>
              </a:defRPr>
            </a:pPr>
            <a:r>
              <a:t>SCRUM-125, SCRUM-126 and SCRUM-127 remain In Development.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8F6"/>
        </a:solidFill>
        <a:effectLst/>
      </p:bgPr>
    </p:bg>
    <p:spTree>
      <p:nvGrpSpPr>
        <p:cNvPr id="1" name=""/>
        <p:cNvGrpSpPr/>
        <p:nvPr/>
      </p:nvGrpSpPr>
      <p:grpSpPr/>
      <p:sp>
        <p:nvSpPr>
          <p:cNvPr id="2" name="Rectangle 1"/>
          <p:cNvSpPr/>
          <p:nvPr/>
        </p:nvSpPr>
        <p:spPr>
          <a:xfrm>
            <a:off x="585216" y="484632"/>
            <a:ext cx="64008" cy="429768"/>
          </a:xfrm>
          <a:prstGeom prst="rect">
            <a:avLst/>
          </a:prstGeom>
          <a:solidFill>
            <a:srgbClr val="087E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30352"/>
            <a:ext cx="10058400" cy="256032"/>
          </a:xfrm>
          <a:prstGeom prst="rect">
            <a:avLst/>
          </a:prstGeom>
          <a:noFill/>
        </p:spPr>
        <p:txBody>
          <a:bodyPr wrap="square" lIns="18288" rIns="18288" tIns="9144" bIns="9144">
            <a:spAutoFit/>
          </a:bodyPr>
          <a:lstStyle/>
          <a:p>
            <a:pPr>
              <a:defRPr sz="1100" b="1">
                <a:solidFill>
                  <a:srgbClr val="087E74"/>
                </a:solidFill>
                <a:latin typeface="Aptos"/>
              </a:defRPr>
            </a:pPr>
            <a:r>
              <a:t>SPRINT 2 / ARTIFACT SPOTLIGHT</a:t>
            </a:r>
          </a:p>
        </p:txBody>
      </p:sp>
      <p:sp>
        <p:nvSpPr>
          <p:cNvPr id="4" name="TextBox 3"/>
          <p:cNvSpPr txBox="1"/>
          <p:nvPr/>
        </p:nvSpPr>
        <p:spPr>
          <a:xfrm>
            <a:off x="822960" y="932688"/>
            <a:ext cx="10789920" cy="804672"/>
          </a:xfrm>
          <a:prstGeom prst="rect">
            <a:avLst/>
          </a:prstGeom>
          <a:noFill/>
        </p:spPr>
        <p:txBody>
          <a:bodyPr wrap="square" lIns="18288" rIns="18288" tIns="9144" bIns="9144">
            <a:spAutoFit/>
          </a:bodyPr>
          <a:lstStyle/>
          <a:p>
            <a:pPr>
              <a:defRPr sz="2200" b="1">
                <a:solidFill>
                  <a:srgbClr val="153036"/>
                </a:solidFill>
                <a:latin typeface="Aptos"/>
              </a:defRPr>
            </a:pPr>
            <a:r>
              <a:t>SCRUM-104 · Sign Up Module &amp; Flowchart: Registration &amp; PKCE Verification</a:t>
            </a:r>
          </a:p>
        </p:txBody>
      </p:sp>
      <p:sp>
        <p:nvSpPr>
          <p:cNvPr id="5" name="TextBox 4"/>
          <p:cNvSpPr txBox="1"/>
          <p:nvPr/>
        </p:nvSpPr>
        <p:spPr>
          <a:xfrm>
            <a:off x="822960" y="1819656"/>
            <a:ext cx="10698480" cy="265176"/>
          </a:xfrm>
          <a:prstGeom prst="rect">
            <a:avLst/>
          </a:prstGeom>
          <a:noFill/>
        </p:spPr>
        <p:txBody>
          <a:bodyPr wrap="square" lIns="18288" rIns="18288" tIns="9144" bIns="9144">
            <a:spAutoFit/>
          </a:bodyPr>
          <a:lstStyle/>
          <a:p>
            <a:pPr>
              <a:defRPr sz="1300" b="0">
                <a:solidFill>
                  <a:srgbClr val="556B75"/>
                </a:solidFill>
                <a:latin typeface="Aptos"/>
              </a:defRPr>
            </a:pPr>
            <a:r>
              <a:t>Ticket contents and artifact provenance</a:t>
            </a:r>
          </a:p>
        </p:txBody>
      </p:sp>
      <p:sp>
        <p:nvSpPr>
          <p:cNvPr id="6" name="Rectangle 5"/>
          <p:cNvSpPr/>
          <p:nvPr/>
        </p:nvSpPr>
        <p:spPr>
          <a:xfrm>
            <a:off x="822960" y="6345936"/>
            <a:ext cx="10561320" cy="13716"/>
          </a:xfrm>
          <a:prstGeom prst="rect">
            <a:avLst/>
          </a:prstGeom>
          <a:solidFill>
            <a:srgbClr val="D8E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428232"/>
            <a:ext cx="10789920" cy="237744"/>
          </a:xfrm>
          <a:prstGeom prst="rect">
            <a:avLst/>
          </a:prstGeom>
          <a:noFill/>
        </p:spPr>
        <p:txBody>
          <a:bodyPr wrap="square" lIns="18288" rIns="18288" tIns="9144" bIns="9144">
            <a:spAutoFit/>
          </a:bodyPr>
          <a:lstStyle/>
          <a:p>
            <a:pPr>
              <a:defRPr sz="900" b="0">
                <a:solidFill>
                  <a:srgbClr val="556B75"/>
                </a:solidFill>
                <a:latin typeface="Aptos"/>
              </a:defRPr>
            </a:pPr>
            <a:r>
              <a:t>ABANG CEBU AI  /  JIRA SNAPSHOT 16 OCT 2026                                          13</a:t>
            </a:r>
          </a:p>
        </p:txBody>
      </p:sp>
      <p:sp>
        <p:nvSpPr>
          <p:cNvPr id="8" name="Rounded Rectangle 7"/>
          <p:cNvSpPr/>
          <p:nvPr/>
        </p:nvSpPr>
        <p:spPr>
          <a:xfrm>
            <a:off x="822960" y="2157984"/>
            <a:ext cx="6400800" cy="3904487"/>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auth-registration-pkce.png"/>
          <p:cNvPicPr>
            <a:picLocks noChangeAspect="1"/>
          </p:cNvPicPr>
          <p:nvPr/>
        </p:nvPicPr>
        <p:blipFill>
          <a:blip r:embed="rId2"/>
          <a:stretch>
            <a:fillRect/>
          </a:stretch>
        </p:blipFill>
        <p:spPr>
          <a:xfrm>
            <a:off x="3029456" y="2267712"/>
            <a:ext cx="1987806" cy="3172968"/>
          </a:xfrm>
          <a:prstGeom prst="rect">
            <a:avLst/>
          </a:prstGeom>
        </p:spPr>
      </p:pic>
      <p:sp>
        <p:nvSpPr>
          <p:cNvPr id="10" name="TextBox 9"/>
          <p:cNvSpPr txBox="1"/>
          <p:nvPr/>
        </p:nvSpPr>
        <p:spPr>
          <a:xfrm>
            <a:off x="1005840" y="5532120"/>
            <a:ext cx="6080760" cy="438912"/>
          </a:xfrm>
          <a:prstGeom prst="rect">
            <a:avLst/>
          </a:prstGeom>
          <a:noFill/>
        </p:spPr>
        <p:txBody>
          <a:bodyPr wrap="square" lIns="18288" rIns="18288" tIns="9144" bIns="9144">
            <a:spAutoFit/>
          </a:bodyPr>
          <a:lstStyle/>
          <a:p>
            <a:pPr>
              <a:defRPr sz="1200" b="0">
                <a:solidFill>
                  <a:srgbClr val="556B75"/>
                </a:solidFill>
                <a:latin typeface="Aptos"/>
              </a:defRPr>
            </a:pPr>
            <a:r>
              <a:t>Registration + PKCE verification flow · diagram excerpt</a:t>
            </a:r>
          </a:p>
        </p:txBody>
      </p:sp>
      <p:sp>
        <p:nvSpPr>
          <p:cNvPr id="11" name="Rounded Rectangle 10"/>
          <p:cNvSpPr/>
          <p:nvPr/>
        </p:nvSpPr>
        <p:spPr>
          <a:xfrm>
            <a:off x="7479792" y="2157984"/>
            <a:ext cx="3877056" cy="3904487"/>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763256" y="2414016"/>
            <a:ext cx="1371600" cy="356616"/>
          </a:xfrm>
          <a:prstGeom prst="roundRect">
            <a:avLst/>
          </a:prstGeom>
          <a:solidFill>
            <a:srgbClr val="087E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72983" y="2478024"/>
            <a:ext cx="1207008" cy="182880"/>
          </a:xfrm>
          <a:prstGeom prst="rect">
            <a:avLst/>
          </a:prstGeom>
          <a:noFill/>
        </p:spPr>
        <p:txBody>
          <a:bodyPr wrap="square" lIns="18288" rIns="18288" tIns="9144" bIns="9144">
            <a:spAutoFit/>
          </a:bodyPr>
          <a:lstStyle/>
          <a:p>
            <a:pPr>
              <a:defRPr sz="1000" b="1">
                <a:solidFill>
                  <a:srgbClr val="FFFFFF"/>
                </a:solidFill>
                <a:latin typeface="Aptos"/>
              </a:defRPr>
            </a:pPr>
            <a:r>
              <a:t>DONE</a:t>
            </a:r>
          </a:p>
        </p:txBody>
      </p:sp>
      <p:sp>
        <p:nvSpPr>
          <p:cNvPr id="14" name="TextBox 13"/>
          <p:cNvSpPr txBox="1"/>
          <p:nvPr/>
        </p:nvSpPr>
        <p:spPr>
          <a:xfrm>
            <a:off x="7763256" y="2990088"/>
            <a:ext cx="3264408" cy="621792"/>
          </a:xfrm>
          <a:prstGeom prst="rect">
            <a:avLst/>
          </a:prstGeom>
          <a:noFill/>
        </p:spPr>
        <p:txBody>
          <a:bodyPr wrap="square" lIns="18288" rIns="18288" tIns="9144" bIns="9144">
            <a:spAutoFit/>
          </a:bodyPr>
          <a:lstStyle/>
          <a:p>
            <a:pPr>
              <a:defRPr sz="1700" b="0">
                <a:solidFill>
                  <a:srgbClr val="153036"/>
                </a:solidFill>
                <a:latin typeface="Aptos"/>
              </a:defRPr>
            </a:pPr>
            <a:r>
              <a:t>• Defines registration, validation and duplicate checks</a:t>
            </a:r>
          </a:p>
        </p:txBody>
      </p:sp>
      <p:sp>
        <p:nvSpPr>
          <p:cNvPr id="15" name="TextBox 14"/>
          <p:cNvSpPr txBox="1"/>
          <p:nvPr/>
        </p:nvSpPr>
        <p:spPr>
          <a:xfrm>
            <a:off x="7763256" y="3785615"/>
            <a:ext cx="3264408" cy="621792"/>
          </a:xfrm>
          <a:prstGeom prst="rect">
            <a:avLst/>
          </a:prstGeom>
          <a:noFill/>
        </p:spPr>
        <p:txBody>
          <a:bodyPr wrap="square" lIns="18288" rIns="18288" tIns="9144" bIns="9144">
            <a:spAutoFit/>
          </a:bodyPr>
          <a:lstStyle/>
          <a:p>
            <a:pPr>
              <a:defRPr sz="1700" b="0">
                <a:solidFill>
                  <a:srgbClr val="153036"/>
                </a:solidFill>
                <a:latin typeface="Aptos"/>
              </a:defRPr>
            </a:pPr>
            <a:r>
              <a:t>• Models email verification and PKCE callback</a:t>
            </a:r>
          </a:p>
        </p:txBody>
      </p:sp>
      <p:sp>
        <p:nvSpPr>
          <p:cNvPr id="16" name="TextBox 15"/>
          <p:cNvSpPr txBox="1"/>
          <p:nvPr/>
        </p:nvSpPr>
        <p:spPr>
          <a:xfrm>
            <a:off x="7763256" y="4800600"/>
            <a:ext cx="3291840" cy="621792"/>
          </a:xfrm>
          <a:prstGeom prst="rect">
            <a:avLst/>
          </a:prstGeom>
          <a:noFill/>
        </p:spPr>
        <p:txBody>
          <a:bodyPr wrap="square" lIns="18288" rIns="18288" tIns="9144" bIns="9144">
            <a:spAutoFit/>
          </a:bodyPr>
          <a:lstStyle/>
          <a:p>
            <a:pPr>
              <a:defRPr sz="1100" b="0">
                <a:solidFill>
                  <a:srgbClr val="556B75"/>
                </a:solidFill>
                <a:latin typeface="Aptos"/>
              </a:defRPr>
            </a:pPr>
            <a:r>
              <a:t>Local PNG; Jira lists matching editable .drawio attachment</a:t>
            </a:r>
          </a:p>
        </p:txBody>
      </p:sp>
      <p:sp>
        <p:nvSpPr>
          <p:cNvPr id="17" name="TextBox 16"/>
          <p:cNvSpPr txBox="1"/>
          <p:nvPr/>
        </p:nvSpPr>
        <p:spPr>
          <a:xfrm>
            <a:off x="7763256" y="5605272"/>
            <a:ext cx="3291840" cy="256032"/>
          </a:xfrm>
          <a:prstGeom prst="rect">
            <a:avLst/>
          </a:prstGeom>
          <a:noFill/>
        </p:spPr>
        <p:txBody>
          <a:bodyPr wrap="square" lIns="18288" rIns="18288" tIns="9144" bIns="9144">
            <a:spAutoFit/>
          </a:bodyPr>
          <a:lstStyle/>
          <a:p>
            <a:pPr>
              <a:defRPr sz="1200" b="1">
                <a:solidFill>
                  <a:srgbClr val="087E74"/>
                </a:solidFill>
                <a:latin typeface="Aptos"/>
              </a:defRPr>
            </a:pPr>
            <a:r>
              <a:rPr>
                <a:hlinkClick r:id="rId3"/>
              </a:rPr>
              <a:t>OPEN JIRA ISSUE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6"/>
        </a:solidFill>
        <a:effectLst/>
      </p:bgPr>
    </p:bg>
    <p:spTree>
      <p:nvGrpSpPr>
        <p:cNvPr id="1" name=""/>
        <p:cNvGrpSpPr/>
        <p:nvPr/>
      </p:nvGrpSpPr>
      <p:grpSpPr/>
      <p:sp>
        <p:nvSpPr>
          <p:cNvPr id="2" name="Rectangle 1"/>
          <p:cNvSpPr/>
          <p:nvPr/>
        </p:nvSpPr>
        <p:spPr>
          <a:xfrm>
            <a:off x="585216" y="484632"/>
            <a:ext cx="64008" cy="429768"/>
          </a:xfrm>
          <a:prstGeom prst="rect">
            <a:avLst/>
          </a:prstGeom>
          <a:solidFill>
            <a:srgbClr val="087E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30352"/>
            <a:ext cx="10058400" cy="256032"/>
          </a:xfrm>
          <a:prstGeom prst="rect">
            <a:avLst/>
          </a:prstGeom>
          <a:noFill/>
        </p:spPr>
        <p:txBody>
          <a:bodyPr wrap="square" lIns="18288" rIns="18288" tIns="9144" bIns="9144">
            <a:spAutoFit/>
          </a:bodyPr>
          <a:lstStyle/>
          <a:p>
            <a:pPr>
              <a:defRPr sz="1100" b="1">
                <a:solidFill>
                  <a:srgbClr val="087E74"/>
                </a:solidFill>
                <a:latin typeface="Aptos"/>
              </a:defRPr>
            </a:pPr>
            <a:r>
              <a:t>SPRINT 2 / ARTIFACT SPOTLIGHT</a:t>
            </a:r>
          </a:p>
        </p:txBody>
      </p:sp>
      <p:sp>
        <p:nvSpPr>
          <p:cNvPr id="4" name="TextBox 3"/>
          <p:cNvSpPr txBox="1"/>
          <p:nvPr/>
        </p:nvSpPr>
        <p:spPr>
          <a:xfrm>
            <a:off x="822960" y="932688"/>
            <a:ext cx="10789920" cy="804672"/>
          </a:xfrm>
          <a:prstGeom prst="rect">
            <a:avLst/>
          </a:prstGeom>
          <a:noFill/>
        </p:spPr>
        <p:txBody>
          <a:bodyPr wrap="square" lIns="18288" rIns="18288" tIns="9144" bIns="9144">
            <a:spAutoFit/>
          </a:bodyPr>
          <a:lstStyle/>
          <a:p>
            <a:pPr>
              <a:defRPr sz="2200" b="1">
                <a:solidFill>
                  <a:srgbClr val="153036"/>
                </a:solidFill>
                <a:latin typeface="Aptos"/>
              </a:defRPr>
            </a:pPr>
            <a:r>
              <a:t>SCRUM-116 · Landing Page Master Orchestration &amp; Spatial Discovery Flowchart</a:t>
            </a:r>
          </a:p>
        </p:txBody>
      </p:sp>
      <p:sp>
        <p:nvSpPr>
          <p:cNvPr id="5" name="TextBox 4"/>
          <p:cNvSpPr txBox="1"/>
          <p:nvPr/>
        </p:nvSpPr>
        <p:spPr>
          <a:xfrm>
            <a:off x="822960" y="1819656"/>
            <a:ext cx="10698480" cy="265176"/>
          </a:xfrm>
          <a:prstGeom prst="rect">
            <a:avLst/>
          </a:prstGeom>
          <a:noFill/>
        </p:spPr>
        <p:txBody>
          <a:bodyPr wrap="square" lIns="18288" rIns="18288" tIns="9144" bIns="9144">
            <a:spAutoFit/>
          </a:bodyPr>
          <a:lstStyle/>
          <a:p>
            <a:pPr>
              <a:defRPr sz="1300" b="0">
                <a:solidFill>
                  <a:srgbClr val="556B75"/>
                </a:solidFill>
                <a:latin typeface="Aptos"/>
              </a:defRPr>
            </a:pPr>
            <a:r>
              <a:t>Ticket contents and artifact provenance</a:t>
            </a:r>
          </a:p>
        </p:txBody>
      </p:sp>
      <p:sp>
        <p:nvSpPr>
          <p:cNvPr id="6" name="Rectangle 5"/>
          <p:cNvSpPr/>
          <p:nvPr/>
        </p:nvSpPr>
        <p:spPr>
          <a:xfrm>
            <a:off x="822960" y="6345936"/>
            <a:ext cx="10561320" cy="13716"/>
          </a:xfrm>
          <a:prstGeom prst="rect">
            <a:avLst/>
          </a:prstGeom>
          <a:solidFill>
            <a:srgbClr val="D8E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428232"/>
            <a:ext cx="10789920" cy="237744"/>
          </a:xfrm>
          <a:prstGeom prst="rect">
            <a:avLst/>
          </a:prstGeom>
          <a:noFill/>
        </p:spPr>
        <p:txBody>
          <a:bodyPr wrap="square" lIns="18288" rIns="18288" tIns="9144" bIns="9144">
            <a:spAutoFit/>
          </a:bodyPr>
          <a:lstStyle/>
          <a:p>
            <a:pPr>
              <a:defRPr sz="900" b="0">
                <a:solidFill>
                  <a:srgbClr val="556B75"/>
                </a:solidFill>
                <a:latin typeface="Aptos"/>
              </a:defRPr>
            </a:pPr>
            <a:r>
              <a:t>ABANG CEBU AI  /  JIRA SNAPSHOT 16 OCT 2026                                          14</a:t>
            </a:r>
          </a:p>
        </p:txBody>
      </p:sp>
      <p:sp>
        <p:nvSpPr>
          <p:cNvPr id="8" name="Rounded Rectangle 7"/>
          <p:cNvSpPr/>
          <p:nvPr/>
        </p:nvSpPr>
        <p:spPr>
          <a:xfrm>
            <a:off x="822960" y="2157984"/>
            <a:ext cx="6400800" cy="3904487"/>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map-master-orchestration.png"/>
          <p:cNvPicPr>
            <a:picLocks noChangeAspect="1"/>
          </p:cNvPicPr>
          <p:nvPr/>
        </p:nvPicPr>
        <p:blipFill>
          <a:blip r:embed="rId2"/>
          <a:stretch>
            <a:fillRect/>
          </a:stretch>
        </p:blipFill>
        <p:spPr>
          <a:xfrm>
            <a:off x="2908602" y="2267712"/>
            <a:ext cx="2229514" cy="3172968"/>
          </a:xfrm>
          <a:prstGeom prst="rect">
            <a:avLst/>
          </a:prstGeom>
        </p:spPr>
      </p:pic>
      <p:sp>
        <p:nvSpPr>
          <p:cNvPr id="10" name="TextBox 9"/>
          <p:cNvSpPr txBox="1"/>
          <p:nvPr/>
        </p:nvSpPr>
        <p:spPr>
          <a:xfrm>
            <a:off x="1005840" y="5532120"/>
            <a:ext cx="6080760" cy="438912"/>
          </a:xfrm>
          <a:prstGeom prst="rect">
            <a:avLst/>
          </a:prstGeom>
          <a:noFill/>
        </p:spPr>
        <p:txBody>
          <a:bodyPr wrap="square" lIns="18288" rIns="18288" tIns="9144" bIns="9144">
            <a:spAutoFit/>
          </a:bodyPr>
          <a:lstStyle/>
          <a:p>
            <a:pPr>
              <a:defRPr sz="1200" b="0">
                <a:solidFill>
                  <a:srgbClr val="556B75"/>
                </a:solidFill>
                <a:latin typeface="Aptos"/>
              </a:defRPr>
            </a:pPr>
            <a:r>
              <a:t>Map-first spatial discovery · diagram excerpt</a:t>
            </a:r>
          </a:p>
        </p:txBody>
      </p:sp>
      <p:sp>
        <p:nvSpPr>
          <p:cNvPr id="11" name="Rounded Rectangle 10"/>
          <p:cNvSpPr/>
          <p:nvPr/>
        </p:nvSpPr>
        <p:spPr>
          <a:xfrm>
            <a:off x="7479792" y="2157984"/>
            <a:ext cx="3877056" cy="3904487"/>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763256" y="2414016"/>
            <a:ext cx="1371600" cy="356616"/>
          </a:xfrm>
          <a:prstGeom prst="roundRect">
            <a:avLst/>
          </a:prstGeom>
          <a:solidFill>
            <a:srgbClr val="087E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72983" y="2478024"/>
            <a:ext cx="1207008" cy="182880"/>
          </a:xfrm>
          <a:prstGeom prst="rect">
            <a:avLst/>
          </a:prstGeom>
          <a:noFill/>
        </p:spPr>
        <p:txBody>
          <a:bodyPr wrap="square" lIns="18288" rIns="18288" tIns="9144" bIns="9144">
            <a:spAutoFit/>
          </a:bodyPr>
          <a:lstStyle/>
          <a:p>
            <a:pPr>
              <a:defRPr sz="1000" b="1">
                <a:solidFill>
                  <a:srgbClr val="FFFFFF"/>
                </a:solidFill>
                <a:latin typeface="Aptos"/>
              </a:defRPr>
            </a:pPr>
            <a:r>
              <a:t>DONE</a:t>
            </a:r>
          </a:p>
        </p:txBody>
      </p:sp>
      <p:sp>
        <p:nvSpPr>
          <p:cNvPr id="14" name="TextBox 13"/>
          <p:cNvSpPr txBox="1"/>
          <p:nvPr/>
        </p:nvSpPr>
        <p:spPr>
          <a:xfrm>
            <a:off x="7763256" y="2990088"/>
            <a:ext cx="3264408" cy="621792"/>
          </a:xfrm>
          <a:prstGeom prst="rect">
            <a:avLst/>
          </a:prstGeom>
          <a:noFill/>
        </p:spPr>
        <p:txBody>
          <a:bodyPr wrap="square" lIns="18288" rIns="18288" tIns="9144" bIns="9144">
            <a:spAutoFit/>
          </a:bodyPr>
          <a:lstStyle/>
          <a:p>
            <a:pPr>
              <a:defRPr sz="1700" b="0">
                <a:solidFill>
                  <a:srgbClr val="153036"/>
                </a:solidFill>
                <a:latin typeface="Aptos"/>
              </a:defRPr>
            </a:pPr>
            <a:r>
              <a:t>• Map initialization and location choice</a:t>
            </a:r>
          </a:p>
        </p:txBody>
      </p:sp>
      <p:sp>
        <p:nvSpPr>
          <p:cNvPr id="15" name="TextBox 14"/>
          <p:cNvSpPr txBox="1"/>
          <p:nvPr/>
        </p:nvSpPr>
        <p:spPr>
          <a:xfrm>
            <a:off x="7763256" y="3785615"/>
            <a:ext cx="3264408" cy="621792"/>
          </a:xfrm>
          <a:prstGeom prst="rect">
            <a:avLst/>
          </a:prstGeom>
          <a:noFill/>
        </p:spPr>
        <p:txBody>
          <a:bodyPr wrap="square" lIns="18288" rIns="18288" tIns="9144" bIns="9144">
            <a:spAutoFit/>
          </a:bodyPr>
          <a:lstStyle/>
          <a:p>
            <a:pPr>
              <a:defRPr sz="1700" b="0">
                <a:solidFill>
                  <a:srgbClr val="153036"/>
                </a:solidFill>
                <a:latin typeface="Aptos"/>
              </a:defRPr>
            </a:pPr>
            <a:r>
              <a:t>• Spatial query to price pins and results surfaces</a:t>
            </a:r>
          </a:p>
        </p:txBody>
      </p:sp>
      <p:sp>
        <p:nvSpPr>
          <p:cNvPr id="16" name="TextBox 15"/>
          <p:cNvSpPr txBox="1"/>
          <p:nvPr/>
        </p:nvSpPr>
        <p:spPr>
          <a:xfrm>
            <a:off x="7763256" y="4800600"/>
            <a:ext cx="3291840" cy="621792"/>
          </a:xfrm>
          <a:prstGeom prst="rect">
            <a:avLst/>
          </a:prstGeom>
          <a:noFill/>
        </p:spPr>
        <p:txBody>
          <a:bodyPr wrap="square" lIns="18288" rIns="18288" tIns="9144" bIns="9144">
            <a:spAutoFit/>
          </a:bodyPr>
          <a:lstStyle/>
          <a:p>
            <a:pPr>
              <a:defRPr sz="1100" b="0">
                <a:solidFill>
                  <a:srgbClr val="556B75"/>
                </a:solidFill>
                <a:latin typeface="Aptos"/>
              </a:defRPr>
            </a:pPr>
            <a:r>
              <a:t>Local flowchart; attachment linkage not independently checked</a:t>
            </a:r>
          </a:p>
        </p:txBody>
      </p:sp>
      <p:sp>
        <p:nvSpPr>
          <p:cNvPr id="17" name="TextBox 16"/>
          <p:cNvSpPr txBox="1"/>
          <p:nvPr/>
        </p:nvSpPr>
        <p:spPr>
          <a:xfrm>
            <a:off x="7763256" y="5605272"/>
            <a:ext cx="3291840" cy="256032"/>
          </a:xfrm>
          <a:prstGeom prst="rect">
            <a:avLst/>
          </a:prstGeom>
          <a:noFill/>
        </p:spPr>
        <p:txBody>
          <a:bodyPr wrap="square" lIns="18288" rIns="18288" tIns="9144" bIns="9144">
            <a:spAutoFit/>
          </a:bodyPr>
          <a:lstStyle/>
          <a:p>
            <a:pPr>
              <a:defRPr sz="1200" b="1">
                <a:solidFill>
                  <a:srgbClr val="087E74"/>
                </a:solidFill>
                <a:latin typeface="Aptos"/>
              </a:defRPr>
            </a:pPr>
            <a:r>
              <a:rPr>
                <a:hlinkClick r:id="rId3"/>
              </a:rPr>
              <a:t>OPEN JIRA ISSUE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8F6"/>
        </a:solidFill>
        <a:effectLst/>
      </p:bgPr>
    </p:bg>
    <p:spTree>
      <p:nvGrpSpPr>
        <p:cNvPr id="1" name=""/>
        <p:cNvGrpSpPr/>
        <p:nvPr/>
      </p:nvGrpSpPr>
      <p:grpSpPr/>
      <p:sp>
        <p:nvSpPr>
          <p:cNvPr id="2" name="Rectangle 1"/>
          <p:cNvSpPr/>
          <p:nvPr/>
        </p:nvSpPr>
        <p:spPr>
          <a:xfrm>
            <a:off x="585216" y="484632"/>
            <a:ext cx="64008" cy="429768"/>
          </a:xfrm>
          <a:prstGeom prst="rect">
            <a:avLst/>
          </a:prstGeom>
          <a:solidFill>
            <a:srgbClr val="087E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30352"/>
            <a:ext cx="10058400" cy="256032"/>
          </a:xfrm>
          <a:prstGeom prst="rect">
            <a:avLst/>
          </a:prstGeom>
          <a:noFill/>
        </p:spPr>
        <p:txBody>
          <a:bodyPr wrap="square" lIns="18288" rIns="18288" tIns="9144" bIns="9144">
            <a:spAutoFit/>
          </a:bodyPr>
          <a:lstStyle/>
          <a:p>
            <a:pPr>
              <a:defRPr sz="1100" b="1">
                <a:solidFill>
                  <a:srgbClr val="087E74"/>
                </a:solidFill>
                <a:latin typeface="Aptos"/>
              </a:defRPr>
            </a:pPr>
            <a:r>
              <a:t>SPRINT 2 / ARTIFACT SPOTLIGHT</a:t>
            </a:r>
          </a:p>
        </p:txBody>
      </p:sp>
      <p:sp>
        <p:nvSpPr>
          <p:cNvPr id="4" name="TextBox 3"/>
          <p:cNvSpPr txBox="1"/>
          <p:nvPr/>
        </p:nvSpPr>
        <p:spPr>
          <a:xfrm>
            <a:off x="822960" y="932688"/>
            <a:ext cx="10789920" cy="804672"/>
          </a:xfrm>
          <a:prstGeom prst="rect">
            <a:avLst/>
          </a:prstGeom>
          <a:noFill/>
        </p:spPr>
        <p:txBody>
          <a:bodyPr wrap="square" lIns="18288" rIns="18288" tIns="9144" bIns="9144">
            <a:spAutoFit/>
          </a:bodyPr>
          <a:lstStyle/>
          <a:p>
            <a:pPr>
              <a:defRPr sz="2200" b="1">
                <a:solidFill>
                  <a:srgbClr val="153036"/>
                </a:solidFill>
                <a:latin typeface="Aptos"/>
              </a:defRPr>
            </a:pPr>
            <a:r>
              <a:t>SCRUM-118 · Sub-Process 2.2: Spatial Search, Landmark Auto-Suggest &amp; PostGIS Query Flowchart</a:t>
            </a:r>
          </a:p>
        </p:txBody>
      </p:sp>
      <p:sp>
        <p:nvSpPr>
          <p:cNvPr id="5" name="TextBox 4"/>
          <p:cNvSpPr txBox="1"/>
          <p:nvPr/>
        </p:nvSpPr>
        <p:spPr>
          <a:xfrm>
            <a:off x="822960" y="1819656"/>
            <a:ext cx="10698480" cy="265176"/>
          </a:xfrm>
          <a:prstGeom prst="rect">
            <a:avLst/>
          </a:prstGeom>
          <a:noFill/>
        </p:spPr>
        <p:txBody>
          <a:bodyPr wrap="square" lIns="18288" rIns="18288" tIns="9144" bIns="9144">
            <a:spAutoFit/>
          </a:bodyPr>
          <a:lstStyle/>
          <a:p>
            <a:pPr>
              <a:defRPr sz="1300" b="0">
                <a:solidFill>
                  <a:srgbClr val="556B75"/>
                </a:solidFill>
                <a:latin typeface="Aptos"/>
              </a:defRPr>
            </a:pPr>
            <a:r>
              <a:t>Ticket contents and artifact provenance</a:t>
            </a:r>
          </a:p>
        </p:txBody>
      </p:sp>
      <p:sp>
        <p:nvSpPr>
          <p:cNvPr id="6" name="Rectangle 5"/>
          <p:cNvSpPr/>
          <p:nvPr/>
        </p:nvSpPr>
        <p:spPr>
          <a:xfrm>
            <a:off x="822960" y="6345936"/>
            <a:ext cx="10561320" cy="13716"/>
          </a:xfrm>
          <a:prstGeom prst="rect">
            <a:avLst/>
          </a:prstGeom>
          <a:solidFill>
            <a:srgbClr val="D8E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428232"/>
            <a:ext cx="10789920" cy="237744"/>
          </a:xfrm>
          <a:prstGeom prst="rect">
            <a:avLst/>
          </a:prstGeom>
          <a:noFill/>
        </p:spPr>
        <p:txBody>
          <a:bodyPr wrap="square" lIns="18288" rIns="18288" tIns="9144" bIns="9144">
            <a:spAutoFit/>
          </a:bodyPr>
          <a:lstStyle/>
          <a:p>
            <a:pPr>
              <a:defRPr sz="900" b="0">
                <a:solidFill>
                  <a:srgbClr val="556B75"/>
                </a:solidFill>
                <a:latin typeface="Aptos"/>
              </a:defRPr>
            </a:pPr>
            <a:r>
              <a:t>ABANG CEBU AI  /  JIRA SNAPSHOT 16 OCT 2026                                          15</a:t>
            </a:r>
          </a:p>
        </p:txBody>
      </p:sp>
      <p:sp>
        <p:nvSpPr>
          <p:cNvPr id="8" name="Rounded Rectangle 7"/>
          <p:cNvSpPr/>
          <p:nvPr/>
        </p:nvSpPr>
        <p:spPr>
          <a:xfrm>
            <a:off x="822960" y="2157984"/>
            <a:ext cx="6400800" cy="3904487"/>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map-search-spatial-query.png"/>
          <p:cNvPicPr>
            <a:picLocks noChangeAspect="1"/>
          </p:cNvPicPr>
          <p:nvPr/>
        </p:nvPicPr>
        <p:blipFill>
          <a:blip r:embed="rId2"/>
          <a:stretch>
            <a:fillRect/>
          </a:stretch>
        </p:blipFill>
        <p:spPr>
          <a:xfrm>
            <a:off x="2874327" y="2267712"/>
            <a:ext cx="2298064" cy="3172968"/>
          </a:xfrm>
          <a:prstGeom prst="rect">
            <a:avLst/>
          </a:prstGeom>
        </p:spPr>
      </p:pic>
      <p:sp>
        <p:nvSpPr>
          <p:cNvPr id="10" name="TextBox 9"/>
          <p:cNvSpPr txBox="1"/>
          <p:nvPr/>
        </p:nvSpPr>
        <p:spPr>
          <a:xfrm>
            <a:off x="1005840" y="5532120"/>
            <a:ext cx="6080760" cy="438912"/>
          </a:xfrm>
          <a:prstGeom prst="rect">
            <a:avLst/>
          </a:prstGeom>
          <a:noFill/>
        </p:spPr>
        <p:txBody>
          <a:bodyPr wrap="square" lIns="18288" rIns="18288" tIns="9144" bIns="9144">
            <a:spAutoFit/>
          </a:bodyPr>
          <a:lstStyle/>
          <a:p>
            <a:pPr>
              <a:defRPr sz="1200" b="0">
                <a:solidFill>
                  <a:srgbClr val="556B75"/>
                </a:solidFill>
                <a:latin typeface="Aptos"/>
              </a:defRPr>
            </a:pPr>
            <a:r>
              <a:t>Spatial search query · diagram excerpt</a:t>
            </a:r>
          </a:p>
        </p:txBody>
      </p:sp>
      <p:sp>
        <p:nvSpPr>
          <p:cNvPr id="11" name="Rounded Rectangle 10"/>
          <p:cNvSpPr/>
          <p:nvPr/>
        </p:nvSpPr>
        <p:spPr>
          <a:xfrm>
            <a:off x="7479792" y="2157984"/>
            <a:ext cx="3877056" cy="3904487"/>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763256" y="2414016"/>
            <a:ext cx="1371600" cy="356616"/>
          </a:xfrm>
          <a:prstGeom prst="roundRect">
            <a:avLst/>
          </a:prstGeom>
          <a:solidFill>
            <a:srgbClr val="087E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72983" y="2478024"/>
            <a:ext cx="1207008" cy="182880"/>
          </a:xfrm>
          <a:prstGeom prst="rect">
            <a:avLst/>
          </a:prstGeom>
          <a:noFill/>
        </p:spPr>
        <p:txBody>
          <a:bodyPr wrap="square" lIns="18288" rIns="18288" tIns="9144" bIns="9144">
            <a:spAutoFit/>
          </a:bodyPr>
          <a:lstStyle/>
          <a:p>
            <a:pPr>
              <a:defRPr sz="1000" b="1">
                <a:solidFill>
                  <a:srgbClr val="FFFFFF"/>
                </a:solidFill>
                <a:latin typeface="Aptos"/>
              </a:defRPr>
            </a:pPr>
            <a:r>
              <a:t>DONE</a:t>
            </a:r>
          </a:p>
        </p:txBody>
      </p:sp>
      <p:sp>
        <p:nvSpPr>
          <p:cNvPr id="14" name="TextBox 13"/>
          <p:cNvSpPr txBox="1"/>
          <p:nvPr/>
        </p:nvSpPr>
        <p:spPr>
          <a:xfrm>
            <a:off x="7763256" y="2990088"/>
            <a:ext cx="3264408" cy="621792"/>
          </a:xfrm>
          <a:prstGeom prst="rect">
            <a:avLst/>
          </a:prstGeom>
          <a:noFill/>
        </p:spPr>
        <p:txBody>
          <a:bodyPr wrap="square" lIns="18288" rIns="18288" tIns="9144" bIns="9144">
            <a:spAutoFit/>
          </a:bodyPr>
          <a:lstStyle/>
          <a:p>
            <a:pPr>
              <a:defRPr sz="1700" b="0">
                <a:solidFill>
                  <a:srgbClr val="153036"/>
                </a:solidFill>
                <a:latin typeface="Aptos"/>
              </a:defRPr>
            </a:pPr>
            <a:r>
              <a:t>• Landmark auto-suggest and viewport query</a:t>
            </a:r>
          </a:p>
        </p:txBody>
      </p:sp>
      <p:sp>
        <p:nvSpPr>
          <p:cNvPr id="15" name="TextBox 14"/>
          <p:cNvSpPr txBox="1"/>
          <p:nvPr/>
        </p:nvSpPr>
        <p:spPr>
          <a:xfrm>
            <a:off x="7763256" y="3785615"/>
            <a:ext cx="3264408" cy="621792"/>
          </a:xfrm>
          <a:prstGeom prst="rect">
            <a:avLst/>
          </a:prstGeom>
          <a:noFill/>
        </p:spPr>
        <p:txBody>
          <a:bodyPr wrap="square" lIns="18288" rIns="18288" tIns="9144" bIns="9144">
            <a:spAutoFit/>
          </a:bodyPr>
          <a:lstStyle/>
          <a:p>
            <a:pPr>
              <a:defRPr sz="1700" b="0">
                <a:solidFill>
                  <a:srgbClr val="153036"/>
                </a:solidFill>
                <a:latin typeface="Aptos"/>
              </a:defRPr>
            </a:pPr>
            <a:r>
              <a:t>• PostGIS search specification, not implementation</a:t>
            </a:r>
          </a:p>
        </p:txBody>
      </p:sp>
      <p:sp>
        <p:nvSpPr>
          <p:cNvPr id="16" name="TextBox 15"/>
          <p:cNvSpPr txBox="1"/>
          <p:nvPr/>
        </p:nvSpPr>
        <p:spPr>
          <a:xfrm>
            <a:off x="7763256" y="4800600"/>
            <a:ext cx="3291840" cy="621792"/>
          </a:xfrm>
          <a:prstGeom prst="rect">
            <a:avLst/>
          </a:prstGeom>
          <a:noFill/>
        </p:spPr>
        <p:txBody>
          <a:bodyPr wrap="square" lIns="18288" rIns="18288" tIns="9144" bIns="9144">
            <a:spAutoFit/>
          </a:bodyPr>
          <a:lstStyle/>
          <a:p>
            <a:pPr>
              <a:defRPr sz="1100" b="0">
                <a:solidFill>
                  <a:srgbClr val="556B75"/>
                </a:solidFill>
                <a:latin typeface="Aptos"/>
              </a:defRPr>
            </a:pPr>
            <a:r>
              <a:t>Local PNG; Jira lists matching editable .drawio attachment</a:t>
            </a:r>
          </a:p>
        </p:txBody>
      </p:sp>
      <p:sp>
        <p:nvSpPr>
          <p:cNvPr id="17" name="TextBox 16"/>
          <p:cNvSpPr txBox="1"/>
          <p:nvPr/>
        </p:nvSpPr>
        <p:spPr>
          <a:xfrm>
            <a:off x="7763256" y="5605272"/>
            <a:ext cx="3291840" cy="256032"/>
          </a:xfrm>
          <a:prstGeom prst="rect">
            <a:avLst/>
          </a:prstGeom>
          <a:noFill/>
        </p:spPr>
        <p:txBody>
          <a:bodyPr wrap="square" lIns="18288" rIns="18288" tIns="9144" bIns="9144">
            <a:spAutoFit/>
          </a:bodyPr>
          <a:lstStyle/>
          <a:p>
            <a:pPr>
              <a:defRPr sz="1200" b="1">
                <a:solidFill>
                  <a:srgbClr val="087E74"/>
                </a:solidFill>
                <a:latin typeface="Aptos"/>
              </a:defRPr>
            </a:pPr>
            <a:r>
              <a:rPr>
                <a:hlinkClick r:id="rId3"/>
              </a:rPr>
              <a:t>OPEN JIRA ISSUE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8F6"/>
        </a:solidFill>
        <a:effectLst/>
      </p:bgPr>
    </p:bg>
    <p:spTree>
      <p:nvGrpSpPr>
        <p:cNvPr id="1" name=""/>
        <p:cNvGrpSpPr/>
        <p:nvPr/>
      </p:nvGrpSpPr>
      <p:grpSpPr/>
      <p:sp>
        <p:nvSpPr>
          <p:cNvPr id="2" name="Rectangle 1"/>
          <p:cNvSpPr/>
          <p:nvPr/>
        </p:nvSpPr>
        <p:spPr>
          <a:xfrm>
            <a:off x="585216" y="484632"/>
            <a:ext cx="64008" cy="429768"/>
          </a:xfrm>
          <a:prstGeom prst="rect">
            <a:avLst/>
          </a:prstGeom>
          <a:solidFill>
            <a:srgbClr val="087E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30352"/>
            <a:ext cx="10058400" cy="256032"/>
          </a:xfrm>
          <a:prstGeom prst="rect">
            <a:avLst/>
          </a:prstGeom>
          <a:noFill/>
        </p:spPr>
        <p:txBody>
          <a:bodyPr wrap="square" lIns="18288" rIns="18288" tIns="9144" bIns="9144">
            <a:spAutoFit/>
          </a:bodyPr>
          <a:lstStyle/>
          <a:p>
            <a:pPr>
              <a:defRPr sz="1100" b="1">
                <a:solidFill>
                  <a:srgbClr val="087E74"/>
                </a:solidFill>
                <a:latin typeface="Aptos"/>
              </a:defRPr>
            </a:pPr>
            <a:r>
              <a:t>SPRINT 2 / ARTIFACT SPOTLIGHT</a:t>
            </a:r>
          </a:p>
        </p:txBody>
      </p:sp>
      <p:sp>
        <p:nvSpPr>
          <p:cNvPr id="4" name="TextBox 3"/>
          <p:cNvSpPr txBox="1"/>
          <p:nvPr/>
        </p:nvSpPr>
        <p:spPr>
          <a:xfrm>
            <a:off x="822960" y="932688"/>
            <a:ext cx="10789920" cy="804672"/>
          </a:xfrm>
          <a:prstGeom prst="rect">
            <a:avLst/>
          </a:prstGeom>
          <a:noFill/>
        </p:spPr>
        <p:txBody>
          <a:bodyPr wrap="square" lIns="18288" rIns="18288" tIns="9144" bIns="9144">
            <a:spAutoFit/>
          </a:bodyPr>
          <a:lstStyle/>
          <a:p>
            <a:pPr>
              <a:defRPr sz="2200" b="1">
                <a:solidFill>
                  <a:srgbClr val="153036"/>
                </a:solidFill>
                <a:latin typeface="Aptos"/>
              </a:defRPr>
            </a:pPr>
            <a:r>
              <a:t>SCRUM-125 · Module 3: Landlord Onboarding &amp; Listing Management Flowcharts</a:t>
            </a:r>
          </a:p>
        </p:txBody>
      </p:sp>
      <p:sp>
        <p:nvSpPr>
          <p:cNvPr id="5" name="TextBox 4"/>
          <p:cNvSpPr txBox="1"/>
          <p:nvPr/>
        </p:nvSpPr>
        <p:spPr>
          <a:xfrm>
            <a:off x="822960" y="1819656"/>
            <a:ext cx="10698480" cy="265176"/>
          </a:xfrm>
          <a:prstGeom prst="rect">
            <a:avLst/>
          </a:prstGeom>
          <a:noFill/>
        </p:spPr>
        <p:txBody>
          <a:bodyPr wrap="square" lIns="18288" rIns="18288" tIns="9144" bIns="9144">
            <a:spAutoFit/>
          </a:bodyPr>
          <a:lstStyle/>
          <a:p>
            <a:pPr>
              <a:defRPr sz="1300" b="0">
                <a:solidFill>
                  <a:srgbClr val="556B75"/>
                </a:solidFill>
                <a:latin typeface="Aptos"/>
              </a:defRPr>
            </a:pPr>
            <a:r>
              <a:t>Ticket contents and artifact provenance</a:t>
            </a:r>
          </a:p>
        </p:txBody>
      </p:sp>
      <p:sp>
        <p:nvSpPr>
          <p:cNvPr id="6" name="Rectangle 5"/>
          <p:cNvSpPr/>
          <p:nvPr/>
        </p:nvSpPr>
        <p:spPr>
          <a:xfrm>
            <a:off x="822960" y="6345936"/>
            <a:ext cx="10561320" cy="13716"/>
          </a:xfrm>
          <a:prstGeom prst="rect">
            <a:avLst/>
          </a:prstGeom>
          <a:solidFill>
            <a:srgbClr val="D8E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428232"/>
            <a:ext cx="10789920" cy="237744"/>
          </a:xfrm>
          <a:prstGeom prst="rect">
            <a:avLst/>
          </a:prstGeom>
          <a:noFill/>
        </p:spPr>
        <p:txBody>
          <a:bodyPr wrap="square" lIns="18288" rIns="18288" tIns="9144" bIns="9144">
            <a:spAutoFit/>
          </a:bodyPr>
          <a:lstStyle/>
          <a:p>
            <a:pPr>
              <a:defRPr sz="900" b="0">
                <a:solidFill>
                  <a:srgbClr val="556B75"/>
                </a:solidFill>
                <a:latin typeface="Aptos"/>
              </a:defRPr>
            </a:pPr>
            <a:r>
              <a:t>ABANG CEBU AI  /  JIRA SNAPSHOT 16 OCT 2026                                          16</a:t>
            </a:r>
          </a:p>
        </p:txBody>
      </p:sp>
      <p:sp>
        <p:nvSpPr>
          <p:cNvPr id="8" name="Rounded Rectangle 7"/>
          <p:cNvSpPr/>
          <p:nvPr/>
        </p:nvSpPr>
        <p:spPr>
          <a:xfrm>
            <a:off x="822960" y="2157984"/>
            <a:ext cx="6400800" cy="3904487"/>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landlord-listing-draft-submit.png"/>
          <p:cNvPicPr>
            <a:picLocks noChangeAspect="1"/>
          </p:cNvPicPr>
          <p:nvPr/>
        </p:nvPicPr>
        <p:blipFill>
          <a:blip r:embed="rId2"/>
          <a:stretch>
            <a:fillRect/>
          </a:stretch>
        </p:blipFill>
        <p:spPr>
          <a:xfrm>
            <a:off x="2484578" y="2267711"/>
            <a:ext cx="3077563" cy="3172968"/>
          </a:xfrm>
          <a:prstGeom prst="rect">
            <a:avLst/>
          </a:prstGeom>
        </p:spPr>
      </p:pic>
      <p:sp>
        <p:nvSpPr>
          <p:cNvPr id="10" name="TextBox 9"/>
          <p:cNvSpPr txBox="1"/>
          <p:nvPr/>
        </p:nvSpPr>
        <p:spPr>
          <a:xfrm>
            <a:off x="1005840" y="5532120"/>
            <a:ext cx="6080760" cy="438912"/>
          </a:xfrm>
          <a:prstGeom prst="rect">
            <a:avLst/>
          </a:prstGeom>
          <a:noFill/>
        </p:spPr>
        <p:txBody>
          <a:bodyPr wrap="square" lIns="18288" rIns="18288" tIns="9144" bIns="9144">
            <a:spAutoFit/>
          </a:bodyPr>
          <a:lstStyle/>
          <a:p>
            <a:pPr>
              <a:defRPr sz="1200" b="0">
                <a:solidFill>
                  <a:srgbClr val="556B75"/>
                </a:solidFill>
                <a:latin typeface="Aptos"/>
              </a:defRPr>
            </a:pPr>
            <a:r>
              <a:t>Landlord listing draft/submission · local draft</a:t>
            </a:r>
          </a:p>
        </p:txBody>
      </p:sp>
      <p:sp>
        <p:nvSpPr>
          <p:cNvPr id="11" name="Rounded Rectangle 10"/>
          <p:cNvSpPr/>
          <p:nvPr/>
        </p:nvSpPr>
        <p:spPr>
          <a:xfrm>
            <a:off x="7479792" y="2157984"/>
            <a:ext cx="3877056" cy="3904487"/>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763256" y="2414016"/>
            <a:ext cx="1371600" cy="356616"/>
          </a:xfrm>
          <a:prstGeom prst="roundRect">
            <a:avLst/>
          </a:prstGeom>
          <a:solidFill>
            <a:srgbClr val="B26B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72983" y="2478024"/>
            <a:ext cx="1207008" cy="182880"/>
          </a:xfrm>
          <a:prstGeom prst="rect">
            <a:avLst/>
          </a:prstGeom>
          <a:noFill/>
        </p:spPr>
        <p:txBody>
          <a:bodyPr wrap="square" lIns="18288" rIns="18288" tIns="9144" bIns="9144">
            <a:spAutoFit/>
          </a:bodyPr>
          <a:lstStyle/>
          <a:p>
            <a:pPr>
              <a:defRPr sz="1000" b="1">
                <a:solidFill>
                  <a:srgbClr val="FFFFFF"/>
                </a:solidFill>
                <a:latin typeface="Aptos"/>
              </a:defRPr>
            </a:pPr>
            <a:r>
              <a:t>IN DEV</a:t>
            </a:r>
          </a:p>
        </p:txBody>
      </p:sp>
      <p:sp>
        <p:nvSpPr>
          <p:cNvPr id="14" name="TextBox 13"/>
          <p:cNvSpPr txBox="1"/>
          <p:nvPr/>
        </p:nvSpPr>
        <p:spPr>
          <a:xfrm>
            <a:off x="7763256" y="2990088"/>
            <a:ext cx="3264408" cy="621792"/>
          </a:xfrm>
          <a:prstGeom prst="rect">
            <a:avLst/>
          </a:prstGeom>
          <a:noFill/>
        </p:spPr>
        <p:txBody>
          <a:bodyPr wrap="square" lIns="18288" rIns="18288" tIns="9144" bIns="9144">
            <a:spAutoFit/>
          </a:bodyPr>
          <a:lstStyle/>
          <a:p>
            <a:pPr>
              <a:defRPr sz="1700" b="0">
                <a:solidFill>
                  <a:srgbClr val="153036"/>
                </a:solidFill>
                <a:latin typeface="Aptos"/>
              </a:defRPr>
            </a:pPr>
            <a:r>
              <a:t>• Draft and submit listing flow</a:t>
            </a:r>
          </a:p>
        </p:txBody>
      </p:sp>
      <p:sp>
        <p:nvSpPr>
          <p:cNvPr id="15" name="TextBox 14"/>
          <p:cNvSpPr txBox="1"/>
          <p:nvPr/>
        </p:nvSpPr>
        <p:spPr>
          <a:xfrm>
            <a:off x="7763256" y="3785615"/>
            <a:ext cx="3264408" cy="621792"/>
          </a:xfrm>
          <a:prstGeom prst="rect">
            <a:avLst/>
          </a:prstGeom>
          <a:noFill/>
        </p:spPr>
        <p:txBody>
          <a:bodyPr wrap="square" lIns="18288" rIns="18288" tIns="9144" bIns="9144">
            <a:spAutoFit/>
          </a:bodyPr>
          <a:lstStyle/>
          <a:p>
            <a:pPr>
              <a:defRPr sz="1700" b="0">
                <a:solidFill>
                  <a:srgbClr val="153036"/>
                </a:solidFill>
                <a:latin typeface="Aptos"/>
              </a:defRPr>
            </a:pPr>
            <a:r>
              <a:t>• Ticket remains In Development</a:t>
            </a:r>
          </a:p>
        </p:txBody>
      </p:sp>
      <p:sp>
        <p:nvSpPr>
          <p:cNvPr id="16" name="TextBox 15"/>
          <p:cNvSpPr txBox="1"/>
          <p:nvPr/>
        </p:nvSpPr>
        <p:spPr>
          <a:xfrm>
            <a:off x="7763256" y="4800600"/>
            <a:ext cx="3291840" cy="621792"/>
          </a:xfrm>
          <a:prstGeom prst="rect">
            <a:avLst/>
          </a:prstGeom>
          <a:noFill/>
        </p:spPr>
        <p:txBody>
          <a:bodyPr wrap="square" lIns="18288" rIns="18288" tIns="9144" bIns="9144">
            <a:spAutoFit/>
          </a:bodyPr>
          <a:lstStyle/>
          <a:p>
            <a:pPr>
              <a:defRPr sz="1100" b="0">
                <a:solidFill>
                  <a:srgbClr val="556B75"/>
                </a:solidFill>
                <a:latin typeface="Aptos"/>
              </a:defRPr>
            </a:pPr>
            <a:r>
              <a:t>Local draft; acceptance and Jira publication not verified</a:t>
            </a:r>
          </a:p>
        </p:txBody>
      </p:sp>
      <p:sp>
        <p:nvSpPr>
          <p:cNvPr id="17" name="TextBox 16"/>
          <p:cNvSpPr txBox="1"/>
          <p:nvPr/>
        </p:nvSpPr>
        <p:spPr>
          <a:xfrm>
            <a:off x="7763256" y="5605272"/>
            <a:ext cx="3291840" cy="256032"/>
          </a:xfrm>
          <a:prstGeom prst="rect">
            <a:avLst/>
          </a:prstGeom>
          <a:noFill/>
        </p:spPr>
        <p:txBody>
          <a:bodyPr wrap="square" lIns="18288" rIns="18288" tIns="9144" bIns="9144">
            <a:spAutoFit/>
          </a:bodyPr>
          <a:lstStyle/>
          <a:p>
            <a:pPr>
              <a:defRPr sz="1200" b="1">
                <a:solidFill>
                  <a:srgbClr val="087E74"/>
                </a:solidFill>
                <a:latin typeface="Aptos"/>
              </a:defRPr>
            </a:pPr>
            <a:r>
              <a:rPr>
                <a:hlinkClick r:id="rId3"/>
              </a:rPr>
              <a:t>OPEN JIRA ISSUE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8F6"/>
        </a:solidFill>
        <a:effectLst/>
      </p:bgPr>
    </p:bg>
    <p:spTree>
      <p:nvGrpSpPr>
        <p:cNvPr id="1" name=""/>
        <p:cNvGrpSpPr/>
        <p:nvPr/>
      </p:nvGrpSpPr>
      <p:grpSpPr/>
      <p:sp>
        <p:nvSpPr>
          <p:cNvPr id="2" name="Rectangle 1"/>
          <p:cNvSpPr/>
          <p:nvPr/>
        </p:nvSpPr>
        <p:spPr>
          <a:xfrm>
            <a:off x="585216" y="484632"/>
            <a:ext cx="64008" cy="429768"/>
          </a:xfrm>
          <a:prstGeom prst="rect">
            <a:avLst/>
          </a:prstGeom>
          <a:solidFill>
            <a:srgbClr val="087E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30352"/>
            <a:ext cx="10058400" cy="256032"/>
          </a:xfrm>
          <a:prstGeom prst="rect">
            <a:avLst/>
          </a:prstGeom>
          <a:noFill/>
        </p:spPr>
        <p:txBody>
          <a:bodyPr wrap="square" lIns="18288" rIns="18288" tIns="9144" bIns="9144">
            <a:spAutoFit/>
          </a:bodyPr>
          <a:lstStyle/>
          <a:p>
            <a:pPr>
              <a:defRPr sz="1100" b="1">
                <a:solidFill>
                  <a:srgbClr val="087E74"/>
                </a:solidFill>
                <a:latin typeface="Aptos"/>
              </a:defRPr>
            </a:pPr>
            <a:r>
              <a:t>INVENTORY / SPRINT 2</a:t>
            </a:r>
          </a:p>
        </p:txBody>
      </p:sp>
      <p:sp>
        <p:nvSpPr>
          <p:cNvPr id="4" name="TextBox 3"/>
          <p:cNvSpPr txBox="1"/>
          <p:nvPr/>
        </p:nvSpPr>
        <p:spPr>
          <a:xfrm>
            <a:off x="822960" y="932688"/>
            <a:ext cx="10789920" cy="804672"/>
          </a:xfrm>
          <a:prstGeom prst="rect">
            <a:avLst/>
          </a:prstGeom>
          <a:noFill/>
        </p:spPr>
        <p:txBody>
          <a:bodyPr wrap="square" lIns="18288" rIns="18288" tIns="9144" bIns="9144">
            <a:spAutoFit/>
          </a:bodyPr>
          <a:lstStyle/>
          <a:p>
            <a:pPr>
              <a:defRPr sz="3100" b="1">
                <a:solidFill>
                  <a:srgbClr val="153036"/>
                </a:solidFill>
                <a:latin typeface="Aptos"/>
              </a:defRPr>
            </a:pPr>
            <a:r>
              <a:t>Sprint 2 · ticket register</a:t>
            </a:r>
          </a:p>
        </p:txBody>
      </p:sp>
      <p:sp>
        <p:nvSpPr>
          <p:cNvPr id="5" name="TextBox 4"/>
          <p:cNvSpPr txBox="1"/>
          <p:nvPr/>
        </p:nvSpPr>
        <p:spPr>
          <a:xfrm>
            <a:off x="822960" y="1819656"/>
            <a:ext cx="10698480" cy="265176"/>
          </a:xfrm>
          <a:prstGeom prst="rect">
            <a:avLst/>
          </a:prstGeom>
          <a:noFill/>
        </p:spPr>
        <p:txBody>
          <a:bodyPr wrap="square" lIns="18288" rIns="18288" tIns="9144" bIns="9144">
            <a:spAutoFit/>
          </a:bodyPr>
          <a:lstStyle/>
          <a:p>
            <a:pPr>
              <a:defRPr sz="1300" b="0">
                <a:solidFill>
                  <a:srgbClr val="556B75"/>
                </a:solidFill>
                <a:latin typeface="Aptos"/>
              </a:defRPr>
            </a:pPr>
            <a:r>
              <a:t>1–6 of 20  /  appendix page 1 of 4</a:t>
            </a:r>
          </a:p>
        </p:txBody>
      </p:sp>
      <p:sp>
        <p:nvSpPr>
          <p:cNvPr id="6" name="Rectangle 5"/>
          <p:cNvSpPr/>
          <p:nvPr/>
        </p:nvSpPr>
        <p:spPr>
          <a:xfrm>
            <a:off x="822960" y="6345936"/>
            <a:ext cx="10561320" cy="13716"/>
          </a:xfrm>
          <a:prstGeom prst="rect">
            <a:avLst/>
          </a:prstGeom>
          <a:solidFill>
            <a:srgbClr val="D8E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428232"/>
            <a:ext cx="10789920" cy="237744"/>
          </a:xfrm>
          <a:prstGeom prst="rect">
            <a:avLst/>
          </a:prstGeom>
          <a:noFill/>
        </p:spPr>
        <p:txBody>
          <a:bodyPr wrap="square" lIns="18288" rIns="18288" tIns="9144" bIns="9144">
            <a:spAutoFit/>
          </a:bodyPr>
          <a:lstStyle/>
          <a:p>
            <a:pPr>
              <a:defRPr sz="900" b="0">
                <a:solidFill>
                  <a:srgbClr val="556B75"/>
                </a:solidFill>
                <a:latin typeface="Aptos"/>
              </a:defRPr>
            </a:pPr>
            <a:r>
              <a:t>ABANG CEBU AI  /  JIRA SNAPSHOT 16 OCT 2026                                          17</a:t>
            </a:r>
          </a:p>
        </p:txBody>
      </p:sp>
      <p:sp>
        <p:nvSpPr>
          <p:cNvPr id="8" name="Rounded Rectangle 7"/>
          <p:cNvSpPr/>
          <p:nvPr/>
        </p:nvSpPr>
        <p:spPr>
          <a:xfrm>
            <a:off x="822960" y="2130552"/>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249424"/>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2"/>
              </a:rPr>
              <a:t>SCRUM-104</a:t>
            </a:r>
          </a:p>
        </p:txBody>
      </p:sp>
      <p:sp>
        <p:nvSpPr>
          <p:cNvPr id="10" name="TextBox 9"/>
          <p:cNvSpPr txBox="1"/>
          <p:nvPr/>
        </p:nvSpPr>
        <p:spPr>
          <a:xfrm>
            <a:off x="2350008" y="2221992"/>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Sign Up Module &amp; Flowchart: Registration &amp; PKCE Verification</a:t>
            </a:r>
          </a:p>
        </p:txBody>
      </p:sp>
      <p:sp>
        <p:nvSpPr>
          <p:cNvPr id="11" name="TextBox 10"/>
          <p:cNvSpPr txBox="1"/>
          <p:nvPr/>
        </p:nvSpPr>
        <p:spPr>
          <a:xfrm>
            <a:off x="10021824" y="2286000"/>
            <a:ext cx="1124712" cy="228600"/>
          </a:xfrm>
          <a:prstGeom prst="rect">
            <a:avLst/>
          </a:prstGeom>
          <a:noFill/>
        </p:spPr>
        <p:txBody>
          <a:bodyPr wrap="square" lIns="18288" rIns="18288" tIns="9144" bIns="9144">
            <a:spAutoFit/>
          </a:bodyPr>
          <a:lstStyle/>
          <a:p>
            <a:pPr>
              <a:defRPr sz="1000" b="1">
                <a:solidFill>
                  <a:srgbClr val="087E74"/>
                </a:solidFill>
                <a:latin typeface="Aptos"/>
              </a:defRPr>
            </a:pPr>
            <a:r>
              <a:t>DONE</a:t>
            </a:r>
          </a:p>
        </p:txBody>
      </p:sp>
      <p:sp>
        <p:nvSpPr>
          <p:cNvPr id="12" name="Rounded Rectangle 11"/>
          <p:cNvSpPr/>
          <p:nvPr/>
        </p:nvSpPr>
        <p:spPr>
          <a:xfrm>
            <a:off x="822960" y="2788920"/>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8" y="2907791"/>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3"/>
              </a:rPr>
              <a:t>SCRUM-105</a:t>
            </a:r>
          </a:p>
        </p:txBody>
      </p:sp>
      <p:sp>
        <p:nvSpPr>
          <p:cNvPr id="14" name="TextBox 13"/>
          <p:cNvSpPr txBox="1"/>
          <p:nvPr/>
        </p:nvSpPr>
        <p:spPr>
          <a:xfrm>
            <a:off x="2350008" y="2880360"/>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Log In Module &amp; Flowchart: Authentication &amp; Session Token Lifecycle</a:t>
            </a:r>
          </a:p>
        </p:txBody>
      </p:sp>
      <p:sp>
        <p:nvSpPr>
          <p:cNvPr id="15" name="TextBox 14"/>
          <p:cNvSpPr txBox="1"/>
          <p:nvPr/>
        </p:nvSpPr>
        <p:spPr>
          <a:xfrm>
            <a:off x="10021824" y="2944368"/>
            <a:ext cx="1124712" cy="228600"/>
          </a:xfrm>
          <a:prstGeom prst="rect">
            <a:avLst/>
          </a:prstGeom>
          <a:noFill/>
        </p:spPr>
        <p:txBody>
          <a:bodyPr wrap="square" lIns="18288" rIns="18288" tIns="9144" bIns="9144">
            <a:spAutoFit/>
          </a:bodyPr>
          <a:lstStyle/>
          <a:p>
            <a:pPr>
              <a:defRPr sz="1000" b="1">
                <a:solidFill>
                  <a:srgbClr val="087E74"/>
                </a:solidFill>
                <a:latin typeface="Aptos"/>
              </a:defRPr>
            </a:pPr>
            <a:r>
              <a:t>DONE</a:t>
            </a:r>
          </a:p>
        </p:txBody>
      </p:sp>
      <p:sp>
        <p:nvSpPr>
          <p:cNvPr id="16" name="Rounded Rectangle 15"/>
          <p:cNvSpPr/>
          <p:nvPr/>
        </p:nvSpPr>
        <p:spPr>
          <a:xfrm>
            <a:off x="822960" y="3447288"/>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4128" y="3566160"/>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4"/>
              </a:rPr>
              <a:t>SCRUM-106</a:t>
            </a:r>
          </a:p>
        </p:txBody>
      </p:sp>
      <p:sp>
        <p:nvSpPr>
          <p:cNvPr id="18" name="TextBox 17"/>
          <p:cNvSpPr txBox="1"/>
          <p:nvPr/>
        </p:nvSpPr>
        <p:spPr>
          <a:xfrm>
            <a:off x="2350008" y="3538728"/>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Password Reset Module &amp; Flowchart: Self-Service Recovery Workflow</a:t>
            </a:r>
          </a:p>
        </p:txBody>
      </p:sp>
      <p:sp>
        <p:nvSpPr>
          <p:cNvPr id="19" name="TextBox 18"/>
          <p:cNvSpPr txBox="1"/>
          <p:nvPr/>
        </p:nvSpPr>
        <p:spPr>
          <a:xfrm>
            <a:off x="10021824" y="3602736"/>
            <a:ext cx="1124712" cy="228600"/>
          </a:xfrm>
          <a:prstGeom prst="rect">
            <a:avLst/>
          </a:prstGeom>
          <a:noFill/>
        </p:spPr>
        <p:txBody>
          <a:bodyPr wrap="square" lIns="18288" rIns="18288" tIns="9144" bIns="9144">
            <a:spAutoFit/>
          </a:bodyPr>
          <a:lstStyle/>
          <a:p>
            <a:pPr>
              <a:defRPr sz="1000" b="1">
                <a:solidFill>
                  <a:srgbClr val="087E74"/>
                </a:solidFill>
                <a:latin typeface="Aptos"/>
              </a:defRPr>
            </a:pPr>
            <a:r>
              <a:t>DONE</a:t>
            </a:r>
          </a:p>
        </p:txBody>
      </p:sp>
      <p:sp>
        <p:nvSpPr>
          <p:cNvPr id="20" name="Rounded Rectangle 19"/>
          <p:cNvSpPr/>
          <p:nvPr/>
        </p:nvSpPr>
        <p:spPr>
          <a:xfrm>
            <a:off x="822960" y="4105656"/>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24128" y="4224528"/>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5"/>
              </a:rPr>
              <a:t>SCRUM-107</a:t>
            </a:r>
          </a:p>
        </p:txBody>
      </p:sp>
      <p:sp>
        <p:nvSpPr>
          <p:cNvPr id="22" name="TextBox 21"/>
          <p:cNvSpPr txBox="1"/>
          <p:nvPr/>
        </p:nvSpPr>
        <p:spPr>
          <a:xfrm>
            <a:off x="2350008" y="4197096"/>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Sign Out Module &amp; Flowchart: Session Termination &amp; Multi-Tab Sync</a:t>
            </a:r>
          </a:p>
        </p:txBody>
      </p:sp>
      <p:sp>
        <p:nvSpPr>
          <p:cNvPr id="23" name="TextBox 22"/>
          <p:cNvSpPr txBox="1"/>
          <p:nvPr/>
        </p:nvSpPr>
        <p:spPr>
          <a:xfrm>
            <a:off x="10021824" y="4261104"/>
            <a:ext cx="1124712" cy="228600"/>
          </a:xfrm>
          <a:prstGeom prst="rect">
            <a:avLst/>
          </a:prstGeom>
          <a:noFill/>
        </p:spPr>
        <p:txBody>
          <a:bodyPr wrap="square" lIns="18288" rIns="18288" tIns="9144" bIns="9144">
            <a:spAutoFit/>
          </a:bodyPr>
          <a:lstStyle/>
          <a:p>
            <a:pPr>
              <a:defRPr sz="1000" b="1">
                <a:solidFill>
                  <a:srgbClr val="087E74"/>
                </a:solidFill>
                <a:latin typeface="Aptos"/>
              </a:defRPr>
            </a:pPr>
            <a:r>
              <a:t>DONE</a:t>
            </a:r>
          </a:p>
        </p:txBody>
      </p:sp>
      <p:sp>
        <p:nvSpPr>
          <p:cNvPr id="24" name="Rounded Rectangle 23"/>
          <p:cNvSpPr/>
          <p:nvPr/>
        </p:nvSpPr>
        <p:spPr>
          <a:xfrm>
            <a:off x="822960" y="4764024"/>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24128" y="4882896"/>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6"/>
              </a:rPr>
              <a:t>SCRUM-108</a:t>
            </a:r>
          </a:p>
        </p:txBody>
      </p:sp>
      <p:sp>
        <p:nvSpPr>
          <p:cNvPr id="26" name="TextBox 25"/>
          <p:cNvSpPr txBox="1"/>
          <p:nvPr/>
        </p:nvSpPr>
        <p:spPr>
          <a:xfrm>
            <a:off x="2350008" y="4855464"/>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Error Handling &amp; Suspension Module &amp; Flowchart: Failure Taxonomy &amp; UX States</a:t>
            </a:r>
          </a:p>
        </p:txBody>
      </p:sp>
      <p:sp>
        <p:nvSpPr>
          <p:cNvPr id="27" name="TextBox 26"/>
          <p:cNvSpPr txBox="1"/>
          <p:nvPr/>
        </p:nvSpPr>
        <p:spPr>
          <a:xfrm>
            <a:off x="10021824" y="4919472"/>
            <a:ext cx="1124712" cy="228600"/>
          </a:xfrm>
          <a:prstGeom prst="rect">
            <a:avLst/>
          </a:prstGeom>
          <a:noFill/>
        </p:spPr>
        <p:txBody>
          <a:bodyPr wrap="square" lIns="18288" rIns="18288" tIns="9144" bIns="9144">
            <a:spAutoFit/>
          </a:bodyPr>
          <a:lstStyle/>
          <a:p>
            <a:pPr>
              <a:defRPr sz="1000" b="1">
                <a:solidFill>
                  <a:srgbClr val="087E74"/>
                </a:solidFill>
                <a:latin typeface="Aptos"/>
              </a:defRPr>
            </a:pPr>
            <a:r>
              <a:t>DONE</a:t>
            </a:r>
          </a:p>
        </p:txBody>
      </p:sp>
      <p:sp>
        <p:nvSpPr>
          <p:cNvPr id="28" name="Rounded Rectangle 27"/>
          <p:cNvSpPr/>
          <p:nvPr/>
        </p:nvSpPr>
        <p:spPr>
          <a:xfrm>
            <a:off x="822960" y="5422392"/>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4128" y="5541264"/>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7"/>
              </a:rPr>
              <a:t>SCRUM-109</a:t>
            </a:r>
          </a:p>
        </p:txBody>
      </p:sp>
      <p:sp>
        <p:nvSpPr>
          <p:cNvPr id="30" name="TextBox 29"/>
          <p:cNvSpPr txBox="1"/>
          <p:nvPr/>
        </p:nvSpPr>
        <p:spPr>
          <a:xfrm>
            <a:off x="2350008" y="5513831"/>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Authentication Master Test Plan &amp; Test Matrix</a:t>
            </a:r>
          </a:p>
        </p:txBody>
      </p:sp>
      <p:sp>
        <p:nvSpPr>
          <p:cNvPr id="31" name="TextBox 30"/>
          <p:cNvSpPr txBox="1"/>
          <p:nvPr/>
        </p:nvSpPr>
        <p:spPr>
          <a:xfrm>
            <a:off x="10021824" y="5577840"/>
            <a:ext cx="1124712" cy="228600"/>
          </a:xfrm>
          <a:prstGeom prst="rect">
            <a:avLst/>
          </a:prstGeom>
          <a:noFill/>
        </p:spPr>
        <p:txBody>
          <a:bodyPr wrap="square" lIns="18288" rIns="18288" tIns="9144" bIns="9144">
            <a:spAutoFit/>
          </a:bodyPr>
          <a:lstStyle/>
          <a:p>
            <a:pPr>
              <a:defRPr sz="1000" b="1">
                <a:solidFill>
                  <a:srgbClr val="087E74"/>
                </a:solidFill>
                <a:latin typeface="Aptos"/>
              </a:defRPr>
            </a:pPr>
            <a:r>
              <a:t>DONE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8F6"/>
        </a:solidFill>
        <a:effectLst/>
      </p:bgPr>
    </p:bg>
    <p:spTree>
      <p:nvGrpSpPr>
        <p:cNvPr id="1" name=""/>
        <p:cNvGrpSpPr/>
        <p:nvPr/>
      </p:nvGrpSpPr>
      <p:grpSpPr/>
      <p:sp>
        <p:nvSpPr>
          <p:cNvPr id="2" name="Rectangle 1"/>
          <p:cNvSpPr/>
          <p:nvPr/>
        </p:nvSpPr>
        <p:spPr>
          <a:xfrm>
            <a:off x="585216" y="484632"/>
            <a:ext cx="64008" cy="429768"/>
          </a:xfrm>
          <a:prstGeom prst="rect">
            <a:avLst/>
          </a:prstGeom>
          <a:solidFill>
            <a:srgbClr val="087E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30352"/>
            <a:ext cx="10058400" cy="256032"/>
          </a:xfrm>
          <a:prstGeom prst="rect">
            <a:avLst/>
          </a:prstGeom>
          <a:noFill/>
        </p:spPr>
        <p:txBody>
          <a:bodyPr wrap="square" lIns="18288" rIns="18288" tIns="9144" bIns="9144">
            <a:spAutoFit/>
          </a:bodyPr>
          <a:lstStyle/>
          <a:p>
            <a:pPr>
              <a:defRPr sz="1100" b="1">
                <a:solidFill>
                  <a:srgbClr val="087E74"/>
                </a:solidFill>
                <a:latin typeface="Aptos"/>
              </a:defRPr>
            </a:pPr>
            <a:r>
              <a:t>INVENTORY / SPRINT 2</a:t>
            </a:r>
          </a:p>
        </p:txBody>
      </p:sp>
      <p:sp>
        <p:nvSpPr>
          <p:cNvPr id="4" name="TextBox 3"/>
          <p:cNvSpPr txBox="1"/>
          <p:nvPr/>
        </p:nvSpPr>
        <p:spPr>
          <a:xfrm>
            <a:off x="822960" y="932688"/>
            <a:ext cx="10789920" cy="804672"/>
          </a:xfrm>
          <a:prstGeom prst="rect">
            <a:avLst/>
          </a:prstGeom>
          <a:noFill/>
        </p:spPr>
        <p:txBody>
          <a:bodyPr wrap="square" lIns="18288" rIns="18288" tIns="9144" bIns="9144">
            <a:spAutoFit/>
          </a:bodyPr>
          <a:lstStyle/>
          <a:p>
            <a:pPr>
              <a:defRPr sz="3100" b="1">
                <a:solidFill>
                  <a:srgbClr val="153036"/>
                </a:solidFill>
                <a:latin typeface="Aptos"/>
              </a:defRPr>
            </a:pPr>
            <a:r>
              <a:t>Sprint 2 · ticket register</a:t>
            </a:r>
          </a:p>
        </p:txBody>
      </p:sp>
      <p:sp>
        <p:nvSpPr>
          <p:cNvPr id="5" name="TextBox 4"/>
          <p:cNvSpPr txBox="1"/>
          <p:nvPr/>
        </p:nvSpPr>
        <p:spPr>
          <a:xfrm>
            <a:off x="822960" y="1819656"/>
            <a:ext cx="10698480" cy="265176"/>
          </a:xfrm>
          <a:prstGeom prst="rect">
            <a:avLst/>
          </a:prstGeom>
          <a:noFill/>
        </p:spPr>
        <p:txBody>
          <a:bodyPr wrap="square" lIns="18288" rIns="18288" tIns="9144" bIns="9144">
            <a:spAutoFit/>
          </a:bodyPr>
          <a:lstStyle/>
          <a:p>
            <a:pPr>
              <a:defRPr sz="1300" b="0">
                <a:solidFill>
                  <a:srgbClr val="556B75"/>
                </a:solidFill>
                <a:latin typeface="Aptos"/>
              </a:defRPr>
            </a:pPr>
            <a:r>
              <a:t>7–12 of 20  /  appendix page 2 of 4</a:t>
            </a:r>
          </a:p>
        </p:txBody>
      </p:sp>
      <p:sp>
        <p:nvSpPr>
          <p:cNvPr id="6" name="Rectangle 5"/>
          <p:cNvSpPr/>
          <p:nvPr/>
        </p:nvSpPr>
        <p:spPr>
          <a:xfrm>
            <a:off x="822960" y="6345936"/>
            <a:ext cx="10561320" cy="13716"/>
          </a:xfrm>
          <a:prstGeom prst="rect">
            <a:avLst/>
          </a:prstGeom>
          <a:solidFill>
            <a:srgbClr val="D8E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428232"/>
            <a:ext cx="10789920" cy="237744"/>
          </a:xfrm>
          <a:prstGeom prst="rect">
            <a:avLst/>
          </a:prstGeom>
          <a:noFill/>
        </p:spPr>
        <p:txBody>
          <a:bodyPr wrap="square" lIns="18288" rIns="18288" tIns="9144" bIns="9144">
            <a:spAutoFit/>
          </a:bodyPr>
          <a:lstStyle/>
          <a:p>
            <a:pPr>
              <a:defRPr sz="900" b="0">
                <a:solidFill>
                  <a:srgbClr val="556B75"/>
                </a:solidFill>
                <a:latin typeface="Aptos"/>
              </a:defRPr>
            </a:pPr>
            <a:r>
              <a:t>ABANG CEBU AI  /  JIRA SNAPSHOT 16 OCT 2026                                          18</a:t>
            </a:r>
          </a:p>
        </p:txBody>
      </p:sp>
      <p:sp>
        <p:nvSpPr>
          <p:cNvPr id="8" name="Rounded Rectangle 7"/>
          <p:cNvSpPr/>
          <p:nvPr/>
        </p:nvSpPr>
        <p:spPr>
          <a:xfrm>
            <a:off x="822960" y="2130552"/>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249424"/>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2"/>
              </a:rPr>
              <a:t>SCRUM-110</a:t>
            </a:r>
          </a:p>
        </p:txBody>
      </p:sp>
      <p:sp>
        <p:nvSpPr>
          <p:cNvPr id="10" name="TextBox 9"/>
          <p:cNvSpPr txBox="1"/>
          <p:nvPr/>
        </p:nvSpPr>
        <p:spPr>
          <a:xfrm>
            <a:off x="2350008" y="2221992"/>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Sign Up Module Test Plan &amp; Registration Test Cases</a:t>
            </a:r>
          </a:p>
        </p:txBody>
      </p:sp>
      <p:sp>
        <p:nvSpPr>
          <p:cNvPr id="11" name="TextBox 10"/>
          <p:cNvSpPr txBox="1"/>
          <p:nvPr/>
        </p:nvSpPr>
        <p:spPr>
          <a:xfrm>
            <a:off x="10021824" y="2286000"/>
            <a:ext cx="1124712" cy="228600"/>
          </a:xfrm>
          <a:prstGeom prst="rect">
            <a:avLst/>
          </a:prstGeom>
          <a:noFill/>
        </p:spPr>
        <p:txBody>
          <a:bodyPr wrap="square" lIns="18288" rIns="18288" tIns="9144" bIns="9144">
            <a:spAutoFit/>
          </a:bodyPr>
          <a:lstStyle/>
          <a:p>
            <a:pPr>
              <a:defRPr sz="1000" b="1">
                <a:solidFill>
                  <a:srgbClr val="087E74"/>
                </a:solidFill>
                <a:latin typeface="Aptos"/>
              </a:defRPr>
            </a:pPr>
            <a:r>
              <a:t>DONE</a:t>
            </a:r>
          </a:p>
        </p:txBody>
      </p:sp>
      <p:sp>
        <p:nvSpPr>
          <p:cNvPr id="12" name="Rounded Rectangle 11"/>
          <p:cNvSpPr/>
          <p:nvPr/>
        </p:nvSpPr>
        <p:spPr>
          <a:xfrm>
            <a:off x="822960" y="2788920"/>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8" y="2907791"/>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3"/>
              </a:rPr>
              <a:t>SCRUM-111</a:t>
            </a:r>
          </a:p>
        </p:txBody>
      </p:sp>
      <p:sp>
        <p:nvSpPr>
          <p:cNvPr id="14" name="TextBox 13"/>
          <p:cNvSpPr txBox="1"/>
          <p:nvPr/>
        </p:nvSpPr>
        <p:spPr>
          <a:xfrm>
            <a:off x="2350008" y="2880360"/>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Log In Module Test Plan &amp; Session Token Test Cases</a:t>
            </a:r>
          </a:p>
        </p:txBody>
      </p:sp>
      <p:sp>
        <p:nvSpPr>
          <p:cNvPr id="15" name="TextBox 14"/>
          <p:cNvSpPr txBox="1"/>
          <p:nvPr/>
        </p:nvSpPr>
        <p:spPr>
          <a:xfrm>
            <a:off x="10021824" y="2944368"/>
            <a:ext cx="1124712" cy="228600"/>
          </a:xfrm>
          <a:prstGeom prst="rect">
            <a:avLst/>
          </a:prstGeom>
          <a:noFill/>
        </p:spPr>
        <p:txBody>
          <a:bodyPr wrap="square" lIns="18288" rIns="18288" tIns="9144" bIns="9144">
            <a:spAutoFit/>
          </a:bodyPr>
          <a:lstStyle/>
          <a:p>
            <a:pPr>
              <a:defRPr sz="1000" b="1">
                <a:solidFill>
                  <a:srgbClr val="087E74"/>
                </a:solidFill>
                <a:latin typeface="Aptos"/>
              </a:defRPr>
            </a:pPr>
            <a:r>
              <a:t>DONE</a:t>
            </a:r>
          </a:p>
        </p:txBody>
      </p:sp>
      <p:sp>
        <p:nvSpPr>
          <p:cNvPr id="16" name="Rounded Rectangle 15"/>
          <p:cNvSpPr/>
          <p:nvPr/>
        </p:nvSpPr>
        <p:spPr>
          <a:xfrm>
            <a:off x="822960" y="3447288"/>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4128" y="3566160"/>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4"/>
              </a:rPr>
              <a:t>SCRUM-112</a:t>
            </a:r>
          </a:p>
        </p:txBody>
      </p:sp>
      <p:sp>
        <p:nvSpPr>
          <p:cNvPr id="18" name="TextBox 17"/>
          <p:cNvSpPr txBox="1"/>
          <p:nvPr/>
        </p:nvSpPr>
        <p:spPr>
          <a:xfrm>
            <a:off x="2350008" y="3538728"/>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Password Reset &amp; Sign Out Module Test Cases</a:t>
            </a:r>
          </a:p>
        </p:txBody>
      </p:sp>
      <p:sp>
        <p:nvSpPr>
          <p:cNvPr id="19" name="TextBox 18"/>
          <p:cNvSpPr txBox="1"/>
          <p:nvPr/>
        </p:nvSpPr>
        <p:spPr>
          <a:xfrm>
            <a:off x="10021824" y="3602736"/>
            <a:ext cx="1124712" cy="228600"/>
          </a:xfrm>
          <a:prstGeom prst="rect">
            <a:avLst/>
          </a:prstGeom>
          <a:noFill/>
        </p:spPr>
        <p:txBody>
          <a:bodyPr wrap="square" lIns="18288" rIns="18288" tIns="9144" bIns="9144">
            <a:spAutoFit/>
          </a:bodyPr>
          <a:lstStyle/>
          <a:p>
            <a:pPr>
              <a:defRPr sz="1000" b="1">
                <a:solidFill>
                  <a:srgbClr val="087E74"/>
                </a:solidFill>
                <a:latin typeface="Aptos"/>
              </a:defRPr>
            </a:pPr>
            <a:r>
              <a:t>DONE</a:t>
            </a:r>
          </a:p>
        </p:txBody>
      </p:sp>
      <p:sp>
        <p:nvSpPr>
          <p:cNvPr id="20" name="Rounded Rectangle 19"/>
          <p:cNvSpPr/>
          <p:nvPr/>
        </p:nvSpPr>
        <p:spPr>
          <a:xfrm>
            <a:off x="822960" y="4105656"/>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24128" y="4224528"/>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5"/>
              </a:rPr>
              <a:t>SCRUM-113</a:t>
            </a:r>
          </a:p>
        </p:txBody>
      </p:sp>
      <p:sp>
        <p:nvSpPr>
          <p:cNvPr id="22" name="TextBox 21"/>
          <p:cNvSpPr txBox="1"/>
          <p:nvPr/>
        </p:nvSpPr>
        <p:spPr>
          <a:xfrm>
            <a:off x="2350008" y="4197096"/>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Route Guards &amp; Middleware Security Test Cases</a:t>
            </a:r>
          </a:p>
        </p:txBody>
      </p:sp>
      <p:sp>
        <p:nvSpPr>
          <p:cNvPr id="23" name="TextBox 22"/>
          <p:cNvSpPr txBox="1"/>
          <p:nvPr/>
        </p:nvSpPr>
        <p:spPr>
          <a:xfrm>
            <a:off x="10021824" y="4261104"/>
            <a:ext cx="1124712" cy="228600"/>
          </a:xfrm>
          <a:prstGeom prst="rect">
            <a:avLst/>
          </a:prstGeom>
          <a:noFill/>
        </p:spPr>
        <p:txBody>
          <a:bodyPr wrap="square" lIns="18288" rIns="18288" tIns="9144" bIns="9144">
            <a:spAutoFit/>
          </a:bodyPr>
          <a:lstStyle/>
          <a:p>
            <a:pPr>
              <a:defRPr sz="1000" b="1">
                <a:solidFill>
                  <a:srgbClr val="087E74"/>
                </a:solidFill>
                <a:latin typeface="Aptos"/>
              </a:defRPr>
            </a:pPr>
            <a:r>
              <a:t>DONE</a:t>
            </a:r>
          </a:p>
        </p:txBody>
      </p:sp>
      <p:sp>
        <p:nvSpPr>
          <p:cNvPr id="24" name="Rounded Rectangle 23"/>
          <p:cNvSpPr/>
          <p:nvPr/>
        </p:nvSpPr>
        <p:spPr>
          <a:xfrm>
            <a:off x="822960" y="4764024"/>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24128" y="4882896"/>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6"/>
              </a:rPr>
              <a:t>SCRUM-114</a:t>
            </a:r>
          </a:p>
        </p:txBody>
      </p:sp>
      <p:sp>
        <p:nvSpPr>
          <p:cNvPr id="26" name="TextBox 25"/>
          <p:cNvSpPr txBox="1"/>
          <p:nvPr/>
        </p:nvSpPr>
        <p:spPr>
          <a:xfrm>
            <a:off x="2350008" y="4855464"/>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Authentication Baseline Latency &amp; Load Strategy</a:t>
            </a:r>
          </a:p>
        </p:txBody>
      </p:sp>
      <p:sp>
        <p:nvSpPr>
          <p:cNvPr id="27" name="TextBox 26"/>
          <p:cNvSpPr txBox="1"/>
          <p:nvPr/>
        </p:nvSpPr>
        <p:spPr>
          <a:xfrm>
            <a:off x="10021824" y="4919472"/>
            <a:ext cx="1124712" cy="228600"/>
          </a:xfrm>
          <a:prstGeom prst="rect">
            <a:avLst/>
          </a:prstGeom>
          <a:noFill/>
        </p:spPr>
        <p:txBody>
          <a:bodyPr wrap="square" lIns="18288" rIns="18288" tIns="9144" bIns="9144">
            <a:spAutoFit/>
          </a:bodyPr>
          <a:lstStyle/>
          <a:p>
            <a:pPr>
              <a:defRPr sz="1000" b="1">
                <a:solidFill>
                  <a:srgbClr val="087E74"/>
                </a:solidFill>
                <a:latin typeface="Aptos"/>
              </a:defRPr>
            </a:pPr>
            <a:r>
              <a:t>DONE</a:t>
            </a:r>
          </a:p>
        </p:txBody>
      </p:sp>
      <p:sp>
        <p:nvSpPr>
          <p:cNvPr id="28" name="Rounded Rectangle 27"/>
          <p:cNvSpPr/>
          <p:nvPr/>
        </p:nvSpPr>
        <p:spPr>
          <a:xfrm>
            <a:off x="822960" y="5422392"/>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4128" y="5541264"/>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7"/>
              </a:rPr>
              <a:t>SCRUM-116</a:t>
            </a:r>
          </a:p>
        </p:txBody>
      </p:sp>
      <p:sp>
        <p:nvSpPr>
          <p:cNvPr id="30" name="TextBox 29"/>
          <p:cNvSpPr txBox="1"/>
          <p:nvPr/>
        </p:nvSpPr>
        <p:spPr>
          <a:xfrm>
            <a:off x="2350008" y="5513831"/>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Landing Page Master Orchestration &amp; Spatial Discovery Flowchart</a:t>
            </a:r>
          </a:p>
        </p:txBody>
      </p:sp>
      <p:sp>
        <p:nvSpPr>
          <p:cNvPr id="31" name="TextBox 30"/>
          <p:cNvSpPr txBox="1"/>
          <p:nvPr/>
        </p:nvSpPr>
        <p:spPr>
          <a:xfrm>
            <a:off x="10021824" y="5577840"/>
            <a:ext cx="1124712" cy="228600"/>
          </a:xfrm>
          <a:prstGeom prst="rect">
            <a:avLst/>
          </a:prstGeom>
          <a:noFill/>
        </p:spPr>
        <p:txBody>
          <a:bodyPr wrap="square" lIns="18288" rIns="18288" tIns="9144" bIns="9144">
            <a:spAutoFit/>
          </a:bodyPr>
          <a:lstStyle/>
          <a:p>
            <a:pPr>
              <a:defRPr sz="1000" b="1">
                <a:solidFill>
                  <a:srgbClr val="087E74"/>
                </a:solidFill>
                <a:latin typeface="Aptos"/>
              </a:defRPr>
            </a:pPr>
            <a:r>
              <a:t>DONE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8F6"/>
        </a:solidFill>
        <a:effectLst/>
      </p:bgPr>
    </p:bg>
    <p:spTree>
      <p:nvGrpSpPr>
        <p:cNvPr id="1" name=""/>
        <p:cNvGrpSpPr/>
        <p:nvPr/>
      </p:nvGrpSpPr>
      <p:grpSpPr/>
      <p:sp>
        <p:nvSpPr>
          <p:cNvPr id="2" name="Rectangle 1"/>
          <p:cNvSpPr/>
          <p:nvPr/>
        </p:nvSpPr>
        <p:spPr>
          <a:xfrm>
            <a:off x="585216" y="484632"/>
            <a:ext cx="64008" cy="429768"/>
          </a:xfrm>
          <a:prstGeom prst="rect">
            <a:avLst/>
          </a:prstGeom>
          <a:solidFill>
            <a:srgbClr val="087E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30352"/>
            <a:ext cx="10058400" cy="256032"/>
          </a:xfrm>
          <a:prstGeom prst="rect">
            <a:avLst/>
          </a:prstGeom>
          <a:noFill/>
        </p:spPr>
        <p:txBody>
          <a:bodyPr wrap="square" lIns="18288" rIns="18288" tIns="9144" bIns="9144">
            <a:spAutoFit/>
          </a:bodyPr>
          <a:lstStyle/>
          <a:p>
            <a:pPr>
              <a:defRPr sz="1100" b="1">
                <a:solidFill>
                  <a:srgbClr val="087E74"/>
                </a:solidFill>
                <a:latin typeface="Aptos"/>
              </a:defRPr>
            </a:pPr>
            <a:r>
              <a:t>INVENTORY / SPRINT 2</a:t>
            </a:r>
          </a:p>
        </p:txBody>
      </p:sp>
      <p:sp>
        <p:nvSpPr>
          <p:cNvPr id="4" name="TextBox 3"/>
          <p:cNvSpPr txBox="1"/>
          <p:nvPr/>
        </p:nvSpPr>
        <p:spPr>
          <a:xfrm>
            <a:off x="822960" y="932688"/>
            <a:ext cx="10789920" cy="804672"/>
          </a:xfrm>
          <a:prstGeom prst="rect">
            <a:avLst/>
          </a:prstGeom>
          <a:noFill/>
        </p:spPr>
        <p:txBody>
          <a:bodyPr wrap="square" lIns="18288" rIns="18288" tIns="9144" bIns="9144">
            <a:spAutoFit/>
          </a:bodyPr>
          <a:lstStyle/>
          <a:p>
            <a:pPr>
              <a:defRPr sz="3100" b="1">
                <a:solidFill>
                  <a:srgbClr val="153036"/>
                </a:solidFill>
                <a:latin typeface="Aptos"/>
              </a:defRPr>
            </a:pPr>
            <a:r>
              <a:t>Sprint 2 · ticket register</a:t>
            </a:r>
          </a:p>
        </p:txBody>
      </p:sp>
      <p:sp>
        <p:nvSpPr>
          <p:cNvPr id="5" name="TextBox 4"/>
          <p:cNvSpPr txBox="1"/>
          <p:nvPr/>
        </p:nvSpPr>
        <p:spPr>
          <a:xfrm>
            <a:off x="822960" y="1819656"/>
            <a:ext cx="10698480" cy="265176"/>
          </a:xfrm>
          <a:prstGeom prst="rect">
            <a:avLst/>
          </a:prstGeom>
          <a:noFill/>
        </p:spPr>
        <p:txBody>
          <a:bodyPr wrap="square" lIns="18288" rIns="18288" tIns="9144" bIns="9144">
            <a:spAutoFit/>
          </a:bodyPr>
          <a:lstStyle/>
          <a:p>
            <a:pPr>
              <a:defRPr sz="1300" b="0">
                <a:solidFill>
                  <a:srgbClr val="556B75"/>
                </a:solidFill>
                <a:latin typeface="Aptos"/>
              </a:defRPr>
            </a:pPr>
            <a:r>
              <a:t>13–18 of 20  /  appendix page 3 of 4</a:t>
            </a:r>
          </a:p>
        </p:txBody>
      </p:sp>
      <p:sp>
        <p:nvSpPr>
          <p:cNvPr id="6" name="Rectangle 5"/>
          <p:cNvSpPr/>
          <p:nvPr/>
        </p:nvSpPr>
        <p:spPr>
          <a:xfrm>
            <a:off x="822960" y="6345936"/>
            <a:ext cx="10561320" cy="13716"/>
          </a:xfrm>
          <a:prstGeom prst="rect">
            <a:avLst/>
          </a:prstGeom>
          <a:solidFill>
            <a:srgbClr val="D8E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428232"/>
            <a:ext cx="10789920" cy="237744"/>
          </a:xfrm>
          <a:prstGeom prst="rect">
            <a:avLst/>
          </a:prstGeom>
          <a:noFill/>
        </p:spPr>
        <p:txBody>
          <a:bodyPr wrap="square" lIns="18288" rIns="18288" tIns="9144" bIns="9144">
            <a:spAutoFit/>
          </a:bodyPr>
          <a:lstStyle/>
          <a:p>
            <a:pPr>
              <a:defRPr sz="900" b="0">
                <a:solidFill>
                  <a:srgbClr val="556B75"/>
                </a:solidFill>
                <a:latin typeface="Aptos"/>
              </a:defRPr>
            </a:pPr>
            <a:r>
              <a:t>ABANG CEBU AI  /  JIRA SNAPSHOT 16 OCT 2026                                          19</a:t>
            </a:r>
          </a:p>
        </p:txBody>
      </p:sp>
      <p:sp>
        <p:nvSpPr>
          <p:cNvPr id="8" name="Rounded Rectangle 7"/>
          <p:cNvSpPr/>
          <p:nvPr/>
        </p:nvSpPr>
        <p:spPr>
          <a:xfrm>
            <a:off x="822960" y="2130552"/>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249424"/>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2"/>
              </a:rPr>
              <a:t>SCRUM-117</a:t>
            </a:r>
          </a:p>
        </p:txBody>
      </p:sp>
      <p:sp>
        <p:nvSpPr>
          <p:cNvPr id="10" name="TextBox 9"/>
          <p:cNvSpPr txBox="1"/>
          <p:nvPr/>
        </p:nvSpPr>
        <p:spPr>
          <a:xfrm>
            <a:off x="2350008" y="2221992"/>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Sub-Process 2.1: Map Initialization, Viewport &amp; Geolocation Flowchart</a:t>
            </a:r>
          </a:p>
        </p:txBody>
      </p:sp>
      <p:sp>
        <p:nvSpPr>
          <p:cNvPr id="11" name="TextBox 10"/>
          <p:cNvSpPr txBox="1"/>
          <p:nvPr/>
        </p:nvSpPr>
        <p:spPr>
          <a:xfrm>
            <a:off x="10021824" y="2286000"/>
            <a:ext cx="1124712" cy="228600"/>
          </a:xfrm>
          <a:prstGeom prst="rect">
            <a:avLst/>
          </a:prstGeom>
          <a:noFill/>
        </p:spPr>
        <p:txBody>
          <a:bodyPr wrap="square" lIns="18288" rIns="18288" tIns="9144" bIns="9144">
            <a:spAutoFit/>
          </a:bodyPr>
          <a:lstStyle/>
          <a:p>
            <a:pPr>
              <a:defRPr sz="1000" b="1">
                <a:solidFill>
                  <a:srgbClr val="087E74"/>
                </a:solidFill>
                <a:latin typeface="Aptos"/>
              </a:defRPr>
            </a:pPr>
            <a:r>
              <a:t>DONE</a:t>
            </a:r>
          </a:p>
        </p:txBody>
      </p:sp>
      <p:sp>
        <p:nvSpPr>
          <p:cNvPr id="12" name="Rounded Rectangle 11"/>
          <p:cNvSpPr/>
          <p:nvPr/>
        </p:nvSpPr>
        <p:spPr>
          <a:xfrm>
            <a:off x="822960" y="2788920"/>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8" y="2907791"/>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3"/>
              </a:rPr>
              <a:t>SCRUM-118</a:t>
            </a:r>
          </a:p>
        </p:txBody>
      </p:sp>
      <p:sp>
        <p:nvSpPr>
          <p:cNvPr id="14" name="TextBox 13"/>
          <p:cNvSpPr txBox="1"/>
          <p:nvPr/>
        </p:nvSpPr>
        <p:spPr>
          <a:xfrm>
            <a:off x="2350008" y="2880360"/>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Sub-Process 2.2: Spatial Search, Landmark Auto-Suggest &amp; PostGIS Query Flowchart</a:t>
            </a:r>
          </a:p>
        </p:txBody>
      </p:sp>
      <p:sp>
        <p:nvSpPr>
          <p:cNvPr id="15" name="TextBox 14"/>
          <p:cNvSpPr txBox="1"/>
          <p:nvPr/>
        </p:nvSpPr>
        <p:spPr>
          <a:xfrm>
            <a:off x="10021824" y="2944368"/>
            <a:ext cx="1124712" cy="228600"/>
          </a:xfrm>
          <a:prstGeom prst="rect">
            <a:avLst/>
          </a:prstGeom>
          <a:noFill/>
        </p:spPr>
        <p:txBody>
          <a:bodyPr wrap="square" lIns="18288" rIns="18288" tIns="9144" bIns="9144">
            <a:spAutoFit/>
          </a:bodyPr>
          <a:lstStyle/>
          <a:p>
            <a:pPr>
              <a:defRPr sz="1000" b="1">
                <a:solidFill>
                  <a:srgbClr val="087E74"/>
                </a:solidFill>
                <a:latin typeface="Aptos"/>
              </a:defRPr>
            </a:pPr>
            <a:r>
              <a:t>DONE</a:t>
            </a:r>
          </a:p>
        </p:txBody>
      </p:sp>
      <p:sp>
        <p:nvSpPr>
          <p:cNvPr id="16" name="Rounded Rectangle 15"/>
          <p:cNvSpPr/>
          <p:nvPr/>
        </p:nvSpPr>
        <p:spPr>
          <a:xfrm>
            <a:off x="822960" y="3447288"/>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4128" y="3566160"/>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4"/>
              </a:rPr>
              <a:t>SCRUM-119</a:t>
            </a:r>
          </a:p>
        </p:txBody>
      </p:sp>
      <p:sp>
        <p:nvSpPr>
          <p:cNvPr id="18" name="TextBox 17"/>
          <p:cNvSpPr txBox="1"/>
          <p:nvPr/>
        </p:nvSpPr>
        <p:spPr>
          <a:xfrm>
            <a:off x="2350008" y="3538728"/>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Sub-Process 2.3: Multi-Criteria Filter Pills &amp; URL State Sync Flowchart</a:t>
            </a:r>
          </a:p>
        </p:txBody>
      </p:sp>
      <p:sp>
        <p:nvSpPr>
          <p:cNvPr id="19" name="TextBox 18"/>
          <p:cNvSpPr txBox="1"/>
          <p:nvPr/>
        </p:nvSpPr>
        <p:spPr>
          <a:xfrm>
            <a:off x="10021824" y="3602736"/>
            <a:ext cx="1124712" cy="228600"/>
          </a:xfrm>
          <a:prstGeom prst="rect">
            <a:avLst/>
          </a:prstGeom>
          <a:noFill/>
        </p:spPr>
        <p:txBody>
          <a:bodyPr wrap="square" lIns="18288" rIns="18288" tIns="9144" bIns="9144">
            <a:spAutoFit/>
          </a:bodyPr>
          <a:lstStyle/>
          <a:p>
            <a:pPr>
              <a:defRPr sz="1000" b="1">
                <a:solidFill>
                  <a:srgbClr val="087E74"/>
                </a:solidFill>
                <a:latin typeface="Aptos"/>
              </a:defRPr>
            </a:pPr>
            <a:r>
              <a:t>DONE</a:t>
            </a:r>
          </a:p>
        </p:txBody>
      </p:sp>
      <p:sp>
        <p:nvSpPr>
          <p:cNvPr id="20" name="Rounded Rectangle 19"/>
          <p:cNvSpPr/>
          <p:nvPr/>
        </p:nvSpPr>
        <p:spPr>
          <a:xfrm>
            <a:off x="822960" y="4105656"/>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24128" y="4224528"/>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5"/>
              </a:rPr>
              <a:t>SCRUM-120</a:t>
            </a:r>
          </a:p>
        </p:txBody>
      </p:sp>
      <p:sp>
        <p:nvSpPr>
          <p:cNvPr id="22" name="TextBox 21"/>
          <p:cNvSpPr txBox="1"/>
          <p:nvPr/>
        </p:nvSpPr>
        <p:spPr>
          <a:xfrm>
            <a:off x="2350008" y="4197096"/>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Sub-Process 2.4: Bidirectional Pin Marker &amp; 3-Snap Gesture Drawer Flowchart</a:t>
            </a:r>
          </a:p>
        </p:txBody>
      </p:sp>
      <p:sp>
        <p:nvSpPr>
          <p:cNvPr id="23" name="TextBox 22"/>
          <p:cNvSpPr txBox="1"/>
          <p:nvPr/>
        </p:nvSpPr>
        <p:spPr>
          <a:xfrm>
            <a:off x="10021824" y="4261104"/>
            <a:ext cx="1124712" cy="228600"/>
          </a:xfrm>
          <a:prstGeom prst="rect">
            <a:avLst/>
          </a:prstGeom>
          <a:noFill/>
        </p:spPr>
        <p:txBody>
          <a:bodyPr wrap="square" lIns="18288" rIns="18288" tIns="9144" bIns="9144">
            <a:spAutoFit/>
          </a:bodyPr>
          <a:lstStyle/>
          <a:p>
            <a:pPr>
              <a:defRPr sz="1000" b="1">
                <a:solidFill>
                  <a:srgbClr val="087E74"/>
                </a:solidFill>
                <a:latin typeface="Aptos"/>
              </a:defRPr>
            </a:pPr>
            <a:r>
              <a:t>DONE</a:t>
            </a:r>
          </a:p>
        </p:txBody>
      </p:sp>
      <p:sp>
        <p:nvSpPr>
          <p:cNvPr id="24" name="Rounded Rectangle 23"/>
          <p:cNvSpPr/>
          <p:nvPr/>
        </p:nvSpPr>
        <p:spPr>
          <a:xfrm>
            <a:off x="822960" y="4764024"/>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24128" y="4882896"/>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6"/>
              </a:rPr>
              <a:t>SCRUM-122</a:t>
            </a:r>
          </a:p>
        </p:txBody>
      </p:sp>
      <p:sp>
        <p:nvSpPr>
          <p:cNvPr id="26" name="TextBox 25"/>
          <p:cNvSpPr txBox="1"/>
          <p:nvPr/>
        </p:nvSpPr>
        <p:spPr>
          <a:xfrm>
            <a:off x="2350008" y="4855464"/>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FUNCTION SPECIFICATION DOCUMENT FOR ABANG CEBU</a:t>
            </a:r>
          </a:p>
        </p:txBody>
      </p:sp>
      <p:sp>
        <p:nvSpPr>
          <p:cNvPr id="27" name="TextBox 26"/>
          <p:cNvSpPr txBox="1"/>
          <p:nvPr/>
        </p:nvSpPr>
        <p:spPr>
          <a:xfrm>
            <a:off x="10021824" y="4919472"/>
            <a:ext cx="1124712" cy="228600"/>
          </a:xfrm>
          <a:prstGeom prst="rect">
            <a:avLst/>
          </a:prstGeom>
          <a:noFill/>
        </p:spPr>
        <p:txBody>
          <a:bodyPr wrap="square" lIns="18288" rIns="18288" tIns="9144" bIns="9144">
            <a:spAutoFit/>
          </a:bodyPr>
          <a:lstStyle/>
          <a:p>
            <a:pPr>
              <a:defRPr sz="1000" b="1">
                <a:solidFill>
                  <a:srgbClr val="087E74"/>
                </a:solidFill>
                <a:latin typeface="Aptos"/>
              </a:defRPr>
            </a:pPr>
            <a:r>
              <a:t>DONE</a:t>
            </a:r>
          </a:p>
        </p:txBody>
      </p:sp>
      <p:sp>
        <p:nvSpPr>
          <p:cNvPr id="28" name="Rounded Rectangle 27"/>
          <p:cNvSpPr/>
          <p:nvPr/>
        </p:nvSpPr>
        <p:spPr>
          <a:xfrm>
            <a:off x="822960" y="5422392"/>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4128" y="5541264"/>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7"/>
              </a:rPr>
              <a:t>SCRUM-125</a:t>
            </a:r>
          </a:p>
        </p:txBody>
      </p:sp>
      <p:sp>
        <p:nvSpPr>
          <p:cNvPr id="30" name="TextBox 29"/>
          <p:cNvSpPr txBox="1"/>
          <p:nvPr/>
        </p:nvSpPr>
        <p:spPr>
          <a:xfrm>
            <a:off x="2350008" y="5513831"/>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Module 3: Landlord Onboarding &amp; Listing Management Flowcharts</a:t>
            </a:r>
          </a:p>
        </p:txBody>
      </p:sp>
      <p:sp>
        <p:nvSpPr>
          <p:cNvPr id="31" name="TextBox 30"/>
          <p:cNvSpPr txBox="1"/>
          <p:nvPr/>
        </p:nvSpPr>
        <p:spPr>
          <a:xfrm>
            <a:off x="10021824" y="5577840"/>
            <a:ext cx="1124712" cy="228600"/>
          </a:xfrm>
          <a:prstGeom prst="rect">
            <a:avLst/>
          </a:prstGeom>
          <a:noFill/>
        </p:spPr>
        <p:txBody>
          <a:bodyPr wrap="square" lIns="18288" rIns="18288" tIns="9144" bIns="9144">
            <a:spAutoFit/>
          </a:bodyPr>
          <a:lstStyle/>
          <a:p>
            <a:pPr>
              <a:defRPr sz="1000" b="1">
                <a:solidFill>
                  <a:srgbClr val="B26B13"/>
                </a:solidFill>
                <a:latin typeface="Aptos"/>
              </a:defRPr>
            </a:pPr>
            <a:r>
              <a:t>IN DEV</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8F6"/>
        </a:solidFill>
        <a:effectLst/>
      </p:bgPr>
    </p:bg>
    <p:spTree>
      <p:nvGrpSpPr>
        <p:cNvPr id="1" name=""/>
        <p:cNvGrpSpPr/>
        <p:nvPr/>
      </p:nvGrpSpPr>
      <p:grpSpPr/>
      <p:sp>
        <p:nvSpPr>
          <p:cNvPr id="2" name="Rectangle 1"/>
          <p:cNvSpPr/>
          <p:nvPr/>
        </p:nvSpPr>
        <p:spPr>
          <a:xfrm>
            <a:off x="585216" y="484632"/>
            <a:ext cx="64008" cy="429768"/>
          </a:xfrm>
          <a:prstGeom prst="rect">
            <a:avLst/>
          </a:prstGeom>
          <a:solidFill>
            <a:srgbClr val="087E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30352"/>
            <a:ext cx="10058400" cy="256032"/>
          </a:xfrm>
          <a:prstGeom prst="rect">
            <a:avLst/>
          </a:prstGeom>
          <a:noFill/>
        </p:spPr>
        <p:txBody>
          <a:bodyPr wrap="square" lIns="18288" rIns="18288" tIns="9144" bIns="9144">
            <a:spAutoFit/>
          </a:bodyPr>
          <a:lstStyle/>
          <a:p>
            <a:pPr>
              <a:defRPr sz="1100" b="1">
                <a:solidFill>
                  <a:srgbClr val="087E74"/>
                </a:solidFill>
                <a:latin typeface="Aptos"/>
              </a:defRPr>
            </a:pPr>
            <a:r>
              <a:t>INVENTORY / SPRINT 2</a:t>
            </a:r>
          </a:p>
        </p:txBody>
      </p:sp>
      <p:sp>
        <p:nvSpPr>
          <p:cNvPr id="4" name="TextBox 3"/>
          <p:cNvSpPr txBox="1"/>
          <p:nvPr/>
        </p:nvSpPr>
        <p:spPr>
          <a:xfrm>
            <a:off x="822960" y="932688"/>
            <a:ext cx="10789920" cy="804672"/>
          </a:xfrm>
          <a:prstGeom prst="rect">
            <a:avLst/>
          </a:prstGeom>
          <a:noFill/>
        </p:spPr>
        <p:txBody>
          <a:bodyPr wrap="square" lIns="18288" rIns="18288" tIns="9144" bIns="9144">
            <a:spAutoFit/>
          </a:bodyPr>
          <a:lstStyle/>
          <a:p>
            <a:pPr>
              <a:defRPr sz="3100" b="1">
                <a:solidFill>
                  <a:srgbClr val="153036"/>
                </a:solidFill>
                <a:latin typeface="Aptos"/>
              </a:defRPr>
            </a:pPr>
            <a:r>
              <a:t>Sprint 2 · ticket register</a:t>
            </a:r>
          </a:p>
        </p:txBody>
      </p:sp>
      <p:sp>
        <p:nvSpPr>
          <p:cNvPr id="5" name="TextBox 4"/>
          <p:cNvSpPr txBox="1"/>
          <p:nvPr/>
        </p:nvSpPr>
        <p:spPr>
          <a:xfrm>
            <a:off x="822960" y="1819656"/>
            <a:ext cx="10698480" cy="265176"/>
          </a:xfrm>
          <a:prstGeom prst="rect">
            <a:avLst/>
          </a:prstGeom>
          <a:noFill/>
        </p:spPr>
        <p:txBody>
          <a:bodyPr wrap="square" lIns="18288" rIns="18288" tIns="9144" bIns="9144">
            <a:spAutoFit/>
          </a:bodyPr>
          <a:lstStyle/>
          <a:p>
            <a:pPr>
              <a:defRPr sz="1300" b="0">
                <a:solidFill>
                  <a:srgbClr val="556B75"/>
                </a:solidFill>
                <a:latin typeface="Aptos"/>
              </a:defRPr>
            </a:pPr>
            <a:r>
              <a:t>19–20 of 20  /  appendix page 4 of 4</a:t>
            </a:r>
          </a:p>
        </p:txBody>
      </p:sp>
      <p:sp>
        <p:nvSpPr>
          <p:cNvPr id="6" name="Rectangle 5"/>
          <p:cNvSpPr/>
          <p:nvPr/>
        </p:nvSpPr>
        <p:spPr>
          <a:xfrm>
            <a:off x="822960" y="6345936"/>
            <a:ext cx="10561320" cy="13716"/>
          </a:xfrm>
          <a:prstGeom prst="rect">
            <a:avLst/>
          </a:prstGeom>
          <a:solidFill>
            <a:srgbClr val="D8E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428232"/>
            <a:ext cx="10789920" cy="237744"/>
          </a:xfrm>
          <a:prstGeom prst="rect">
            <a:avLst/>
          </a:prstGeom>
          <a:noFill/>
        </p:spPr>
        <p:txBody>
          <a:bodyPr wrap="square" lIns="18288" rIns="18288" tIns="9144" bIns="9144">
            <a:spAutoFit/>
          </a:bodyPr>
          <a:lstStyle/>
          <a:p>
            <a:pPr>
              <a:defRPr sz="900" b="0">
                <a:solidFill>
                  <a:srgbClr val="556B75"/>
                </a:solidFill>
                <a:latin typeface="Aptos"/>
              </a:defRPr>
            </a:pPr>
            <a:r>
              <a:t>ABANG CEBU AI  /  JIRA SNAPSHOT 16 OCT 2026                                          20</a:t>
            </a:r>
          </a:p>
        </p:txBody>
      </p:sp>
      <p:sp>
        <p:nvSpPr>
          <p:cNvPr id="8" name="Rounded Rectangle 7"/>
          <p:cNvSpPr/>
          <p:nvPr/>
        </p:nvSpPr>
        <p:spPr>
          <a:xfrm>
            <a:off x="822960" y="2130552"/>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249424"/>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2"/>
              </a:rPr>
              <a:t>SCRUM-126</a:t>
            </a:r>
          </a:p>
        </p:txBody>
      </p:sp>
      <p:sp>
        <p:nvSpPr>
          <p:cNvPr id="10" name="TextBox 9"/>
          <p:cNvSpPr txBox="1"/>
          <p:nvPr/>
        </p:nvSpPr>
        <p:spPr>
          <a:xfrm>
            <a:off x="2350008" y="2221992"/>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Module 4: Admin KYC Verification &amp; Listing Moderation Flowcharts</a:t>
            </a:r>
          </a:p>
        </p:txBody>
      </p:sp>
      <p:sp>
        <p:nvSpPr>
          <p:cNvPr id="11" name="TextBox 10"/>
          <p:cNvSpPr txBox="1"/>
          <p:nvPr/>
        </p:nvSpPr>
        <p:spPr>
          <a:xfrm>
            <a:off x="10021824" y="2286000"/>
            <a:ext cx="1124712" cy="228600"/>
          </a:xfrm>
          <a:prstGeom prst="rect">
            <a:avLst/>
          </a:prstGeom>
          <a:noFill/>
        </p:spPr>
        <p:txBody>
          <a:bodyPr wrap="square" lIns="18288" rIns="18288" tIns="9144" bIns="9144">
            <a:spAutoFit/>
          </a:bodyPr>
          <a:lstStyle/>
          <a:p>
            <a:pPr>
              <a:defRPr sz="1000" b="1">
                <a:solidFill>
                  <a:srgbClr val="B26B13"/>
                </a:solidFill>
                <a:latin typeface="Aptos"/>
              </a:defRPr>
            </a:pPr>
            <a:r>
              <a:t>IN DEV</a:t>
            </a:r>
          </a:p>
        </p:txBody>
      </p:sp>
      <p:sp>
        <p:nvSpPr>
          <p:cNvPr id="12" name="Rounded Rectangle 11"/>
          <p:cNvSpPr/>
          <p:nvPr/>
        </p:nvSpPr>
        <p:spPr>
          <a:xfrm>
            <a:off x="822960" y="2788920"/>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8" y="2907791"/>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3"/>
              </a:rPr>
              <a:t>SCRUM-127</a:t>
            </a:r>
          </a:p>
        </p:txBody>
      </p:sp>
      <p:sp>
        <p:nvSpPr>
          <p:cNvPr id="14" name="TextBox 13"/>
          <p:cNvSpPr txBox="1"/>
          <p:nvPr/>
        </p:nvSpPr>
        <p:spPr>
          <a:xfrm>
            <a:off x="2350008" y="2880360"/>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Module 5: Renter Favorites, Contact &amp; Viewing Inquiry Flowcharts</a:t>
            </a:r>
          </a:p>
        </p:txBody>
      </p:sp>
      <p:sp>
        <p:nvSpPr>
          <p:cNvPr id="15" name="TextBox 14"/>
          <p:cNvSpPr txBox="1"/>
          <p:nvPr/>
        </p:nvSpPr>
        <p:spPr>
          <a:xfrm>
            <a:off x="10021824" y="2944368"/>
            <a:ext cx="1124712" cy="228600"/>
          </a:xfrm>
          <a:prstGeom prst="rect">
            <a:avLst/>
          </a:prstGeom>
          <a:noFill/>
        </p:spPr>
        <p:txBody>
          <a:bodyPr wrap="square" lIns="18288" rIns="18288" tIns="9144" bIns="9144">
            <a:spAutoFit/>
          </a:bodyPr>
          <a:lstStyle/>
          <a:p>
            <a:pPr>
              <a:defRPr sz="1000" b="1">
                <a:solidFill>
                  <a:srgbClr val="B26B13"/>
                </a:solidFill>
                <a:latin typeface="Aptos"/>
              </a:defRPr>
            </a:pPr>
            <a:r>
              <a:t>IN DEV</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02D33"/>
        </a:solidFill>
        <a:effectLst/>
      </p:bgPr>
    </p:bg>
    <p:spTree>
      <p:nvGrpSpPr>
        <p:cNvPr id="1" name=""/>
        <p:cNvGrpSpPr/>
        <p:nvPr/>
      </p:nvGrpSpPr>
      <p:grpSpPr/>
      <p:sp>
        <p:nvSpPr>
          <p:cNvPr id="2" name="Rectangle 1"/>
          <p:cNvSpPr/>
          <p:nvPr/>
        </p:nvSpPr>
        <p:spPr>
          <a:xfrm>
            <a:off x="585216" y="484632"/>
            <a:ext cx="64008" cy="429768"/>
          </a:xfrm>
          <a:prstGeom prst="rect">
            <a:avLst/>
          </a:prstGeom>
          <a:solidFill>
            <a:srgbClr val="43D2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30352"/>
            <a:ext cx="10058400" cy="256032"/>
          </a:xfrm>
          <a:prstGeom prst="rect">
            <a:avLst/>
          </a:prstGeom>
          <a:noFill/>
        </p:spPr>
        <p:txBody>
          <a:bodyPr wrap="square" lIns="18288" rIns="18288" tIns="9144" bIns="9144">
            <a:spAutoFit/>
          </a:bodyPr>
          <a:lstStyle/>
          <a:p>
            <a:pPr>
              <a:defRPr sz="1100" b="1">
                <a:solidFill>
                  <a:srgbClr val="70EBD1"/>
                </a:solidFill>
                <a:latin typeface="Aptos"/>
              </a:defRPr>
            </a:pPr>
            <a:r>
              <a:t>SPRINT 3 / FUTURE</a:t>
            </a:r>
          </a:p>
        </p:txBody>
      </p:sp>
      <p:sp>
        <p:nvSpPr>
          <p:cNvPr id="4" name="TextBox 3"/>
          <p:cNvSpPr txBox="1"/>
          <p:nvPr/>
        </p:nvSpPr>
        <p:spPr>
          <a:xfrm>
            <a:off x="822960" y="932688"/>
            <a:ext cx="10789920" cy="804672"/>
          </a:xfrm>
          <a:prstGeom prst="rect">
            <a:avLst/>
          </a:prstGeom>
          <a:noFill/>
        </p:spPr>
        <p:txBody>
          <a:bodyPr wrap="square" lIns="18288" rIns="18288" tIns="9144" bIns="9144">
            <a:spAutoFit/>
          </a:bodyPr>
          <a:lstStyle/>
          <a:p>
            <a:pPr>
              <a:defRPr sz="3100" b="1">
                <a:solidFill>
                  <a:srgbClr val="FFFFFF"/>
                </a:solidFill>
                <a:latin typeface="Aptos"/>
              </a:defRPr>
            </a:pPr>
            <a:r>
              <a:t>Build, then verify</a:t>
            </a:r>
          </a:p>
        </p:txBody>
      </p:sp>
      <p:sp>
        <p:nvSpPr>
          <p:cNvPr id="5" name="TextBox 4"/>
          <p:cNvSpPr txBox="1"/>
          <p:nvPr/>
        </p:nvSpPr>
        <p:spPr>
          <a:xfrm>
            <a:off x="822960" y="1819656"/>
            <a:ext cx="10698480" cy="265176"/>
          </a:xfrm>
          <a:prstGeom prst="rect">
            <a:avLst/>
          </a:prstGeom>
          <a:noFill/>
        </p:spPr>
        <p:txBody>
          <a:bodyPr wrap="square" lIns="18288" rIns="18288" tIns="9144" bIns="9144">
            <a:spAutoFit/>
          </a:bodyPr>
          <a:lstStyle/>
          <a:p>
            <a:pPr>
              <a:defRPr sz="1300" b="0">
                <a:solidFill>
                  <a:srgbClr val="BDD7D6"/>
                </a:solidFill>
                <a:latin typeface="Aptos"/>
              </a:defRPr>
            </a:pPr>
            <a:r>
              <a:t>No Jira start/end dates</a:t>
            </a:r>
          </a:p>
        </p:txBody>
      </p:sp>
      <p:sp>
        <p:nvSpPr>
          <p:cNvPr id="6" name="Rectangle 5"/>
          <p:cNvSpPr/>
          <p:nvPr/>
        </p:nvSpPr>
        <p:spPr>
          <a:xfrm>
            <a:off x="822960" y="6345936"/>
            <a:ext cx="10561320" cy="13716"/>
          </a:xfrm>
          <a:prstGeom prst="rect">
            <a:avLst/>
          </a:prstGeom>
          <a:solidFill>
            <a:srgbClr val="556B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428232"/>
            <a:ext cx="10789920" cy="237744"/>
          </a:xfrm>
          <a:prstGeom prst="rect">
            <a:avLst/>
          </a:prstGeom>
          <a:noFill/>
        </p:spPr>
        <p:txBody>
          <a:bodyPr wrap="square" lIns="18288" rIns="18288" tIns="9144" bIns="9144">
            <a:spAutoFit/>
          </a:bodyPr>
          <a:lstStyle/>
          <a:p>
            <a:pPr>
              <a:defRPr sz="900" b="0">
                <a:solidFill>
                  <a:srgbClr val="BCD8D6"/>
                </a:solidFill>
                <a:latin typeface="Aptos"/>
              </a:defRPr>
            </a:pPr>
            <a:r>
              <a:t>ABANG CEBU AI  /  JIRA SNAPSHOT 16 OCT 2026                                          21</a:t>
            </a:r>
          </a:p>
        </p:txBody>
      </p:sp>
      <p:sp>
        <p:nvSpPr>
          <p:cNvPr id="8" name="TextBox 7"/>
          <p:cNvSpPr txBox="1"/>
          <p:nvPr/>
        </p:nvSpPr>
        <p:spPr>
          <a:xfrm>
            <a:off x="914400" y="2331720"/>
            <a:ext cx="2743200" cy="1051560"/>
          </a:xfrm>
          <a:prstGeom prst="rect">
            <a:avLst/>
          </a:prstGeom>
          <a:noFill/>
        </p:spPr>
        <p:txBody>
          <a:bodyPr wrap="square" lIns="18288" rIns="18288" tIns="9144" bIns="9144">
            <a:spAutoFit/>
          </a:bodyPr>
          <a:lstStyle/>
          <a:p>
            <a:pPr>
              <a:defRPr sz="6200" b="1">
                <a:solidFill>
                  <a:srgbClr val="FFFFFF"/>
                </a:solidFill>
                <a:latin typeface="Aptos"/>
              </a:defRPr>
            </a:pPr>
            <a:r>
              <a:t>35</a:t>
            </a:r>
          </a:p>
        </p:txBody>
      </p:sp>
      <p:sp>
        <p:nvSpPr>
          <p:cNvPr id="9" name="TextBox 8"/>
          <p:cNvSpPr txBox="1"/>
          <p:nvPr/>
        </p:nvSpPr>
        <p:spPr>
          <a:xfrm>
            <a:off x="914400" y="3383280"/>
            <a:ext cx="3657600" cy="365760"/>
          </a:xfrm>
          <a:prstGeom prst="rect">
            <a:avLst/>
          </a:prstGeom>
          <a:noFill/>
        </p:spPr>
        <p:txBody>
          <a:bodyPr wrap="square" lIns="18288" rIns="18288" tIns="9144" bIns="9144">
            <a:spAutoFit/>
          </a:bodyPr>
          <a:lstStyle/>
          <a:p>
            <a:pPr>
              <a:defRPr sz="2000" b="0">
                <a:solidFill>
                  <a:srgbClr val="BAD6D3"/>
                </a:solidFill>
                <a:latin typeface="Aptos"/>
              </a:defRPr>
            </a:pPr>
            <a:r>
              <a:t>tickets in sprint</a:t>
            </a:r>
          </a:p>
        </p:txBody>
      </p:sp>
      <p:sp>
        <p:nvSpPr>
          <p:cNvPr id="10" name="TextBox 9"/>
          <p:cNvSpPr txBox="1"/>
          <p:nvPr/>
        </p:nvSpPr>
        <p:spPr>
          <a:xfrm>
            <a:off x="4800600" y="2304288"/>
            <a:ext cx="1828800" cy="822960"/>
          </a:xfrm>
          <a:prstGeom prst="rect">
            <a:avLst/>
          </a:prstGeom>
          <a:noFill/>
        </p:spPr>
        <p:txBody>
          <a:bodyPr wrap="square" lIns="18288" rIns="18288" tIns="9144" bIns="9144">
            <a:spAutoFit/>
          </a:bodyPr>
          <a:lstStyle/>
          <a:p>
            <a:pPr>
              <a:defRPr sz="5000" b="1">
                <a:solidFill>
                  <a:srgbClr val="A9BCC3"/>
                </a:solidFill>
                <a:latin typeface="Aptos"/>
              </a:defRPr>
            </a:pPr>
            <a:r>
              <a:t>35</a:t>
            </a:r>
          </a:p>
        </p:txBody>
      </p:sp>
      <p:sp>
        <p:nvSpPr>
          <p:cNvPr id="11" name="TextBox 10"/>
          <p:cNvSpPr txBox="1"/>
          <p:nvPr/>
        </p:nvSpPr>
        <p:spPr>
          <a:xfrm>
            <a:off x="4800600" y="3145536"/>
            <a:ext cx="2468880" cy="548640"/>
          </a:xfrm>
          <a:prstGeom prst="rect">
            <a:avLst/>
          </a:prstGeom>
          <a:noFill/>
        </p:spPr>
        <p:txBody>
          <a:bodyPr wrap="square" lIns="18288" rIns="18288" tIns="9144" bIns="9144">
            <a:spAutoFit/>
          </a:bodyPr>
          <a:lstStyle/>
          <a:p>
            <a:pPr>
              <a:defRPr sz="1700" b="1">
                <a:solidFill>
                  <a:srgbClr val="FFFFFF"/>
                </a:solidFill>
                <a:latin typeface="Aptos"/>
              </a:defRPr>
            </a:pPr>
            <a:r>
              <a:t>Ready</a:t>
            </a:r>
          </a:p>
        </p:txBody>
      </p:sp>
      <p:sp>
        <p:nvSpPr>
          <p:cNvPr id="12" name="TextBox 11"/>
          <p:cNvSpPr txBox="1"/>
          <p:nvPr/>
        </p:nvSpPr>
        <p:spPr>
          <a:xfrm>
            <a:off x="914400" y="5020056"/>
            <a:ext cx="9144000" cy="457200"/>
          </a:xfrm>
          <a:prstGeom prst="rect">
            <a:avLst/>
          </a:prstGeom>
          <a:noFill/>
        </p:spPr>
        <p:txBody>
          <a:bodyPr wrap="square" lIns="18288" rIns="18288" tIns="9144" bIns="9144">
            <a:spAutoFit/>
          </a:bodyPr>
          <a:lstStyle/>
          <a:p>
            <a:pPr>
              <a:defRPr sz="1700" b="0">
                <a:solidFill>
                  <a:srgbClr val="BAD6D3"/>
                </a:solidFill>
                <a:latin typeface="Aptos"/>
              </a:defRPr>
            </a:pPr>
            <a:r>
              <a:t>Jira status ≠ independent acceptance or implementation audit.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8F6"/>
        </a:solidFill>
        <a:effectLst/>
      </p:bgPr>
    </p:bg>
    <p:spTree>
      <p:nvGrpSpPr>
        <p:cNvPr id="1" name=""/>
        <p:cNvGrpSpPr/>
        <p:nvPr/>
      </p:nvGrpSpPr>
      <p:grpSpPr/>
      <p:sp>
        <p:nvSpPr>
          <p:cNvPr id="2" name="Rectangle 1"/>
          <p:cNvSpPr/>
          <p:nvPr/>
        </p:nvSpPr>
        <p:spPr>
          <a:xfrm>
            <a:off x="585216" y="484632"/>
            <a:ext cx="64008" cy="429768"/>
          </a:xfrm>
          <a:prstGeom prst="rect">
            <a:avLst/>
          </a:prstGeom>
          <a:solidFill>
            <a:srgbClr val="087E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30352"/>
            <a:ext cx="10058400" cy="256032"/>
          </a:xfrm>
          <a:prstGeom prst="rect">
            <a:avLst/>
          </a:prstGeom>
          <a:noFill/>
        </p:spPr>
        <p:txBody>
          <a:bodyPr wrap="square" lIns="18288" rIns="18288" tIns="9144" bIns="9144">
            <a:spAutoFit/>
          </a:bodyPr>
          <a:lstStyle/>
          <a:p>
            <a:pPr>
              <a:defRPr sz="1100" b="1">
                <a:solidFill>
                  <a:srgbClr val="087E74"/>
                </a:solidFill>
                <a:latin typeface="Aptos"/>
              </a:defRPr>
            </a:pPr>
            <a:r>
              <a:t>SPRINT 3 / PLANNED WORK</a:t>
            </a:r>
          </a:p>
        </p:txBody>
      </p:sp>
      <p:sp>
        <p:nvSpPr>
          <p:cNvPr id="4" name="TextBox 3"/>
          <p:cNvSpPr txBox="1"/>
          <p:nvPr/>
        </p:nvSpPr>
        <p:spPr>
          <a:xfrm>
            <a:off x="822960" y="932688"/>
            <a:ext cx="10789920" cy="804672"/>
          </a:xfrm>
          <a:prstGeom prst="rect">
            <a:avLst/>
          </a:prstGeom>
          <a:noFill/>
        </p:spPr>
        <p:txBody>
          <a:bodyPr wrap="square" lIns="18288" rIns="18288" tIns="9144" bIns="9144">
            <a:spAutoFit/>
          </a:bodyPr>
          <a:lstStyle/>
          <a:p>
            <a:pPr>
              <a:defRPr sz="3100" b="1">
                <a:solidFill>
                  <a:srgbClr val="153036"/>
                </a:solidFill>
                <a:latin typeface="Aptos"/>
              </a:defRPr>
            </a:pPr>
            <a:r>
              <a:t>Implementation has not started in Jira</a:t>
            </a:r>
          </a:p>
        </p:txBody>
      </p:sp>
      <p:sp>
        <p:nvSpPr>
          <p:cNvPr id="5" name="TextBox 4"/>
          <p:cNvSpPr txBox="1"/>
          <p:nvPr/>
        </p:nvSpPr>
        <p:spPr>
          <a:xfrm>
            <a:off x="822960" y="1819656"/>
            <a:ext cx="10698480" cy="265176"/>
          </a:xfrm>
          <a:prstGeom prst="rect">
            <a:avLst/>
          </a:prstGeom>
          <a:noFill/>
        </p:spPr>
        <p:txBody>
          <a:bodyPr wrap="square" lIns="18288" rIns="18288" tIns="9144" bIns="9144">
            <a:spAutoFit/>
          </a:bodyPr>
          <a:lstStyle/>
          <a:p>
            <a:pPr>
              <a:defRPr sz="1300" b="0">
                <a:solidFill>
                  <a:srgbClr val="556B75"/>
                </a:solidFill>
                <a:latin typeface="Aptos"/>
              </a:defRPr>
            </a:pPr>
            <a:r>
              <a:t>35 tickets Ready; 0 Done. No Jira start or end date recorded.</a:t>
            </a:r>
          </a:p>
        </p:txBody>
      </p:sp>
      <p:sp>
        <p:nvSpPr>
          <p:cNvPr id="6" name="Rectangle 5"/>
          <p:cNvSpPr/>
          <p:nvPr/>
        </p:nvSpPr>
        <p:spPr>
          <a:xfrm>
            <a:off x="822960" y="6345936"/>
            <a:ext cx="10561320" cy="13716"/>
          </a:xfrm>
          <a:prstGeom prst="rect">
            <a:avLst/>
          </a:prstGeom>
          <a:solidFill>
            <a:srgbClr val="D8E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428232"/>
            <a:ext cx="10789920" cy="237744"/>
          </a:xfrm>
          <a:prstGeom prst="rect">
            <a:avLst/>
          </a:prstGeom>
          <a:noFill/>
        </p:spPr>
        <p:txBody>
          <a:bodyPr wrap="square" lIns="18288" rIns="18288" tIns="9144" bIns="9144">
            <a:spAutoFit/>
          </a:bodyPr>
          <a:lstStyle/>
          <a:p>
            <a:pPr>
              <a:defRPr sz="900" b="0">
                <a:solidFill>
                  <a:srgbClr val="556B75"/>
                </a:solidFill>
                <a:latin typeface="Aptos"/>
              </a:defRPr>
            </a:pPr>
            <a:r>
              <a:t>ABANG CEBU AI  /  JIRA SNAPSHOT 16 OCT 2026                                          22</a:t>
            </a:r>
          </a:p>
        </p:txBody>
      </p:sp>
      <p:sp>
        <p:nvSpPr>
          <p:cNvPr id="8" name="Rounded Rectangle 7"/>
          <p:cNvSpPr/>
          <p:nvPr/>
        </p:nvSpPr>
        <p:spPr>
          <a:xfrm>
            <a:off x="822960" y="2331720"/>
            <a:ext cx="10515600" cy="101498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459736"/>
            <a:ext cx="2971800" cy="310896"/>
          </a:xfrm>
          <a:prstGeom prst="rect">
            <a:avLst/>
          </a:prstGeom>
          <a:noFill/>
        </p:spPr>
        <p:txBody>
          <a:bodyPr wrap="square" lIns="18288" rIns="18288" tIns="9144" bIns="9144">
            <a:spAutoFit/>
          </a:bodyPr>
          <a:lstStyle/>
          <a:p>
            <a:pPr>
              <a:defRPr sz="1800" b="1">
                <a:solidFill>
                  <a:srgbClr val="087E74"/>
                </a:solidFill>
                <a:latin typeface="Aptos"/>
              </a:defRPr>
            </a:pPr>
            <a:r>
              <a:t>Platform + data</a:t>
            </a:r>
          </a:p>
        </p:txBody>
      </p:sp>
      <p:sp>
        <p:nvSpPr>
          <p:cNvPr id="10" name="TextBox 9"/>
          <p:cNvSpPr txBox="1"/>
          <p:nvPr/>
        </p:nvSpPr>
        <p:spPr>
          <a:xfrm>
            <a:off x="3886200" y="2450591"/>
            <a:ext cx="7114032" cy="685800"/>
          </a:xfrm>
          <a:prstGeom prst="rect">
            <a:avLst/>
          </a:prstGeom>
          <a:noFill/>
        </p:spPr>
        <p:txBody>
          <a:bodyPr wrap="square" lIns="18288" rIns="18288" tIns="9144" bIns="9144">
            <a:spAutoFit/>
          </a:bodyPr>
          <a:lstStyle/>
          <a:p>
            <a:pPr>
              <a:defRPr sz="1700" b="0">
                <a:solidFill>
                  <a:srgbClr val="153036"/>
                </a:solidFill>
                <a:latin typeface="Aptos"/>
              </a:defRPr>
            </a:pPr>
            <a:r>
              <a:t>EC2 staging, CI/CD, IAM, monitoring, migrations, RLS and PostGIS.</a:t>
            </a:r>
          </a:p>
        </p:txBody>
      </p:sp>
      <p:sp>
        <p:nvSpPr>
          <p:cNvPr id="11" name="Rounded Rectangle 10"/>
          <p:cNvSpPr/>
          <p:nvPr/>
        </p:nvSpPr>
        <p:spPr>
          <a:xfrm>
            <a:off x="822960" y="3529584"/>
            <a:ext cx="10515600" cy="101498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3657600"/>
            <a:ext cx="2971800" cy="310896"/>
          </a:xfrm>
          <a:prstGeom prst="rect">
            <a:avLst/>
          </a:prstGeom>
          <a:noFill/>
        </p:spPr>
        <p:txBody>
          <a:bodyPr wrap="square" lIns="18288" rIns="18288" tIns="9144" bIns="9144">
            <a:spAutoFit/>
          </a:bodyPr>
          <a:lstStyle/>
          <a:p>
            <a:pPr>
              <a:defRPr sz="1800" b="1">
                <a:solidFill>
                  <a:srgbClr val="087E74"/>
                </a:solidFill>
                <a:latin typeface="Aptos"/>
              </a:defRPr>
            </a:pPr>
            <a:r>
              <a:t>Application</a:t>
            </a:r>
          </a:p>
        </p:txBody>
      </p:sp>
      <p:sp>
        <p:nvSpPr>
          <p:cNvPr id="13" name="TextBox 12"/>
          <p:cNvSpPr txBox="1"/>
          <p:nvPr/>
        </p:nvSpPr>
        <p:spPr>
          <a:xfrm>
            <a:off x="3886200" y="3648456"/>
            <a:ext cx="7114032" cy="685800"/>
          </a:xfrm>
          <a:prstGeom prst="rect">
            <a:avLst/>
          </a:prstGeom>
          <a:noFill/>
        </p:spPr>
        <p:txBody>
          <a:bodyPr wrap="square" lIns="18288" rIns="18288" tIns="9144" bIns="9144">
            <a:spAutoFit/>
          </a:bodyPr>
          <a:lstStyle/>
          <a:p>
            <a:pPr>
              <a:defRPr sz="1700" b="0">
                <a:solidFill>
                  <a:srgbClr val="153036"/>
                </a:solidFill>
                <a:latin typeface="Aptos"/>
              </a:defRPr>
            </a:pPr>
            <a:r>
              <a:t>Authentication, RBAC, shared UI, map search and listing interfaces.</a:t>
            </a:r>
          </a:p>
        </p:txBody>
      </p:sp>
      <p:sp>
        <p:nvSpPr>
          <p:cNvPr id="14" name="Rounded Rectangle 13"/>
          <p:cNvSpPr/>
          <p:nvPr/>
        </p:nvSpPr>
        <p:spPr>
          <a:xfrm>
            <a:off x="822960" y="4727448"/>
            <a:ext cx="10515600" cy="101498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4855464"/>
            <a:ext cx="2971800" cy="310896"/>
          </a:xfrm>
          <a:prstGeom prst="rect">
            <a:avLst/>
          </a:prstGeom>
          <a:noFill/>
        </p:spPr>
        <p:txBody>
          <a:bodyPr wrap="square" lIns="18288" rIns="18288" tIns="9144" bIns="9144">
            <a:spAutoFit/>
          </a:bodyPr>
          <a:lstStyle/>
          <a:p>
            <a:pPr>
              <a:defRPr sz="1800" b="1">
                <a:solidFill>
                  <a:srgbClr val="087E74"/>
                </a:solidFill>
                <a:latin typeface="Aptos"/>
              </a:defRPr>
            </a:pPr>
            <a:r>
              <a:t>Verification</a:t>
            </a:r>
          </a:p>
        </p:txBody>
      </p:sp>
      <p:sp>
        <p:nvSpPr>
          <p:cNvPr id="16" name="TextBox 15"/>
          <p:cNvSpPr txBox="1"/>
          <p:nvPr/>
        </p:nvSpPr>
        <p:spPr>
          <a:xfrm>
            <a:off x="3886200" y="4846320"/>
            <a:ext cx="7114032" cy="685800"/>
          </a:xfrm>
          <a:prstGeom prst="rect">
            <a:avLst/>
          </a:prstGeom>
          <a:noFill/>
        </p:spPr>
        <p:txBody>
          <a:bodyPr wrap="square" lIns="18288" rIns="18288" tIns="9144" bIns="9144">
            <a:spAutoFit/>
          </a:bodyPr>
          <a:lstStyle/>
          <a:p>
            <a:pPr>
              <a:defRPr sz="1700" b="0">
                <a:solidFill>
                  <a:srgbClr val="153036"/>
                </a:solidFill>
                <a:latin typeface="Aptos"/>
              </a:defRPr>
            </a:pPr>
            <a:r>
              <a:t>Carry-over review, auth/RBAC QA, accessibility, load and system tests.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8F6"/>
        </a:solidFill>
        <a:effectLst/>
      </p:bgPr>
    </p:bg>
    <p:spTree>
      <p:nvGrpSpPr>
        <p:cNvPr id="1" name=""/>
        <p:cNvGrpSpPr/>
        <p:nvPr/>
      </p:nvGrpSpPr>
      <p:grpSpPr/>
      <p:sp>
        <p:nvSpPr>
          <p:cNvPr id="2" name="Rectangle 1"/>
          <p:cNvSpPr/>
          <p:nvPr/>
        </p:nvSpPr>
        <p:spPr>
          <a:xfrm>
            <a:off x="585216" y="484632"/>
            <a:ext cx="64008" cy="429768"/>
          </a:xfrm>
          <a:prstGeom prst="rect">
            <a:avLst/>
          </a:prstGeom>
          <a:solidFill>
            <a:srgbClr val="087E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30352"/>
            <a:ext cx="10058400" cy="256032"/>
          </a:xfrm>
          <a:prstGeom prst="rect">
            <a:avLst/>
          </a:prstGeom>
          <a:noFill/>
        </p:spPr>
        <p:txBody>
          <a:bodyPr wrap="square" lIns="18288" rIns="18288" tIns="9144" bIns="9144">
            <a:spAutoFit/>
          </a:bodyPr>
          <a:lstStyle/>
          <a:p>
            <a:pPr>
              <a:defRPr sz="1100" b="1">
                <a:solidFill>
                  <a:srgbClr val="087E74"/>
                </a:solidFill>
                <a:latin typeface="Aptos"/>
              </a:defRPr>
            </a:pPr>
            <a:r>
              <a:t>INVENTORY / SPRINT 3</a:t>
            </a:r>
          </a:p>
        </p:txBody>
      </p:sp>
      <p:sp>
        <p:nvSpPr>
          <p:cNvPr id="4" name="TextBox 3"/>
          <p:cNvSpPr txBox="1"/>
          <p:nvPr/>
        </p:nvSpPr>
        <p:spPr>
          <a:xfrm>
            <a:off x="822960" y="932688"/>
            <a:ext cx="10789920" cy="804672"/>
          </a:xfrm>
          <a:prstGeom prst="rect">
            <a:avLst/>
          </a:prstGeom>
          <a:noFill/>
        </p:spPr>
        <p:txBody>
          <a:bodyPr wrap="square" lIns="18288" rIns="18288" tIns="9144" bIns="9144">
            <a:spAutoFit/>
          </a:bodyPr>
          <a:lstStyle/>
          <a:p>
            <a:pPr>
              <a:defRPr sz="3100" b="1">
                <a:solidFill>
                  <a:srgbClr val="153036"/>
                </a:solidFill>
                <a:latin typeface="Aptos"/>
              </a:defRPr>
            </a:pPr>
            <a:r>
              <a:t>Sprint 3 · ticket register</a:t>
            </a:r>
          </a:p>
        </p:txBody>
      </p:sp>
      <p:sp>
        <p:nvSpPr>
          <p:cNvPr id="5" name="TextBox 4"/>
          <p:cNvSpPr txBox="1"/>
          <p:nvPr/>
        </p:nvSpPr>
        <p:spPr>
          <a:xfrm>
            <a:off x="822960" y="1819656"/>
            <a:ext cx="10698480" cy="265176"/>
          </a:xfrm>
          <a:prstGeom prst="rect">
            <a:avLst/>
          </a:prstGeom>
          <a:noFill/>
        </p:spPr>
        <p:txBody>
          <a:bodyPr wrap="square" lIns="18288" rIns="18288" tIns="9144" bIns="9144">
            <a:spAutoFit/>
          </a:bodyPr>
          <a:lstStyle/>
          <a:p>
            <a:pPr>
              <a:defRPr sz="1300" b="0">
                <a:solidFill>
                  <a:srgbClr val="556B75"/>
                </a:solidFill>
                <a:latin typeface="Aptos"/>
              </a:defRPr>
            </a:pPr>
            <a:r>
              <a:t>1–6 of 35  /  appendix page 1 of 6</a:t>
            </a:r>
          </a:p>
        </p:txBody>
      </p:sp>
      <p:sp>
        <p:nvSpPr>
          <p:cNvPr id="6" name="Rectangle 5"/>
          <p:cNvSpPr/>
          <p:nvPr/>
        </p:nvSpPr>
        <p:spPr>
          <a:xfrm>
            <a:off x="822960" y="6345936"/>
            <a:ext cx="10561320" cy="13716"/>
          </a:xfrm>
          <a:prstGeom prst="rect">
            <a:avLst/>
          </a:prstGeom>
          <a:solidFill>
            <a:srgbClr val="D8E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428232"/>
            <a:ext cx="10789920" cy="237744"/>
          </a:xfrm>
          <a:prstGeom prst="rect">
            <a:avLst/>
          </a:prstGeom>
          <a:noFill/>
        </p:spPr>
        <p:txBody>
          <a:bodyPr wrap="square" lIns="18288" rIns="18288" tIns="9144" bIns="9144">
            <a:spAutoFit/>
          </a:bodyPr>
          <a:lstStyle/>
          <a:p>
            <a:pPr>
              <a:defRPr sz="900" b="0">
                <a:solidFill>
                  <a:srgbClr val="556B75"/>
                </a:solidFill>
                <a:latin typeface="Aptos"/>
              </a:defRPr>
            </a:pPr>
            <a:r>
              <a:t>ABANG CEBU AI  /  JIRA SNAPSHOT 16 OCT 2026                                          23</a:t>
            </a:r>
          </a:p>
        </p:txBody>
      </p:sp>
      <p:sp>
        <p:nvSpPr>
          <p:cNvPr id="8" name="Rounded Rectangle 7"/>
          <p:cNvSpPr/>
          <p:nvPr/>
        </p:nvSpPr>
        <p:spPr>
          <a:xfrm>
            <a:off x="822960" y="2130552"/>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249424"/>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2"/>
              </a:rPr>
              <a:t>SCRUM-134</a:t>
            </a:r>
          </a:p>
        </p:txBody>
      </p:sp>
      <p:sp>
        <p:nvSpPr>
          <p:cNvPr id="10" name="TextBox 9"/>
          <p:cNvSpPr txBox="1"/>
          <p:nvPr/>
        </p:nvSpPr>
        <p:spPr>
          <a:xfrm>
            <a:off x="2350008" y="2221992"/>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Provision AWS EC2 staging environment for Next.js app</a:t>
            </a:r>
          </a:p>
        </p:txBody>
      </p:sp>
      <p:sp>
        <p:nvSpPr>
          <p:cNvPr id="11" name="TextBox 10"/>
          <p:cNvSpPr txBox="1"/>
          <p:nvPr/>
        </p:nvSpPr>
        <p:spPr>
          <a:xfrm>
            <a:off x="10021824" y="2286000"/>
            <a:ext cx="1124712" cy="228600"/>
          </a:xfrm>
          <a:prstGeom prst="rect">
            <a:avLst/>
          </a:prstGeom>
          <a:noFill/>
        </p:spPr>
        <p:txBody>
          <a:bodyPr wrap="square" lIns="18288" rIns="18288" tIns="9144" bIns="9144">
            <a:spAutoFit/>
          </a:bodyPr>
          <a:lstStyle/>
          <a:p>
            <a:pPr>
              <a:defRPr sz="1000" b="1">
                <a:solidFill>
                  <a:srgbClr val="556B75"/>
                </a:solidFill>
                <a:latin typeface="Aptos"/>
              </a:defRPr>
            </a:pPr>
            <a:r>
              <a:t>READY</a:t>
            </a:r>
          </a:p>
        </p:txBody>
      </p:sp>
      <p:sp>
        <p:nvSpPr>
          <p:cNvPr id="12" name="Rounded Rectangle 11"/>
          <p:cNvSpPr/>
          <p:nvPr/>
        </p:nvSpPr>
        <p:spPr>
          <a:xfrm>
            <a:off x="822960" y="2788920"/>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8" y="2907791"/>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3"/>
              </a:rPr>
              <a:t>SCRUM-135</a:t>
            </a:r>
          </a:p>
        </p:txBody>
      </p:sp>
      <p:sp>
        <p:nvSpPr>
          <p:cNvPr id="14" name="TextBox 13"/>
          <p:cNvSpPr txBox="1"/>
          <p:nvPr/>
        </p:nvSpPr>
        <p:spPr>
          <a:xfrm>
            <a:off x="2350008" y="2880360"/>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Set up GitHub Actions CI pipeline (tsc, lint, build)</a:t>
            </a:r>
          </a:p>
        </p:txBody>
      </p:sp>
      <p:sp>
        <p:nvSpPr>
          <p:cNvPr id="15" name="TextBox 14"/>
          <p:cNvSpPr txBox="1"/>
          <p:nvPr/>
        </p:nvSpPr>
        <p:spPr>
          <a:xfrm>
            <a:off x="10021824" y="2944368"/>
            <a:ext cx="1124712" cy="228600"/>
          </a:xfrm>
          <a:prstGeom prst="rect">
            <a:avLst/>
          </a:prstGeom>
          <a:noFill/>
        </p:spPr>
        <p:txBody>
          <a:bodyPr wrap="square" lIns="18288" rIns="18288" tIns="9144" bIns="9144">
            <a:spAutoFit/>
          </a:bodyPr>
          <a:lstStyle/>
          <a:p>
            <a:pPr>
              <a:defRPr sz="1000" b="1">
                <a:solidFill>
                  <a:srgbClr val="556B75"/>
                </a:solidFill>
                <a:latin typeface="Aptos"/>
              </a:defRPr>
            </a:pPr>
            <a:r>
              <a:t>READY</a:t>
            </a:r>
          </a:p>
        </p:txBody>
      </p:sp>
      <p:sp>
        <p:nvSpPr>
          <p:cNvPr id="16" name="Rounded Rectangle 15"/>
          <p:cNvSpPr/>
          <p:nvPr/>
        </p:nvSpPr>
        <p:spPr>
          <a:xfrm>
            <a:off x="822960" y="3447288"/>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4128" y="3566160"/>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4"/>
              </a:rPr>
              <a:t>SCRUM-136</a:t>
            </a:r>
          </a:p>
        </p:txBody>
      </p:sp>
      <p:sp>
        <p:nvSpPr>
          <p:cNvPr id="18" name="TextBox 17"/>
          <p:cNvSpPr txBox="1"/>
          <p:nvPr/>
        </p:nvSpPr>
        <p:spPr>
          <a:xfrm>
            <a:off x="2350008" y="3538728"/>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Automate deployment from main to EC2 staging</a:t>
            </a:r>
          </a:p>
        </p:txBody>
      </p:sp>
      <p:sp>
        <p:nvSpPr>
          <p:cNvPr id="19" name="TextBox 18"/>
          <p:cNvSpPr txBox="1"/>
          <p:nvPr/>
        </p:nvSpPr>
        <p:spPr>
          <a:xfrm>
            <a:off x="10021824" y="3602736"/>
            <a:ext cx="1124712" cy="228600"/>
          </a:xfrm>
          <a:prstGeom prst="rect">
            <a:avLst/>
          </a:prstGeom>
          <a:noFill/>
        </p:spPr>
        <p:txBody>
          <a:bodyPr wrap="square" lIns="18288" rIns="18288" tIns="9144" bIns="9144">
            <a:spAutoFit/>
          </a:bodyPr>
          <a:lstStyle/>
          <a:p>
            <a:pPr>
              <a:defRPr sz="1000" b="1">
                <a:solidFill>
                  <a:srgbClr val="556B75"/>
                </a:solidFill>
                <a:latin typeface="Aptos"/>
              </a:defRPr>
            </a:pPr>
            <a:r>
              <a:t>READY</a:t>
            </a:r>
          </a:p>
        </p:txBody>
      </p:sp>
      <p:sp>
        <p:nvSpPr>
          <p:cNvPr id="20" name="Rounded Rectangle 19"/>
          <p:cNvSpPr/>
          <p:nvPr/>
        </p:nvSpPr>
        <p:spPr>
          <a:xfrm>
            <a:off x="822960" y="4105656"/>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24128" y="4224528"/>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5"/>
              </a:rPr>
              <a:t>SCRUM-137</a:t>
            </a:r>
          </a:p>
        </p:txBody>
      </p:sp>
      <p:sp>
        <p:nvSpPr>
          <p:cNvPr id="22" name="TextBox 21"/>
          <p:cNvSpPr txBox="1"/>
          <p:nvPr/>
        </p:nvSpPr>
        <p:spPr>
          <a:xfrm>
            <a:off x="2350008" y="4197096"/>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Define IAM least-privilege roles and policies for staging</a:t>
            </a:r>
          </a:p>
        </p:txBody>
      </p:sp>
      <p:sp>
        <p:nvSpPr>
          <p:cNvPr id="23" name="TextBox 22"/>
          <p:cNvSpPr txBox="1"/>
          <p:nvPr/>
        </p:nvSpPr>
        <p:spPr>
          <a:xfrm>
            <a:off x="10021824" y="4261104"/>
            <a:ext cx="1124712" cy="228600"/>
          </a:xfrm>
          <a:prstGeom prst="rect">
            <a:avLst/>
          </a:prstGeom>
          <a:noFill/>
        </p:spPr>
        <p:txBody>
          <a:bodyPr wrap="square" lIns="18288" rIns="18288" tIns="9144" bIns="9144">
            <a:spAutoFit/>
          </a:bodyPr>
          <a:lstStyle/>
          <a:p>
            <a:pPr>
              <a:defRPr sz="1000" b="1">
                <a:solidFill>
                  <a:srgbClr val="556B75"/>
                </a:solidFill>
                <a:latin typeface="Aptos"/>
              </a:defRPr>
            </a:pPr>
            <a:r>
              <a:t>READY</a:t>
            </a:r>
          </a:p>
        </p:txBody>
      </p:sp>
      <p:sp>
        <p:nvSpPr>
          <p:cNvPr id="24" name="Rounded Rectangle 23"/>
          <p:cNvSpPr/>
          <p:nvPr/>
        </p:nvSpPr>
        <p:spPr>
          <a:xfrm>
            <a:off x="822960" y="4764024"/>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24128" y="4882896"/>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6"/>
              </a:rPr>
              <a:t>SCRUM-138</a:t>
            </a:r>
          </a:p>
        </p:txBody>
      </p:sp>
      <p:sp>
        <p:nvSpPr>
          <p:cNvPr id="26" name="TextBox 25"/>
          <p:cNvSpPr txBox="1"/>
          <p:nvPr/>
        </p:nvSpPr>
        <p:spPr>
          <a:xfrm>
            <a:off x="2350008" y="4855464"/>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IAM access review and security audit of staging</a:t>
            </a:r>
          </a:p>
        </p:txBody>
      </p:sp>
      <p:sp>
        <p:nvSpPr>
          <p:cNvPr id="27" name="TextBox 26"/>
          <p:cNvSpPr txBox="1"/>
          <p:nvPr/>
        </p:nvSpPr>
        <p:spPr>
          <a:xfrm>
            <a:off x="10021824" y="4919472"/>
            <a:ext cx="1124712" cy="228600"/>
          </a:xfrm>
          <a:prstGeom prst="rect">
            <a:avLst/>
          </a:prstGeom>
          <a:noFill/>
        </p:spPr>
        <p:txBody>
          <a:bodyPr wrap="square" lIns="18288" rIns="18288" tIns="9144" bIns="9144">
            <a:spAutoFit/>
          </a:bodyPr>
          <a:lstStyle/>
          <a:p>
            <a:pPr>
              <a:defRPr sz="1000" b="1">
                <a:solidFill>
                  <a:srgbClr val="556B75"/>
                </a:solidFill>
                <a:latin typeface="Aptos"/>
              </a:defRPr>
            </a:pPr>
            <a:r>
              <a:t>READY</a:t>
            </a:r>
          </a:p>
        </p:txBody>
      </p:sp>
      <p:sp>
        <p:nvSpPr>
          <p:cNvPr id="28" name="Rounded Rectangle 27"/>
          <p:cNvSpPr/>
          <p:nvPr/>
        </p:nvSpPr>
        <p:spPr>
          <a:xfrm>
            <a:off x="822960" y="5422392"/>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4128" y="5541264"/>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7"/>
              </a:rPr>
              <a:t>SCRUM-139</a:t>
            </a:r>
          </a:p>
        </p:txBody>
      </p:sp>
      <p:sp>
        <p:nvSpPr>
          <p:cNvPr id="30" name="TextBox 29"/>
          <p:cNvSpPr txBox="1"/>
          <p:nvPr/>
        </p:nvSpPr>
        <p:spPr>
          <a:xfrm>
            <a:off x="2350008" y="5513831"/>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Set up monitoring, logging and uptime alerts for staging</a:t>
            </a:r>
          </a:p>
        </p:txBody>
      </p:sp>
      <p:sp>
        <p:nvSpPr>
          <p:cNvPr id="31" name="TextBox 30"/>
          <p:cNvSpPr txBox="1"/>
          <p:nvPr/>
        </p:nvSpPr>
        <p:spPr>
          <a:xfrm>
            <a:off x="10021824" y="5577840"/>
            <a:ext cx="1124712" cy="228600"/>
          </a:xfrm>
          <a:prstGeom prst="rect">
            <a:avLst/>
          </a:prstGeom>
          <a:noFill/>
        </p:spPr>
        <p:txBody>
          <a:bodyPr wrap="square" lIns="18288" rIns="18288" tIns="9144" bIns="9144">
            <a:spAutoFit/>
          </a:bodyPr>
          <a:lstStyle/>
          <a:p>
            <a:pPr>
              <a:defRPr sz="1000" b="1">
                <a:solidFill>
                  <a:srgbClr val="556B75"/>
                </a:solidFill>
                <a:latin typeface="Aptos"/>
              </a:defRPr>
            </a:pPr>
            <a:r>
              <a:t>READY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8F6"/>
        </a:solidFill>
        <a:effectLst/>
      </p:bgPr>
    </p:bg>
    <p:spTree>
      <p:nvGrpSpPr>
        <p:cNvPr id="1" name=""/>
        <p:cNvGrpSpPr/>
        <p:nvPr/>
      </p:nvGrpSpPr>
      <p:grpSpPr/>
      <p:sp>
        <p:nvSpPr>
          <p:cNvPr id="2" name="Rectangle 1"/>
          <p:cNvSpPr/>
          <p:nvPr/>
        </p:nvSpPr>
        <p:spPr>
          <a:xfrm>
            <a:off x="585216" y="484632"/>
            <a:ext cx="64008" cy="429768"/>
          </a:xfrm>
          <a:prstGeom prst="rect">
            <a:avLst/>
          </a:prstGeom>
          <a:solidFill>
            <a:srgbClr val="087E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30352"/>
            <a:ext cx="10058400" cy="256032"/>
          </a:xfrm>
          <a:prstGeom prst="rect">
            <a:avLst/>
          </a:prstGeom>
          <a:noFill/>
        </p:spPr>
        <p:txBody>
          <a:bodyPr wrap="square" lIns="18288" rIns="18288" tIns="9144" bIns="9144">
            <a:spAutoFit/>
          </a:bodyPr>
          <a:lstStyle/>
          <a:p>
            <a:pPr>
              <a:defRPr sz="1100" b="1">
                <a:solidFill>
                  <a:srgbClr val="087E74"/>
                </a:solidFill>
                <a:latin typeface="Aptos"/>
              </a:defRPr>
            </a:pPr>
            <a:r>
              <a:t>INVENTORY / SPRINT 3</a:t>
            </a:r>
          </a:p>
        </p:txBody>
      </p:sp>
      <p:sp>
        <p:nvSpPr>
          <p:cNvPr id="4" name="TextBox 3"/>
          <p:cNvSpPr txBox="1"/>
          <p:nvPr/>
        </p:nvSpPr>
        <p:spPr>
          <a:xfrm>
            <a:off x="822960" y="932688"/>
            <a:ext cx="10789920" cy="804672"/>
          </a:xfrm>
          <a:prstGeom prst="rect">
            <a:avLst/>
          </a:prstGeom>
          <a:noFill/>
        </p:spPr>
        <p:txBody>
          <a:bodyPr wrap="square" lIns="18288" rIns="18288" tIns="9144" bIns="9144">
            <a:spAutoFit/>
          </a:bodyPr>
          <a:lstStyle/>
          <a:p>
            <a:pPr>
              <a:defRPr sz="3100" b="1">
                <a:solidFill>
                  <a:srgbClr val="153036"/>
                </a:solidFill>
                <a:latin typeface="Aptos"/>
              </a:defRPr>
            </a:pPr>
            <a:r>
              <a:t>Sprint 3 · ticket register</a:t>
            </a:r>
          </a:p>
        </p:txBody>
      </p:sp>
      <p:sp>
        <p:nvSpPr>
          <p:cNvPr id="5" name="TextBox 4"/>
          <p:cNvSpPr txBox="1"/>
          <p:nvPr/>
        </p:nvSpPr>
        <p:spPr>
          <a:xfrm>
            <a:off x="822960" y="1819656"/>
            <a:ext cx="10698480" cy="265176"/>
          </a:xfrm>
          <a:prstGeom prst="rect">
            <a:avLst/>
          </a:prstGeom>
          <a:noFill/>
        </p:spPr>
        <p:txBody>
          <a:bodyPr wrap="square" lIns="18288" rIns="18288" tIns="9144" bIns="9144">
            <a:spAutoFit/>
          </a:bodyPr>
          <a:lstStyle/>
          <a:p>
            <a:pPr>
              <a:defRPr sz="1300" b="0">
                <a:solidFill>
                  <a:srgbClr val="556B75"/>
                </a:solidFill>
                <a:latin typeface="Aptos"/>
              </a:defRPr>
            </a:pPr>
            <a:r>
              <a:t>7–12 of 35  /  appendix page 2 of 6</a:t>
            </a:r>
          </a:p>
        </p:txBody>
      </p:sp>
      <p:sp>
        <p:nvSpPr>
          <p:cNvPr id="6" name="Rectangle 5"/>
          <p:cNvSpPr/>
          <p:nvPr/>
        </p:nvSpPr>
        <p:spPr>
          <a:xfrm>
            <a:off x="822960" y="6345936"/>
            <a:ext cx="10561320" cy="13716"/>
          </a:xfrm>
          <a:prstGeom prst="rect">
            <a:avLst/>
          </a:prstGeom>
          <a:solidFill>
            <a:srgbClr val="D8E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428232"/>
            <a:ext cx="10789920" cy="237744"/>
          </a:xfrm>
          <a:prstGeom prst="rect">
            <a:avLst/>
          </a:prstGeom>
          <a:noFill/>
        </p:spPr>
        <p:txBody>
          <a:bodyPr wrap="square" lIns="18288" rIns="18288" tIns="9144" bIns="9144">
            <a:spAutoFit/>
          </a:bodyPr>
          <a:lstStyle/>
          <a:p>
            <a:pPr>
              <a:defRPr sz="900" b="0">
                <a:solidFill>
                  <a:srgbClr val="556B75"/>
                </a:solidFill>
                <a:latin typeface="Aptos"/>
              </a:defRPr>
            </a:pPr>
            <a:r>
              <a:t>ABANG CEBU AI  /  JIRA SNAPSHOT 16 OCT 2026                                          24</a:t>
            </a:r>
          </a:p>
        </p:txBody>
      </p:sp>
      <p:sp>
        <p:nvSpPr>
          <p:cNvPr id="8" name="Rounded Rectangle 7"/>
          <p:cNvSpPr/>
          <p:nvPr/>
        </p:nvSpPr>
        <p:spPr>
          <a:xfrm>
            <a:off x="822960" y="2130552"/>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249424"/>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2"/>
              </a:rPr>
              <a:t>SCRUM-140</a:t>
            </a:r>
          </a:p>
        </p:txBody>
      </p:sp>
      <p:sp>
        <p:nvSpPr>
          <p:cNvPr id="10" name="TextBox 9"/>
          <p:cNvSpPr txBox="1"/>
          <p:nvPr/>
        </p:nvSpPr>
        <p:spPr>
          <a:xfrm>
            <a:off x="2350008" y="2221992"/>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Implement core listing tables migration</a:t>
            </a:r>
          </a:p>
        </p:txBody>
      </p:sp>
      <p:sp>
        <p:nvSpPr>
          <p:cNvPr id="11" name="TextBox 10"/>
          <p:cNvSpPr txBox="1"/>
          <p:nvPr/>
        </p:nvSpPr>
        <p:spPr>
          <a:xfrm>
            <a:off x="10021824" y="2286000"/>
            <a:ext cx="1124712" cy="228600"/>
          </a:xfrm>
          <a:prstGeom prst="rect">
            <a:avLst/>
          </a:prstGeom>
          <a:noFill/>
        </p:spPr>
        <p:txBody>
          <a:bodyPr wrap="square" lIns="18288" rIns="18288" tIns="9144" bIns="9144">
            <a:spAutoFit/>
          </a:bodyPr>
          <a:lstStyle/>
          <a:p>
            <a:pPr>
              <a:defRPr sz="1000" b="1">
                <a:solidFill>
                  <a:srgbClr val="556B75"/>
                </a:solidFill>
                <a:latin typeface="Aptos"/>
              </a:defRPr>
            </a:pPr>
            <a:r>
              <a:t>READY</a:t>
            </a:r>
          </a:p>
        </p:txBody>
      </p:sp>
      <p:sp>
        <p:nvSpPr>
          <p:cNvPr id="12" name="Rounded Rectangle 11"/>
          <p:cNvSpPr/>
          <p:nvPr/>
        </p:nvSpPr>
        <p:spPr>
          <a:xfrm>
            <a:off x="822960" y="2788920"/>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8" y="2907791"/>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3"/>
              </a:rPr>
              <a:t>SCRUM-141</a:t>
            </a:r>
          </a:p>
        </p:txBody>
      </p:sp>
      <p:sp>
        <p:nvSpPr>
          <p:cNvPr id="14" name="TextBox 13"/>
          <p:cNvSpPr txBox="1"/>
          <p:nvPr/>
        </p:nvSpPr>
        <p:spPr>
          <a:xfrm>
            <a:off x="2350008" y="2880360"/>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Implement engagement tables migration (inquiries, saved_listings, reviews, audit_logs)</a:t>
            </a:r>
          </a:p>
        </p:txBody>
      </p:sp>
      <p:sp>
        <p:nvSpPr>
          <p:cNvPr id="15" name="TextBox 14"/>
          <p:cNvSpPr txBox="1"/>
          <p:nvPr/>
        </p:nvSpPr>
        <p:spPr>
          <a:xfrm>
            <a:off x="10021824" y="2944368"/>
            <a:ext cx="1124712" cy="228600"/>
          </a:xfrm>
          <a:prstGeom prst="rect">
            <a:avLst/>
          </a:prstGeom>
          <a:noFill/>
        </p:spPr>
        <p:txBody>
          <a:bodyPr wrap="square" lIns="18288" rIns="18288" tIns="9144" bIns="9144">
            <a:spAutoFit/>
          </a:bodyPr>
          <a:lstStyle/>
          <a:p>
            <a:pPr>
              <a:defRPr sz="1000" b="1">
                <a:solidFill>
                  <a:srgbClr val="556B75"/>
                </a:solidFill>
                <a:latin typeface="Aptos"/>
              </a:defRPr>
            </a:pPr>
            <a:r>
              <a:t>READY</a:t>
            </a:r>
          </a:p>
        </p:txBody>
      </p:sp>
      <p:sp>
        <p:nvSpPr>
          <p:cNvPr id="16" name="Rounded Rectangle 15"/>
          <p:cNvSpPr/>
          <p:nvPr/>
        </p:nvSpPr>
        <p:spPr>
          <a:xfrm>
            <a:off x="822960" y="3447288"/>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4128" y="3566160"/>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4"/>
              </a:rPr>
              <a:t>SCRUM-142</a:t>
            </a:r>
          </a:p>
        </p:txBody>
      </p:sp>
      <p:sp>
        <p:nvSpPr>
          <p:cNvPr id="18" name="TextBox 17"/>
          <p:cNvSpPr txBox="1"/>
          <p:nvPr/>
        </p:nvSpPr>
        <p:spPr>
          <a:xfrm>
            <a:off x="2350008" y="3538728"/>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Apply Row Level Security policies as migrations</a:t>
            </a:r>
          </a:p>
        </p:txBody>
      </p:sp>
      <p:sp>
        <p:nvSpPr>
          <p:cNvPr id="19" name="TextBox 18"/>
          <p:cNvSpPr txBox="1"/>
          <p:nvPr/>
        </p:nvSpPr>
        <p:spPr>
          <a:xfrm>
            <a:off x="10021824" y="3602736"/>
            <a:ext cx="1124712" cy="228600"/>
          </a:xfrm>
          <a:prstGeom prst="rect">
            <a:avLst/>
          </a:prstGeom>
          <a:noFill/>
        </p:spPr>
        <p:txBody>
          <a:bodyPr wrap="square" lIns="18288" rIns="18288" tIns="9144" bIns="9144">
            <a:spAutoFit/>
          </a:bodyPr>
          <a:lstStyle/>
          <a:p>
            <a:pPr>
              <a:defRPr sz="1000" b="1">
                <a:solidFill>
                  <a:srgbClr val="556B75"/>
                </a:solidFill>
                <a:latin typeface="Aptos"/>
              </a:defRPr>
            </a:pPr>
            <a:r>
              <a:t>READY</a:t>
            </a:r>
          </a:p>
        </p:txBody>
      </p:sp>
      <p:sp>
        <p:nvSpPr>
          <p:cNvPr id="20" name="Rounded Rectangle 19"/>
          <p:cNvSpPr/>
          <p:nvPr/>
        </p:nvSpPr>
        <p:spPr>
          <a:xfrm>
            <a:off x="822960" y="4105656"/>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24128" y="4224528"/>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5"/>
              </a:rPr>
              <a:t>SCRUM-143</a:t>
            </a:r>
          </a:p>
        </p:txBody>
      </p:sp>
      <p:sp>
        <p:nvSpPr>
          <p:cNvPr id="22" name="TextBox 21"/>
          <p:cNvSpPr txBox="1"/>
          <p:nvPr/>
        </p:nvSpPr>
        <p:spPr>
          <a:xfrm>
            <a:off x="2350008" y="4197096"/>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Create PostGIS search functions (viewport bbox and landmark radius)</a:t>
            </a:r>
          </a:p>
        </p:txBody>
      </p:sp>
      <p:sp>
        <p:nvSpPr>
          <p:cNvPr id="23" name="TextBox 22"/>
          <p:cNvSpPr txBox="1"/>
          <p:nvPr/>
        </p:nvSpPr>
        <p:spPr>
          <a:xfrm>
            <a:off x="10021824" y="4261104"/>
            <a:ext cx="1124712" cy="228600"/>
          </a:xfrm>
          <a:prstGeom prst="rect">
            <a:avLst/>
          </a:prstGeom>
          <a:noFill/>
        </p:spPr>
        <p:txBody>
          <a:bodyPr wrap="square" lIns="18288" rIns="18288" tIns="9144" bIns="9144">
            <a:spAutoFit/>
          </a:bodyPr>
          <a:lstStyle/>
          <a:p>
            <a:pPr>
              <a:defRPr sz="1000" b="1">
                <a:solidFill>
                  <a:srgbClr val="556B75"/>
                </a:solidFill>
                <a:latin typeface="Aptos"/>
              </a:defRPr>
            </a:pPr>
            <a:r>
              <a:t>READY</a:t>
            </a:r>
          </a:p>
        </p:txBody>
      </p:sp>
      <p:sp>
        <p:nvSpPr>
          <p:cNvPr id="24" name="Rounded Rectangle 23"/>
          <p:cNvSpPr/>
          <p:nvPr/>
        </p:nvSpPr>
        <p:spPr>
          <a:xfrm>
            <a:off x="822960" y="4764024"/>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24128" y="4882896"/>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6"/>
              </a:rPr>
              <a:t>SCRUM-144</a:t>
            </a:r>
          </a:p>
        </p:txBody>
      </p:sp>
      <p:sp>
        <p:nvSpPr>
          <p:cNvPr id="26" name="TextBox 25"/>
          <p:cNvSpPr txBox="1"/>
          <p:nvPr/>
        </p:nvSpPr>
        <p:spPr>
          <a:xfrm>
            <a:off x="2350008" y="4855464"/>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Seed Metro Cebu landmarks and sample listings</a:t>
            </a:r>
          </a:p>
        </p:txBody>
      </p:sp>
      <p:sp>
        <p:nvSpPr>
          <p:cNvPr id="27" name="TextBox 26"/>
          <p:cNvSpPr txBox="1"/>
          <p:nvPr/>
        </p:nvSpPr>
        <p:spPr>
          <a:xfrm>
            <a:off x="10021824" y="4919472"/>
            <a:ext cx="1124712" cy="228600"/>
          </a:xfrm>
          <a:prstGeom prst="rect">
            <a:avLst/>
          </a:prstGeom>
          <a:noFill/>
        </p:spPr>
        <p:txBody>
          <a:bodyPr wrap="square" lIns="18288" rIns="18288" tIns="9144" bIns="9144">
            <a:spAutoFit/>
          </a:bodyPr>
          <a:lstStyle/>
          <a:p>
            <a:pPr>
              <a:defRPr sz="1000" b="1">
                <a:solidFill>
                  <a:srgbClr val="556B75"/>
                </a:solidFill>
                <a:latin typeface="Aptos"/>
              </a:defRPr>
            </a:pPr>
            <a:r>
              <a:t>READY</a:t>
            </a:r>
          </a:p>
        </p:txBody>
      </p:sp>
      <p:sp>
        <p:nvSpPr>
          <p:cNvPr id="28" name="Rounded Rectangle 27"/>
          <p:cNvSpPr/>
          <p:nvPr/>
        </p:nvSpPr>
        <p:spPr>
          <a:xfrm>
            <a:off x="822960" y="5422392"/>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4128" y="5541264"/>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7"/>
              </a:rPr>
              <a:t>SCRUM-145</a:t>
            </a:r>
          </a:p>
        </p:txBody>
      </p:sp>
      <p:sp>
        <p:nvSpPr>
          <p:cNvPr id="30" name="TextBox 29"/>
          <p:cNvSpPr txBox="1"/>
          <p:nvPr/>
        </p:nvSpPr>
        <p:spPr>
          <a:xfrm>
            <a:off x="2350008" y="5513831"/>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Configure Supabase Storage buckets and database backups</a:t>
            </a:r>
          </a:p>
        </p:txBody>
      </p:sp>
      <p:sp>
        <p:nvSpPr>
          <p:cNvPr id="31" name="TextBox 30"/>
          <p:cNvSpPr txBox="1"/>
          <p:nvPr/>
        </p:nvSpPr>
        <p:spPr>
          <a:xfrm>
            <a:off x="10021824" y="5577840"/>
            <a:ext cx="1124712" cy="228600"/>
          </a:xfrm>
          <a:prstGeom prst="rect">
            <a:avLst/>
          </a:prstGeom>
          <a:noFill/>
        </p:spPr>
        <p:txBody>
          <a:bodyPr wrap="square" lIns="18288" rIns="18288" tIns="9144" bIns="9144">
            <a:spAutoFit/>
          </a:bodyPr>
          <a:lstStyle/>
          <a:p>
            <a:pPr>
              <a:defRPr sz="1000" b="1">
                <a:solidFill>
                  <a:srgbClr val="556B75"/>
                </a:solidFill>
                <a:latin typeface="Aptos"/>
              </a:defRPr>
            </a:pPr>
            <a:r>
              <a:t>READY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8F6"/>
        </a:solidFill>
        <a:effectLst/>
      </p:bgPr>
    </p:bg>
    <p:spTree>
      <p:nvGrpSpPr>
        <p:cNvPr id="1" name=""/>
        <p:cNvGrpSpPr/>
        <p:nvPr/>
      </p:nvGrpSpPr>
      <p:grpSpPr/>
      <p:sp>
        <p:nvSpPr>
          <p:cNvPr id="2" name="Rectangle 1"/>
          <p:cNvSpPr/>
          <p:nvPr/>
        </p:nvSpPr>
        <p:spPr>
          <a:xfrm>
            <a:off x="585216" y="484632"/>
            <a:ext cx="64008" cy="429768"/>
          </a:xfrm>
          <a:prstGeom prst="rect">
            <a:avLst/>
          </a:prstGeom>
          <a:solidFill>
            <a:srgbClr val="087E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30352"/>
            <a:ext cx="10058400" cy="256032"/>
          </a:xfrm>
          <a:prstGeom prst="rect">
            <a:avLst/>
          </a:prstGeom>
          <a:noFill/>
        </p:spPr>
        <p:txBody>
          <a:bodyPr wrap="square" lIns="18288" rIns="18288" tIns="9144" bIns="9144">
            <a:spAutoFit/>
          </a:bodyPr>
          <a:lstStyle/>
          <a:p>
            <a:pPr>
              <a:defRPr sz="1100" b="1">
                <a:solidFill>
                  <a:srgbClr val="087E74"/>
                </a:solidFill>
                <a:latin typeface="Aptos"/>
              </a:defRPr>
            </a:pPr>
            <a:r>
              <a:t>INVENTORY / SPRINT 3</a:t>
            </a:r>
          </a:p>
        </p:txBody>
      </p:sp>
      <p:sp>
        <p:nvSpPr>
          <p:cNvPr id="4" name="TextBox 3"/>
          <p:cNvSpPr txBox="1"/>
          <p:nvPr/>
        </p:nvSpPr>
        <p:spPr>
          <a:xfrm>
            <a:off x="822960" y="932688"/>
            <a:ext cx="10789920" cy="804672"/>
          </a:xfrm>
          <a:prstGeom prst="rect">
            <a:avLst/>
          </a:prstGeom>
          <a:noFill/>
        </p:spPr>
        <p:txBody>
          <a:bodyPr wrap="square" lIns="18288" rIns="18288" tIns="9144" bIns="9144">
            <a:spAutoFit/>
          </a:bodyPr>
          <a:lstStyle/>
          <a:p>
            <a:pPr>
              <a:defRPr sz="3100" b="1">
                <a:solidFill>
                  <a:srgbClr val="153036"/>
                </a:solidFill>
                <a:latin typeface="Aptos"/>
              </a:defRPr>
            </a:pPr>
            <a:r>
              <a:t>Sprint 3 · ticket register</a:t>
            </a:r>
          </a:p>
        </p:txBody>
      </p:sp>
      <p:sp>
        <p:nvSpPr>
          <p:cNvPr id="5" name="TextBox 4"/>
          <p:cNvSpPr txBox="1"/>
          <p:nvPr/>
        </p:nvSpPr>
        <p:spPr>
          <a:xfrm>
            <a:off x="822960" y="1819656"/>
            <a:ext cx="10698480" cy="265176"/>
          </a:xfrm>
          <a:prstGeom prst="rect">
            <a:avLst/>
          </a:prstGeom>
          <a:noFill/>
        </p:spPr>
        <p:txBody>
          <a:bodyPr wrap="square" lIns="18288" rIns="18288" tIns="9144" bIns="9144">
            <a:spAutoFit/>
          </a:bodyPr>
          <a:lstStyle/>
          <a:p>
            <a:pPr>
              <a:defRPr sz="1300" b="0">
                <a:solidFill>
                  <a:srgbClr val="556B75"/>
                </a:solidFill>
                <a:latin typeface="Aptos"/>
              </a:defRPr>
            </a:pPr>
            <a:r>
              <a:t>13–18 of 35  /  appendix page 3 of 6</a:t>
            </a:r>
          </a:p>
        </p:txBody>
      </p:sp>
      <p:sp>
        <p:nvSpPr>
          <p:cNvPr id="6" name="Rectangle 5"/>
          <p:cNvSpPr/>
          <p:nvPr/>
        </p:nvSpPr>
        <p:spPr>
          <a:xfrm>
            <a:off x="822960" y="6345936"/>
            <a:ext cx="10561320" cy="13716"/>
          </a:xfrm>
          <a:prstGeom prst="rect">
            <a:avLst/>
          </a:prstGeom>
          <a:solidFill>
            <a:srgbClr val="D8E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428232"/>
            <a:ext cx="10789920" cy="237744"/>
          </a:xfrm>
          <a:prstGeom prst="rect">
            <a:avLst/>
          </a:prstGeom>
          <a:noFill/>
        </p:spPr>
        <p:txBody>
          <a:bodyPr wrap="square" lIns="18288" rIns="18288" tIns="9144" bIns="9144">
            <a:spAutoFit/>
          </a:bodyPr>
          <a:lstStyle/>
          <a:p>
            <a:pPr>
              <a:defRPr sz="900" b="0">
                <a:solidFill>
                  <a:srgbClr val="556B75"/>
                </a:solidFill>
                <a:latin typeface="Aptos"/>
              </a:defRPr>
            </a:pPr>
            <a:r>
              <a:t>ABANG CEBU AI  /  JIRA SNAPSHOT 16 OCT 2026                                          25</a:t>
            </a:r>
          </a:p>
        </p:txBody>
      </p:sp>
      <p:sp>
        <p:nvSpPr>
          <p:cNvPr id="8" name="Rounded Rectangle 7"/>
          <p:cNvSpPr/>
          <p:nvPr/>
        </p:nvSpPr>
        <p:spPr>
          <a:xfrm>
            <a:off x="822960" y="2130552"/>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249424"/>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2"/>
              </a:rPr>
              <a:t>SCRUM-146</a:t>
            </a:r>
          </a:p>
        </p:txBody>
      </p:sp>
      <p:sp>
        <p:nvSpPr>
          <p:cNvPr id="10" name="TextBox 9"/>
          <p:cNvSpPr txBox="1"/>
          <p:nvPr/>
        </p:nvSpPr>
        <p:spPr>
          <a:xfrm>
            <a:off x="2350008" y="2221992"/>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Complete Database Specification workbook (.xlsx)</a:t>
            </a:r>
          </a:p>
        </p:txBody>
      </p:sp>
      <p:sp>
        <p:nvSpPr>
          <p:cNvPr id="11" name="TextBox 10"/>
          <p:cNvSpPr txBox="1"/>
          <p:nvPr/>
        </p:nvSpPr>
        <p:spPr>
          <a:xfrm>
            <a:off x="10021824" y="2286000"/>
            <a:ext cx="1124712" cy="228600"/>
          </a:xfrm>
          <a:prstGeom prst="rect">
            <a:avLst/>
          </a:prstGeom>
          <a:noFill/>
        </p:spPr>
        <p:txBody>
          <a:bodyPr wrap="square" lIns="18288" rIns="18288" tIns="9144" bIns="9144">
            <a:spAutoFit/>
          </a:bodyPr>
          <a:lstStyle/>
          <a:p>
            <a:pPr>
              <a:defRPr sz="1000" b="1">
                <a:solidFill>
                  <a:srgbClr val="556B75"/>
                </a:solidFill>
                <a:latin typeface="Aptos"/>
              </a:defRPr>
            </a:pPr>
            <a:r>
              <a:t>READY</a:t>
            </a:r>
          </a:p>
        </p:txBody>
      </p:sp>
      <p:sp>
        <p:nvSpPr>
          <p:cNvPr id="12" name="Rounded Rectangle 11"/>
          <p:cNvSpPr/>
          <p:nvPr/>
        </p:nvSpPr>
        <p:spPr>
          <a:xfrm>
            <a:off x="822960" y="2788920"/>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8" y="2907791"/>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3"/>
              </a:rPr>
              <a:t>SCRUM-147</a:t>
            </a:r>
          </a:p>
        </p:txBody>
      </p:sp>
      <p:sp>
        <p:nvSpPr>
          <p:cNvPr id="14" name="TextBox 13"/>
          <p:cNvSpPr txBox="1"/>
          <p:nvPr/>
        </p:nvSpPr>
        <p:spPr>
          <a:xfrm>
            <a:off x="2350008" y="2880360"/>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Implement sign-up and email verification (PKCE)</a:t>
            </a:r>
          </a:p>
        </p:txBody>
      </p:sp>
      <p:sp>
        <p:nvSpPr>
          <p:cNvPr id="15" name="TextBox 14"/>
          <p:cNvSpPr txBox="1"/>
          <p:nvPr/>
        </p:nvSpPr>
        <p:spPr>
          <a:xfrm>
            <a:off x="10021824" y="2944368"/>
            <a:ext cx="1124712" cy="228600"/>
          </a:xfrm>
          <a:prstGeom prst="rect">
            <a:avLst/>
          </a:prstGeom>
          <a:noFill/>
        </p:spPr>
        <p:txBody>
          <a:bodyPr wrap="square" lIns="18288" rIns="18288" tIns="9144" bIns="9144">
            <a:spAutoFit/>
          </a:bodyPr>
          <a:lstStyle/>
          <a:p>
            <a:pPr>
              <a:defRPr sz="1000" b="1">
                <a:solidFill>
                  <a:srgbClr val="556B75"/>
                </a:solidFill>
                <a:latin typeface="Aptos"/>
              </a:defRPr>
            </a:pPr>
            <a:r>
              <a:t>READY</a:t>
            </a:r>
          </a:p>
        </p:txBody>
      </p:sp>
      <p:sp>
        <p:nvSpPr>
          <p:cNvPr id="16" name="Rounded Rectangle 15"/>
          <p:cNvSpPr/>
          <p:nvPr/>
        </p:nvSpPr>
        <p:spPr>
          <a:xfrm>
            <a:off x="822960" y="3447288"/>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4128" y="3566160"/>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4"/>
              </a:rPr>
              <a:t>SCRUM-148</a:t>
            </a:r>
          </a:p>
        </p:txBody>
      </p:sp>
      <p:sp>
        <p:nvSpPr>
          <p:cNvPr id="18" name="TextBox 17"/>
          <p:cNvSpPr txBox="1"/>
          <p:nvPr/>
        </p:nvSpPr>
        <p:spPr>
          <a:xfrm>
            <a:off x="2350008" y="3538728"/>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Implement login, session refresh and Remember Me</a:t>
            </a:r>
          </a:p>
        </p:txBody>
      </p:sp>
      <p:sp>
        <p:nvSpPr>
          <p:cNvPr id="19" name="TextBox 18"/>
          <p:cNvSpPr txBox="1"/>
          <p:nvPr/>
        </p:nvSpPr>
        <p:spPr>
          <a:xfrm>
            <a:off x="10021824" y="3602736"/>
            <a:ext cx="1124712" cy="228600"/>
          </a:xfrm>
          <a:prstGeom prst="rect">
            <a:avLst/>
          </a:prstGeom>
          <a:noFill/>
        </p:spPr>
        <p:txBody>
          <a:bodyPr wrap="square" lIns="18288" rIns="18288" tIns="9144" bIns="9144">
            <a:spAutoFit/>
          </a:bodyPr>
          <a:lstStyle/>
          <a:p>
            <a:pPr>
              <a:defRPr sz="1000" b="1">
                <a:solidFill>
                  <a:srgbClr val="556B75"/>
                </a:solidFill>
                <a:latin typeface="Aptos"/>
              </a:defRPr>
            </a:pPr>
            <a:r>
              <a:t>READY</a:t>
            </a:r>
          </a:p>
        </p:txBody>
      </p:sp>
      <p:sp>
        <p:nvSpPr>
          <p:cNvPr id="20" name="Rounded Rectangle 19"/>
          <p:cNvSpPr/>
          <p:nvPr/>
        </p:nvSpPr>
        <p:spPr>
          <a:xfrm>
            <a:off x="822960" y="4105656"/>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24128" y="4224528"/>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5"/>
              </a:rPr>
              <a:t>SCRUM-149</a:t>
            </a:r>
          </a:p>
        </p:txBody>
      </p:sp>
      <p:sp>
        <p:nvSpPr>
          <p:cNvPr id="22" name="TextBox 21"/>
          <p:cNvSpPr txBox="1"/>
          <p:nvPr/>
        </p:nvSpPr>
        <p:spPr>
          <a:xfrm>
            <a:off x="2350008" y="4197096"/>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Implement logout and multi-tab sign-out sync</a:t>
            </a:r>
          </a:p>
        </p:txBody>
      </p:sp>
      <p:sp>
        <p:nvSpPr>
          <p:cNvPr id="23" name="TextBox 22"/>
          <p:cNvSpPr txBox="1"/>
          <p:nvPr/>
        </p:nvSpPr>
        <p:spPr>
          <a:xfrm>
            <a:off x="10021824" y="4261104"/>
            <a:ext cx="1124712" cy="228600"/>
          </a:xfrm>
          <a:prstGeom prst="rect">
            <a:avLst/>
          </a:prstGeom>
          <a:noFill/>
        </p:spPr>
        <p:txBody>
          <a:bodyPr wrap="square" lIns="18288" rIns="18288" tIns="9144" bIns="9144">
            <a:spAutoFit/>
          </a:bodyPr>
          <a:lstStyle/>
          <a:p>
            <a:pPr>
              <a:defRPr sz="1000" b="1">
                <a:solidFill>
                  <a:srgbClr val="556B75"/>
                </a:solidFill>
                <a:latin typeface="Aptos"/>
              </a:defRPr>
            </a:pPr>
            <a:r>
              <a:t>READY</a:t>
            </a:r>
          </a:p>
        </p:txBody>
      </p:sp>
      <p:sp>
        <p:nvSpPr>
          <p:cNvPr id="24" name="Rounded Rectangle 23"/>
          <p:cNvSpPr/>
          <p:nvPr/>
        </p:nvSpPr>
        <p:spPr>
          <a:xfrm>
            <a:off x="822960" y="4764024"/>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24128" y="4882896"/>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6"/>
              </a:rPr>
              <a:t>SCRUM-150</a:t>
            </a:r>
          </a:p>
        </p:txBody>
      </p:sp>
      <p:sp>
        <p:nvSpPr>
          <p:cNvPr id="26" name="TextBox 25"/>
          <p:cNvSpPr txBox="1"/>
          <p:nvPr/>
        </p:nvSpPr>
        <p:spPr>
          <a:xfrm>
            <a:off x="2350008" y="4855464"/>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Implement password reset and recovery</a:t>
            </a:r>
          </a:p>
        </p:txBody>
      </p:sp>
      <p:sp>
        <p:nvSpPr>
          <p:cNvPr id="27" name="TextBox 26"/>
          <p:cNvSpPr txBox="1"/>
          <p:nvPr/>
        </p:nvSpPr>
        <p:spPr>
          <a:xfrm>
            <a:off x="10021824" y="4919472"/>
            <a:ext cx="1124712" cy="228600"/>
          </a:xfrm>
          <a:prstGeom prst="rect">
            <a:avLst/>
          </a:prstGeom>
          <a:noFill/>
        </p:spPr>
        <p:txBody>
          <a:bodyPr wrap="square" lIns="18288" rIns="18288" tIns="9144" bIns="9144">
            <a:spAutoFit/>
          </a:bodyPr>
          <a:lstStyle/>
          <a:p>
            <a:pPr>
              <a:defRPr sz="1000" b="1">
                <a:solidFill>
                  <a:srgbClr val="556B75"/>
                </a:solidFill>
                <a:latin typeface="Aptos"/>
              </a:defRPr>
            </a:pPr>
            <a:r>
              <a:t>READY</a:t>
            </a:r>
          </a:p>
        </p:txBody>
      </p:sp>
      <p:sp>
        <p:nvSpPr>
          <p:cNvPr id="28" name="Rounded Rectangle 27"/>
          <p:cNvSpPr/>
          <p:nvPr/>
        </p:nvSpPr>
        <p:spPr>
          <a:xfrm>
            <a:off x="822960" y="5422392"/>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4128" y="5541264"/>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7"/>
              </a:rPr>
              <a:t>SCRUM-151</a:t>
            </a:r>
          </a:p>
        </p:txBody>
      </p:sp>
      <p:sp>
        <p:nvSpPr>
          <p:cNvPr id="30" name="TextBox 29"/>
          <p:cNvSpPr txBox="1"/>
          <p:nvPr/>
        </p:nvSpPr>
        <p:spPr>
          <a:xfrm>
            <a:off x="2350008" y="5513831"/>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Implement RBAC middleware and route guards</a:t>
            </a:r>
          </a:p>
        </p:txBody>
      </p:sp>
      <p:sp>
        <p:nvSpPr>
          <p:cNvPr id="31" name="TextBox 30"/>
          <p:cNvSpPr txBox="1"/>
          <p:nvPr/>
        </p:nvSpPr>
        <p:spPr>
          <a:xfrm>
            <a:off x="10021824" y="5577840"/>
            <a:ext cx="1124712" cy="228600"/>
          </a:xfrm>
          <a:prstGeom prst="rect">
            <a:avLst/>
          </a:prstGeom>
          <a:noFill/>
        </p:spPr>
        <p:txBody>
          <a:bodyPr wrap="square" lIns="18288" rIns="18288" tIns="9144" bIns="9144">
            <a:spAutoFit/>
          </a:bodyPr>
          <a:lstStyle/>
          <a:p>
            <a:pPr>
              <a:defRPr sz="1000" b="1">
                <a:solidFill>
                  <a:srgbClr val="556B75"/>
                </a:solidFill>
                <a:latin typeface="Aptos"/>
              </a:defRPr>
            </a:pPr>
            <a:r>
              <a:t>READY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8F6"/>
        </a:solidFill>
        <a:effectLst/>
      </p:bgPr>
    </p:bg>
    <p:spTree>
      <p:nvGrpSpPr>
        <p:cNvPr id="1" name=""/>
        <p:cNvGrpSpPr/>
        <p:nvPr/>
      </p:nvGrpSpPr>
      <p:grpSpPr/>
      <p:sp>
        <p:nvSpPr>
          <p:cNvPr id="2" name="Rectangle 1"/>
          <p:cNvSpPr/>
          <p:nvPr/>
        </p:nvSpPr>
        <p:spPr>
          <a:xfrm>
            <a:off x="585216" y="484632"/>
            <a:ext cx="64008" cy="429768"/>
          </a:xfrm>
          <a:prstGeom prst="rect">
            <a:avLst/>
          </a:prstGeom>
          <a:solidFill>
            <a:srgbClr val="087E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30352"/>
            <a:ext cx="10058400" cy="256032"/>
          </a:xfrm>
          <a:prstGeom prst="rect">
            <a:avLst/>
          </a:prstGeom>
          <a:noFill/>
        </p:spPr>
        <p:txBody>
          <a:bodyPr wrap="square" lIns="18288" rIns="18288" tIns="9144" bIns="9144">
            <a:spAutoFit/>
          </a:bodyPr>
          <a:lstStyle/>
          <a:p>
            <a:pPr>
              <a:defRPr sz="1100" b="1">
                <a:solidFill>
                  <a:srgbClr val="087E74"/>
                </a:solidFill>
                <a:latin typeface="Aptos"/>
              </a:defRPr>
            </a:pPr>
            <a:r>
              <a:t>INVENTORY / SPRINT 3</a:t>
            </a:r>
          </a:p>
        </p:txBody>
      </p:sp>
      <p:sp>
        <p:nvSpPr>
          <p:cNvPr id="4" name="TextBox 3"/>
          <p:cNvSpPr txBox="1"/>
          <p:nvPr/>
        </p:nvSpPr>
        <p:spPr>
          <a:xfrm>
            <a:off x="822960" y="932688"/>
            <a:ext cx="10789920" cy="804672"/>
          </a:xfrm>
          <a:prstGeom prst="rect">
            <a:avLst/>
          </a:prstGeom>
          <a:noFill/>
        </p:spPr>
        <p:txBody>
          <a:bodyPr wrap="square" lIns="18288" rIns="18288" tIns="9144" bIns="9144">
            <a:spAutoFit/>
          </a:bodyPr>
          <a:lstStyle/>
          <a:p>
            <a:pPr>
              <a:defRPr sz="3100" b="1">
                <a:solidFill>
                  <a:srgbClr val="153036"/>
                </a:solidFill>
                <a:latin typeface="Aptos"/>
              </a:defRPr>
            </a:pPr>
            <a:r>
              <a:t>Sprint 3 · ticket register</a:t>
            </a:r>
          </a:p>
        </p:txBody>
      </p:sp>
      <p:sp>
        <p:nvSpPr>
          <p:cNvPr id="5" name="TextBox 4"/>
          <p:cNvSpPr txBox="1"/>
          <p:nvPr/>
        </p:nvSpPr>
        <p:spPr>
          <a:xfrm>
            <a:off x="822960" y="1819656"/>
            <a:ext cx="10698480" cy="265176"/>
          </a:xfrm>
          <a:prstGeom prst="rect">
            <a:avLst/>
          </a:prstGeom>
          <a:noFill/>
        </p:spPr>
        <p:txBody>
          <a:bodyPr wrap="square" lIns="18288" rIns="18288" tIns="9144" bIns="9144">
            <a:spAutoFit/>
          </a:bodyPr>
          <a:lstStyle/>
          <a:p>
            <a:pPr>
              <a:defRPr sz="1300" b="0">
                <a:solidFill>
                  <a:srgbClr val="556B75"/>
                </a:solidFill>
                <a:latin typeface="Aptos"/>
              </a:defRPr>
            </a:pPr>
            <a:r>
              <a:t>19–24 of 35  /  appendix page 4 of 6</a:t>
            </a:r>
          </a:p>
        </p:txBody>
      </p:sp>
      <p:sp>
        <p:nvSpPr>
          <p:cNvPr id="6" name="Rectangle 5"/>
          <p:cNvSpPr/>
          <p:nvPr/>
        </p:nvSpPr>
        <p:spPr>
          <a:xfrm>
            <a:off x="822960" y="6345936"/>
            <a:ext cx="10561320" cy="13716"/>
          </a:xfrm>
          <a:prstGeom prst="rect">
            <a:avLst/>
          </a:prstGeom>
          <a:solidFill>
            <a:srgbClr val="D8E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428232"/>
            <a:ext cx="10789920" cy="237744"/>
          </a:xfrm>
          <a:prstGeom prst="rect">
            <a:avLst/>
          </a:prstGeom>
          <a:noFill/>
        </p:spPr>
        <p:txBody>
          <a:bodyPr wrap="square" lIns="18288" rIns="18288" tIns="9144" bIns="9144">
            <a:spAutoFit/>
          </a:bodyPr>
          <a:lstStyle/>
          <a:p>
            <a:pPr>
              <a:defRPr sz="900" b="0">
                <a:solidFill>
                  <a:srgbClr val="556B75"/>
                </a:solidFill>
                <a:latin typeface="Aptos"/>
              </a:defRPr>
            </a:pPr>
            <a:r>
              <a:t>ABANG CEBU AI  /  JIRA SNAPSHOT 16 OCT 2026                                          26</a:t>
            </a:r>
          </a:p>
        </p:txBody>
      </p:sp>
      <p:sp>
        <p:nvSpPr>
          <p:cNvPr id="8" name="Rounded Rectangle 7"/>
          <p:cNvSpPr/>
          <p:nvPr/>
        </p:nvSpPr>
        <p:spPr>
          <a:xfrm>
            <a:off x="822960" y="2130552"/>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249424"/>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2"/>
              </a:rPr>
              <a:t>SCRUM-152</a:t>
            </a:r>
          </a:p>
        </p:txBody>
      </p:sp>
      <p:sp>
        <p:nvSpPr>
          <p:cNvPr id="10" name="TextBox 9"/>
          <p:cNvSpPr txBox="1"/>
          <p:nvPr/>
        </p:nvSpPr>
        <p:spPr>
          <a:xfrm>
            <a:off x="2350008" y="2221992"/>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Implement standard API error contract and auth error handling</a:t>
            </a:r>
          </a:p>
        </p:txBody>
      </p:sp>
      <p:sp>
        <p:nvSpPr>
          <p:cNvPr id="11" name="TextBox 10"/>
          <p:cNvSpPr txBox="1"/>
          <p:nvPr/>
        </p:nvSpPr>
        <p:spPr>
          <a:xfrm>
            <a:off x="10021824" y="2286000"/>
            <a:ext cx="1124712" cy="228600"/>
          </a:xfrm>
          <a:prstGeom prst="rect">
            <a:avLst/>
          </a:prstGeom>
          <a:noFill/>
        </p:spPr>
        <p:txBody>
          <a:bodyPr wrap="square" lIns="18288" rIns="18288" tIns="9144" bIns="9144">
            <a:spAutoFit/>
          </a:bodyPr>
          <a:lstStyle/>
          <a:p>
            <a:pPr>
              <a:defRPr sz="1000" b="1">
                <a:solidFill>
                  <a:srgbClr val="556B75"/>
                </a:solidFill>
                <a:latin typeface="Aptos"/>
              </a:defRPr>
            </a:pPr>
            <a:r>
              <a:t>READY</a:t>
            </a:r>
          </a:p>
        </p:txBody>
      </p:sp>
      <p:sp>
        <p:nvSpPr>
          <p:cNvPr id="12" name="Rounded Rectangle 11"/>
          <p:cNvSpPr/>
          <p:nvPr/>
        </p:nvSpPr>
        <p:spPr>
          <a:xfrm>
            <a:off x="822960" y="2788920"/>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8" y="2907791"/>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3"/>
              </a:rPr>
              <a:t>SCRUM-153</a:t>
            </a:r>
          </a:p>
        </p:txBody>
      </p:sp>
      <p:sp>
        <p:nvSpPr>
          <p:cNvPr id="14" name="TextBox 13"/>
          <p:cNvSpPr txBox="1"/>
          <p:nvPr/>
        </p:nvSpPr>
        <p:spPr>
          <a:xfrm>
            <a:off x="2350008" y="2880360"/>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Build shared UI component library (Tailwind v4 tokens)</a:t>
            </a:r>
          </a:p>
        </p:txBody>
      </p:sp>
      <p:sp>
        <p:nvSpPr>
          <p:cNvPr id="15" name="TextBox 14"/>
          <p:cNvSpPr txBox="1"/>
          <p:nvPr/>
        </p:nvSpPr>
        <p:spPr>
          <a:xfrm>
            <a:off x="10021824" y="2944368"/>
            <a:ext cx="1124712" cy="228600"/>
          </a:xfrm>
          <a:prstGeom prst="rect">
            <a:avLst/>
          </a:prstGeom>
          <a:noFill/>
        </p:spPr>
        <p:txBody>
          <a:bodyPr wrap="square" lIns="18288" rIns="18288" tIns="9144" bIns="9144">
            <a:spAutoFit/>
          </a:bodyPr>
          <a:lstStyle/>
          <a:p>
            <a:pPr>
              <a:defRPr sz="1000" b="1">
                <a:solidFill>
                  <a:srgbClr val="556B75"/>
                </a:solidFill>
                <a:latin typeface="Aptos"/>
              </a:defRPr>
            </a:pPr>
            <a:r>
              <a:t>READY</a:t>
            </a:r>
          </a:p>
        </p:txBody>
      </p:sp>
      <p:sp>
        <p:nvSpPr>
          <p:cNvPr id="16" name="Rounded Rectangle 15"/>
          <p:cNvSpPr/>
          <p:nvPr/>
        </p:nvSpPr>
        <p:spPr>
          <a:xfrm>
            <a:off x="822960" y="3447288"/>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4128" y="3566160"/>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4"/>
              </a:rPr>
              <a:t>SCRUM-154</a:t>
            </a:r>
          </a:p>
        </p:txBody>
      </p:sp>
      <p:sp>
        <p:nvSpPr>
          <p:cNvPr id="18" name="TextBox 17"/>
          <p:cNvSpPr txBox="1"/>
          <p:nvPr/>
        </p:nvSpPr>
        <p:spPr>
          <a:xfrm>
            <a:off x="2350008" y="3538728"/>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Implement login, registration and password reset pages</a:t>
            </a:r>
          </a:p>
        </p:txBody>
      </p:sp>
      <p:sp>
        <p:nvSpPr>
          <p:cNvPr id="19" name="TextBox 18"/>
          <p:cNvSpPr txBox="1"/>
          <p:nvPr/>
        </p:nvSpPr>
        <p:spPr>
          <a:xfrm>
            <a:off x="10021824" y="3602736"/>
            <a:ext cx="1124712" cy="228600"/>
          </a:xfrm>
          <a:prstGeom prst="rect">
            <a:avLst/>
          </a:prstGeom>
          <a:noFill/>
        </p:spPr>
        <p:txBody>
          <a:bodyPr wrap="square" lIns="18288" rIns="18288" tIns="9144" bIns="9144">
            <a:spAutoFit/>
          </a:bodyPr>
          <a:lstStyle/>
          <a:p>
            <a:pPr>
              <a:defRPr sz="1000" b="1">
                <a:solidFill>
                  <a:srgbClr val="556B75"/>
                </a:solidFill>
                <a:latin typeface="Aptos"/>
              </a:defRPr>
            </a:pPr>
            <a:r>
              <a:t>READY</a:t>
            </a:r>
          </a:p>
        </p:txBody>
      </p:sp>
      <p:sp>
        <p:nvSpPr>
          <p:cNvPr id="20" name="Rounded Rectangle 19"/>
          <p:cNvSpPr/>
          <p:nvPr/>
        </p:nvSpPr>
        <p:spPr>
          <a:xfrm>
            <a:off x="822960" y="4105656"/>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24128" y="4224528"/>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5"/>
              </a:rPr>
              <a:t>SCRUM-155</a:t>
            </a:r>
          </a:p>
        </p:txBody>
      </p:sp>
      <p:sp>
        <p:nvSpPr>
          <p:cNvPr id="22" name="TextBox 21"/>
          <p:cNvSpPr txBox="1"/>
          <p:nvPr/>
        </p:nvSpPr>
        <p:spPr>
          <a:xfrm>
            <a:off x="2350008" y="4197096"/>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Implement MapLibre map canvas with Metro Cebu viewport and Locate Me</a:t>
            </a:r>
          </a:p>
        </p:txBody>
      </p:sp>
      <p:sp>
        <p:nvSpPr>
          <p:cNvPr id="23" name="TextBox 22"/>
          <p:cNvSpPr txBox="1"/>
          <p:nvPr/>
        </p:nvSpPr>
        <p:spPr>
          <a:xfrm>
            <a:off x="10021824" y="4261104"/>
            <a:ext cx="1124712" cy="228600"/>
          </a:xfrm>
          <a:prstGeom prst="rect">
            <a:avLst/>
          </a:prstGeom>
          <a:noFill/>
        </p:spPr>
        <p:txBody>
          <a:bodyPr wrap="square" lIns="18288" rIns="18288" tIns="9144" bIns="9144">
            <a:spAutoFit/>
          </a:bodyPr>
          <a:lstStyle/>
          <a:p>
            <a:pPr>
              <a:defRPr sz="1000" b="1">
                <a:solidFill>
                  <a:srgbClr val="556B75"/>
                </a:solidFill>
                <a:latin typeface="Aptos"/>
              </a:defRPr>
            </a:pPr>
            <a:r>
              <a:t>READY</a:t>
            </a:r>
          </a:p>
        </p:txBody>
      </p:sp>
      <p:sp>
        <p:nvSpPr>
          <p:cNvPr id="24" name="Rounded Rectangle 23"/>
          <p:cNvSpPr/>
          <p:nvPr/>
        </p:nvSpPr>
        <p:spPr>
          <a:xfrm>
            <a:off x="822960" y="4764024"/>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24128" y="4882896"/>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6"/>
              </a:rPr>
              <a:t>SCRUM-156</a:t>
            </a:r>
          </a:p>
        </p:txBody>
      </p:sp>
      <p:sp>
        <p:nvSpPr>
          <p:cNvPr id="26" name="TextBox 25"/>
          <p:cNvSpPr txBox="1"/>
          <p:nvPr/>
        </p:nvSpPr>
        <p:spPr>
          <a:xfrm>
            <a:off x="2350008" y="4855464"/>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Implement landing page, search bar and landmark auto-suggest</a:t>
            </a:r>
          </a:p>
        </p:txBody>
      </p:sp>
      <p:sp>
        <p:nvSpPr>
          <p:cNvPr id="27" name="TextBox 26"/>
          <p:cNvSpPr txBox="1"/>
          <p:nvPr/>
        </p:nvSpPr>
        <p:spPr>
          <a:xfrm>
            <a:off x="10021824" y="4919472"/>
            <a:ext cx="1124712" cy="228600"/>
          </a:xfrm>
          <a:prstGeom prst="rect">
            <a:avLst/>
          </a:prstGeom>
          <a:noFill/>
        </p:spPr>
        <p:txBody>
          <a:bodyPr wrap="square" lIns="18288" rIns="18288" tIns="9144" bIns="9144">
            <a:spAutoFit/>
          </a:bodyPr>
          <a:lstStyle/>
          <a:p>
            <a:pPr>
              <a:defRPr sz="1000" b="1">
                <a:solidFill>
                  <a:srgbClr val="556B75"/>
                </a:solidFill>
                <a:latin typeface="Aptos"/>
              </a:defRPr>
            </a:pPr>
            <a:r>
              <a:t>READY</a:t>
            </a:r>
          </a:p>
        </p:txBody>
      </p:sp>
      <p:sp>
        <p:nvSpPr>
          <p:cNvPr id="28" name="Rounded Rectangle 27"/>
          <p:cNvSpPr/>
          <p:nvPr/>
        </p:nvSpPr>
        <p:spPr>
          <a:xfrm>
            <a:off x="822960" y="5422392"/>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4128" y="5541264"/>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7"/>
              </a:rPr>
              <a:t>SCRUM-157</a:t>
            </a:r>
          </a:p>
        </p:txBody>
      </p:sp>
      <p:sp>
        <p:nvSpPr>
          <p:cNvPr id="30" name="TextBox 29"/>
          <p:cNvSpPr txBox="1"/>
          <p:nvPr/>
        </p:nvSpPr>
        <p:spPr>
          <a:xfrm>
            <a:off x="2350008" y="5513831"/>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Implement filter pills, URL state sync and results drawer</a:t>
            </a:r>
          </a:p>
        </p:txBody>
      </p:sp>
      <p:sp>
        <p:nvSpPr>
          <p:cNvPr id="31" name="TextBox 30"/>
          <p:cNvSpPr txBox="1"/>
          <p:nvPr/>
        </p:nvSpPr>
        <p:spPr>
          <a:xfrm>
            <a:off x="10021824" y="5577840"/>
            <a:ext cx="1124712" cy="228600"/>
          </a:xfrm>
          <a:prstGeom prst="rect">
            <a:avLst/>
          </a:prstGeom>
          <a:noFill/>
        </p:spPr>
        <p:txBody>
          <a:bodyPr wrap="square" lIns="18288" rIns="18288" tIns="9144" bIns="9144">
            <a:spAutoFit/>
          </a:bodyPr>
          <a:lstStyle/>
          <a:p>
            <a:pPr>
              <a:defRPr sz="1000" b="1">
                <a:solidFill>
                  <a:srgbClr val="556B75"/>
                </a:solidFill>
                <a:latin typeface="Aptos"/>
              </a:defRPr>
            </a:pPr>
            <a:r>
              <a:t>READY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8F6"/>
        </a:solidFill>
        <a:effectLst/>
      </p:bgPr>
    </p:bg>
    <p:spTree>
      <p:nvGrpSpPr>
        <p:cNvPr id="1" name=""/>
        <p:cNvGrpSpPr/>
        <p:nvPr/>
      </p:nvGrpSpPr>
      <p:grpSpPr/>
      <p:sp>
        <p:nvSpPr>
          <p:cNvPr id="2" name="Rectangle 1"/>
          <p:cNvSpPr/>
          <p:nvPr/>
        </p:nvSpPr>
        <p:spPr>
          <a:xfrm>
            <a:off x="585216" y="484632"/>
            <a:ext cx="64008" cy="429768"/>
          </a:xfrm>
          <a:prstGeom prst="rect">
            <a:avLst/>
          </a:prstGeom>
          <a:solidFill>
            <a:srgbClr val="087E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30352"/>
            <a:ext cx="10058400" cy="256032"/>
          </a:xfrm>
          <a:prstGeom prst="rect">
            <a:avLst/>
          </a:prstGeom>
          <a:noFill/>
        </p:spPr>
        <p:txBody>
          <a:bodyPr wrap="square" lIns="18288" rIns="18288" tIns="9144" bIns="9144">
            <a:spAutoFit/>
          </a:bodyPr>
          <a:lstStyle/>
          <a:p>
            <a:pPr>
              <a:defRPr sz="1100" b="1">
                <a:solidFill>
                  <a:srgbClr val="087E74"/>
                </a:solidFill>
                <a:latin typeface="Aptos"/>
              </a:defRPr>
            </a:pPr>
            <a:r>
              <a:t>INVENTORY / SPRINT 3</a:t>
            </a:r>
          </a:p>
        </p:txBody>
      </p:sp>
      <p:sp>
        <p:nvSpPr>
          <p:cNvPr id="4" name="TextBox 3"/>
          <p:cNvSpPr txBox="1"/>
          <p:nvPr/>
        </p:nvSpPr>
        <p:spPr>
          <a:xfrm>
            <a:off x="822960" y="932688"/>
            <a:ext cx="10789920" cy="804672"/>
          </a:xfrm>
          <a:prstGeom prst="rect">
            <a:avLst/>
          </a:prstGeom>
          <a:noFill/>
        </p:spPr>
        <p:txBody>
          <a:bodyPr wrap="square" lIns="18288" rIns="18288" tIns="9144" bIns="9144">
            <a:spAutoFit/>
          </a:bodyPr>
          <a:lstStyle/>
          <a:p>
            <a:pPr>
              <a:defRPr sz="3100" b="1">
                <a:solidFill>
                  <a:srgbClr val="153036"/>
                </a:solidFill>
                <a:latin typeface="Aptos"/>
              </a:defRPr>
            </a:pPr>
            <a:r>
              <a:t>Sprint 3 · ticket register</a:t>
            </a:r>
          </a:p>
        </p:txBody>
      </p:sp>
      <p:sp>
        <p:nvSpPr>
          <p:cNvPr id="5" name="TextBox 4"/>
          <p:cNvSpPr txBox="1"/>
          <p:nvPr/>
        </p:nvSpPr>
        <p:spPr>
          <a:xfrm>
            <a:off x="822960" y="1819656"/>
            <a:ext cx="10698480" cy="265176"/>
          </a:xfrm>
          <a:prstGeom prst="rect">
            <a:avLst/>
          </a:prstGeom>
          <a:noFill/>
        </p:spPr>
        <p:txBody>
          <a:bodyPr wrap="square" lIns="18288" rIns="18288" tIns="9144" bIns="9144">
            <a:spAutoFit/>
          </a:bodyPr>
          <a:lstStyle/>
          <a:p>
            <a:pPr>
              <a:defRPr sz="1300" b="0">
                <a:solidFill>
                  <a:srgbClr val="556B75"/>
                </a:solidFill>
                <a:latin typeface="Aptos"/>
              </a:defRPr>
            </a:pPr>
            <a:r>
              <a:t>25–30 of 35  /  appendix page 5 of 6</a:t>
            </a:r>
          </a:p>
        </p:txBody>
      </p:sp>
      <p:sp>
        <p:nvSpPr>
          <p:cNvPr id="6" name="Rectangle 5"/>
          <p:cNvSpPr/>
          <p:nvPr/>
        </p:nvSpPr>
        <p:spPr>
          <a:xfrm>
            <a:off x="822960" y="6345936"/>
            <a:ext cx="10561320" cy="13716"/>
          </a:xfrm>
          <a:prstGeom prst="rect">
            <a:avLst/>
          </a:prstGeom>
          <a:solidFill>
            <a:srgbClr val="D8E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428232"/>
            <a:ext cx="10789920" cy="237744"/>
          </a:xfrm>
          <a:prstGeom prst="rect">
            <a:avLst/>
          </a:prstGeom>
          <a:noFill/>
        </p:spPr>
        <p:txBody>
          <a:bodyPr wrap="square" lIns="18288" rIns="18288" tIns="9144" bIns="9144">
            <a:spAutoFit/>
          </a:bodyPr>
          <a:lstStyle/>
          <a:p>
            <a:pPr>
              <a:defRPr sz="900" b="0">
                <a:solidFill>
                  <a:srgbClr val="556B75"/>
                </a:solidFill>
                <a:latin typeface="Aptos"/>
              </a:defRPr>
            </a:pPr>
            <a:r>
              <a:t>ABANG CEBU AI  /  JIRA SNAPSHOT 16 OCT 2026                                          27</a:t>
            </a:r>
          </a:p>
        </p:txBody>
      </p:sp>
      <p:sp>
        <p:nvSpPr>
          <p:cNvPr id="8" name="Rounded Rectangle 7"/>
          <p:cNvSpPr/>
          <p:nvPr/>
        </p:nvSpPr>
        <p:spPr>
          <a:xfrm>
            <a:off x="822960" y="2130552"/>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249424"/>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2"/>
              </a:rPr>
              <a:t>SCRUM-158</a:t>
            </a:r>
          </a:p>
        </p:txBody>
      </p:sp>
      <p:sp>
        <p:nvSpPr>
          <p:cNvPr id="10" name="TextBox 9"/>
          <p:cNvSpPr txBox="1"/>
          <p:nvPr/>
        </p:nvSpPr>
        <p:spPr>
          <a:xfrm>
            <a:off x="2350008" y="2221992"/>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Module 6: AI Rental Assistant Flowcharts and Specification</a:t>
            </a:r>
          </a:p>
        </p:txBody>
      </p:sp>
      <p:sp>
        <p:nvSpPr>
          <p:cNvPr id="11" name="TextBox 10"/>
          <p:cNvSpPr txBox="1"/>
          <p:nvPr/>
        </p:nvSpPr>
        <p:spPr>
          <a:xfrm>
            <a:off x="10021824" y="2286000"/>
            <a:ext cx="1124712" cy="228600"/>
          </a:xfrm>
          <a:prstGeom prst="rect">
            <a:avLst/>
          </a:prstGeom>
          <a:noFill/>
        </p:spPr>
        <p:txBody>
          <a:bodyPr wrap="square" lIns="18288" rIns="18288" tIns="9144" bIns="9144">
            <a:spAutoFit/>
          </a:bodyPr>
          <a:lstStyle/>
          <a:p>
            <a:pPr>
              <a:defRPr sz="1000" b="1">
                <a:solidFill>
                  <a:srgbClr val="556B75"/>
                </a:solidFill>
                <a:latin typeface="Aptos"/>
              </a:defRPr>
            </a:pPr>
            <a:r>
              <a:t>READY</a:t>
            </a:r>
          </a:p>
        </p:txBody>
      </p:sp>
      <p:sp>
        <p:nvSpPr>
          <p:cNvPr id="12" name="Rounded Rectangle 11"/>
          <p:cNvSpPr/>
          <p:nvPr/>
        </p:nvSpPr>
        <p:spPr>
          <a:xfrm>
            <a:off x="822960" y="2788920"/>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8" y="2907791"/>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3"/>
              </a:rPr>
              <a:t>SCRUM-159</a:t>
            </a:r>
          </a:p>
        </p:txBody>
      </p:sp>
      <p:sp>
        <p:nvSpPr>
          <p:cNvPr id="14" name="TextBox 13"/>
          <p:cNvSpPr txBox="1"/>
          <p:nvPr/>
        </p:nvSpPr>
        <p:spPr>
          <a:xfrm>
            <a:off x="2350008" y="2880360"/>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Define AI assistant API contract, prompt policy and evaluation set</a:t>
            </a:r>
          </a:p>
        </p:txBody>
      </p:sp>
      <p:sp>
        <p:nvSpPr>
          <p:cNvPr id="15" name="TextBox 14"/>
          <p:cNvSpPr txBox="1"/>
          <p:nvPr/>
        </p:nvSpPr>
        <p:spPr>
          <a:xfrm>
            <a:off x="10021824" y="2944368"/>
            <a:ext cx="1124712" cy="228600"/>
          </a:xfrm>
          <a:prstGeom prst="rect">
            <a:avLst/>
          </a:prstGeom>
          <a:noFill/>
        </p:spPr>
        <p:txBody>
          <a:bodyPr wrap="square" lIns="18288" rIns="18288" tIns="9144" bIns="9144">
            <a:spAutoFit/>
          </a:bodyPr>
          <a:lstStyle/>
          <a:p>
            <a:pPr>
              <a:defRPr sz="1000" b="1">
                <a:solidFill>
                  <a:srgbClr val="556B75"/>
                </a:solidFill>
                <a:latin typeface="Aptos"/>
              </a:defRPr>
            </a:pPr>
            <a:r>
              <a:t>READY</a:t>
            </a:r>
          </a:p>
        </p:txBody>
      </p:sp>
      <p:sp>
        <p:nvSpPr>
          <p:cNvPr id="16" name="Rounded Rectangle 15"/>
          <p:cNvSpPr/>
          <p:nvPr/>
        </p:nvSpPr>
        <p:spPr>
          <a:xfrm>
            <a:off x="822960" y="3447288"/>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4128" y="3566160"/>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4"/>
              </a:rPr>
              <a:t>SCRUM-160</a:t>
            </a:r>
          </a:p>
        </p:txBody>
      </p:sp>
      <p:sp>
        <p:nvSpPr>
          <p:cNvPr id="18" name="TextBox 17"/>
          <p:cNvSpPr txBox="1"/>
          <p:nvPr/>
        </p:nvSpPr>
        <p:spPr>
          <a:xfrm>
            <a:off x="2350008" y="3538728"/>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Extend Function Specification Document with Modules 3 to 5</a:t>
            </a:r>
          </a:p>
        </p:txBody>
      </p:sp>
      <p:sp>
        <p:nvSpPr>
          <p:cNvPr id="19" name="TextBox 18"/>
          <p:cNvSpPr txBox="1"/>
          <p:nvPr/>
        </p:nvSpPr>
        <p:spPr>
          <a:xfrm>
            <a:off x="10021824" y="3602736"/>
            <a:ext cx="1124712" cy="228600"/>
          </a:xfrm>
          <a:prstGeom prst="rect">
            <a:avLst/>
          </a:prstGeom>
          <a:noFill/>
        </p:spPr>
        <p:txBody>
          <a:bodyPr wrap="square" lIns="18288" rIns="18288" tIns="9144" bIns="9144">
            <a:spAutoFit/>
          </a:bodyPr>
          <a:lstStyle/>
          <a:p>
            <a:pPr>
              <a:defRPr sz="1000" b="1">
                <a:solidFill>
                  <a:srgbClr val="556B75"/>
                </a:solidFill>
                <a:latin typeface="Aptos"/>
              </a:defRPr>
            </a:pPr>
            <a:r>
              <a:t>READY</a:t>
            </a:r>
          </a:p>
        </p:txBody>
      </p:sp>
      <p:sp>
        <p:nvSpPr>
          <p:cNvPr id="20" name="Rounded Rectangle 19"/>
          <p:cNvSpPr/>
          <p:nvPr/>
        </p:nvSpPr>
        <p:spPr>
          <a:xfrm>
            <a:off x="822960" y="4105656"/>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24128" y="4224528"/>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5"/>
              </a:rPr>
              <a:t>SCRUM-161</a:t>
            </a:r>
          </a:p>
        </p:txBody>
      </p:sp>
      <p:sp>
        <p:nvSpPr>
          <p:cNvPr id="22" name="TextBox 21"/>
          <p:cNvSpPr txBox="1"/>
          <p:nvPr/>
        </p:nvSpPr>
        <p:spPr>
          <a:xfrm>
            <a:off x="2350008" y="4197096"/>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Review and close Sprint 2 carry-over (SCRUM-125, 126, 127)</a:t>
            </a:r>
          </a:p>
        </p:txBody>
      </p:sp>
      <p:sp>
        <p:nvSpPr>
          <p:cNvPr id="23" name="TextBox 22"/>
          <p:cNvSpPr txBox="1"/>
          <p:nvPr/>
        </p:nvSpPr>
        <p:spPr>
          <a:xfrm>
            <a:off x="10021824" y="4261104"/>
            <a:ext cx="1124712" cy="228600"/>
          </a:xfrm>
          <a:prstGeom prst="rect">
            <a:avLst/>
          </a:prstGeom>
          <a:noFill/>
        </p:spPr>
        <p:txBody>
          <a:bodyPr wrap="square" lIns="18288" rIns="18288" tIns="9144" bIns="9144">
            <a:spAutoFit/>
          </a:bodyPr>
          <a:lstStyle/>
          <a:p>
            <a:pPr>
              <a:defRPr sz="1000" b="1">
                <a:solidFill>
                  <a:srgbClr val="556B75"/>
                </a:solidFill>
                <a:latin typeface="Aptos"/>
              </a:defRPr>
            </a:pPr>
            <a:r>
              <a:t>READY</a:t>
            </a:r>
          </a:p>
        </p:txBody>
      </p:sp>
      <p:sp>
        <p:nvSpPr>
          <p:cNvPr id="24" name="Rounded Rectangle 23"/>
          <p:cNvSpPr/>
          <p:nvPr/>
        </p:nvSpPr>
        <p:spPr>
          <a:xfrm>
            <a:off x="822960" y="4764024"/>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24128" y="4882896"/>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6"/>
              </a:rPr>
              <a:t>SCRUM-162</a:t>
            </a:r>
          </a:p>
        </p:txBody>
      </p:sp>
      <p:sp>
        <p:nvSpPr>
          <p:cNvPr id="26" name="TextBox 25"/>
          <p:cNvSpPr txBox="1"/>
          <p:nvPr/>
        </p:nvSpPr>
        <p:spPr>
          <a:xfrm>
            <a:off x="2350008" y="4855464"/>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Execute authentication test plan against staging</a:t>
            </a:r>
          </a:p>
        </p:txBody>
      </p:sp>
      <p:sp>
        <p:nvSpPr>
          <p:cNvPr id="27" name="TextBox 26"/>
          <p:cNvSpPr txBox="1"/>
          <p:nvPr/>
        </p:nvSpPr>
        <p:spPr>
          <a:xfrm>
            <a:off x="10021824" y="4919472"/>
            <a:ext cx="1124712" cy="228600"/>
          </a:xfrm>
          <a:prstGeom prst="rect">
            <a:avLst/>
          </a:prstGeom>
          <a:noFill/>
        </p:spPr>
        <p:txBody>
          <a:bodyPr wrap="square" lIns="18288" rIns="18288" tIns="9144" bIns="9144">
            <a:spAutoFit/>
          </a:bodyPr>
          <a:lstStyle/>
          <a:p>
            <a:pPr>
              <a:defRPr sz="1000" b="1">
                <a:solidFill>
                  <a:srgbClr val="556B75"/>
                </a:solidFill>
                <a:latin typeface="Aptos"/>
              </a:defRPr>
            </a:pPr>
            <a:r>
              <a:t>READY</a:t>
            </a:r>
          </a:p>
        </p:txBody>
      </p:sp>
      <p:sp>
        <p:nvSpPr>
          <p:cNvPr id="28" name="Rounded Rectangle 27"/>
          <p:cNvSpPr/>
          <p:nvPr/>
        </p:nvSpPr>
        <p:spPr>
          <a:xfrm>
            <a:off x="822960" y="5422392"/>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4128" y="5541264"/>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7"/>
              </a:rPr>
              <a:t>SCRUM-163</a:t>
            </a:r>
          </a:p>
        </p:txBody>
      </p:sp>
      <p:sp>
        <p:nvSpPr>
          <p:cNvPr id="30" name="TextBox 29"/>
          <p:cNvSpPr txBox="1"/>
          <p:nvPr/>
        </p:nvSpPr>
        <p:spPr>
          <a:xfrm>
            <a:off x="2350008" y="5513831"/>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Execute RBAC and route guard tests</a:t>
            </a:r>
          </a:p>
        </p:txBody>
      </p:sp>
      <p:sp>
        <p:nvSpPr>
          <p:cNvPr id="31" name="TextBox 30"/>
          <p:cNvSpPr txBox="1"/>
          <p:nvPr/>
        </p:nvSpPr>
        <p:spPr>
          <a:xfrm>
            <a:off x="10021824" y="5577840"/>
            <a:ext cx="1124712" cy="228600"/>
          </a:xfrm>
          <a:prstGeom prst="rect">
            <a:avLst/>
          </a:prstGeom>
          <a:noFill/>
        </p:spPr>
        <p:txBody>
          <a:bodyPr wrap="square" lIns="18288" rIns="18288" tIns="9144" bIns="9144">
            <a:spAutoFit/>
          </a:bodyPr>
          <a:lstStyle/>
          <a:p>
            <a:pPr>
              <a:defRPr sz="1000" b="1">
                <a:solidFill>
                  <a:srgbClr val="556B75"/>
                </a:solidFill>
                <a:latin typeface="Aptos"/>
              </a:defRPr>
            </a:pPr>
            <a:r>
              <a:t>READY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8F6"/>
        </a:solidFill>
        <a:effectLst/>
      </p:bgPr>
    </p:bg>
    <p:spTree>
      <p:nvGrpSpPr>
        <p:cNvPr id="1" name=""/>
        <p:cNvGrpSpPr/>
        <p:nvPr/>
      </p:nvGrpSpPr>
      <p:grpSpPr/>
      <p:sp>
        <p:nvSpPr>
          <p:cNvPr id="2" name="Rectangle 1"/>
          <p:cNvSpPr/>
          <p:nvPr/>
        </p:nvSpPr>
        <p:spPr>
          <a:xfrm>
            <a:off x="585216" y="484632"/>
            <a:ext cx="64008" cy="429768"/>
          </a:xfrm>
          <a:prstGeom prst="rect">
            <a:avLst/>
          </a:prstGeom>
          <a:solidFill>
            <a:srgbClr val="087E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30352"/>
            <a:ext cx="10058400" cy="256032"/>
          </a:xfrm>
          <a:prstGeom prst="rect">
            <a:avLst/>
          </a:prstGeom>
          <a:noFill/>
        </p:spPr>
        <p:txBody>
          <a:bodyPr wrap="square" lIns="18288" rIns="18288" tIns="9144" bIns="9144">
            <a:spAutoFit/>
          </a:bodyPr>
          <a:lstStyle/>
          <a:p>
            <a:pPr>
              <a:defRPr sz="1100" b="1">
                <a:solidFill>
                  <a:srgbClr val="087E74"/>
                </a:solidFill>
                <a:latin typeface="Aptos"/>
              </a:defRPr>
            </a:pPr>
            <a:r>
              <a:t>INVENTORY / SPRINT 3</a:t>
            </a:r>
          </a:p>
        </p:txBody>
      </p:sp>
      <p:sp>
        <p:nvSpPr>
          <p:cNvPr id="4" name="TextBox 3"/>
          <p:cNvSpPr txBox="1"/>
          <p:nvPr/>
        </p:nvSpPr>
        <p:spPr>
          <a:xfrm>
            <a:off x="822960" y="932688"/>
            <a:ext cx="10789920" cy="804672"/>
          </a:xfrm>
          <a:prstGeom prst="rect">
            <a:avLst/>
          </a:prstGeom>
          <a:noFill/>
        </p:spPr>
        <p:txBody>
          <a:bodyPr wrap="square" lIns="18288" rIns="18288" tIns="9144" bIns="9144">
            <a:spAutoFit/>
          </a:bodyPr>
          <a:lstStyle/>
          <a:p>
            <a:pPr>
              <a:defRPr sz="3100" b="1">
                <a:solidFill>
                  <a:srgbClr val="153036"/>
                </a:solidFill>
                <a:latin typeface="Aptos"/>
              </a:defRPr>
            </a:pPr>
            <a:r>
              <a:t>Sprint 3 · ticket register</a:t>
            </a:r>
          </a:p>
        </p:txBody>
      </p:sp>
      <p:sp>
        <p:nvSpPr>
          <p:cNvPr id="5" name="TextBox 4"/>
          <p:cNvSpPr txBox="1"/>
          <p:nvPr/>
        </p:nvSpPr>
        <p:spPr>
          <a:xfrm>
            <a:off x="822960" y="1819656"/>
            <a:ext cx="10698480" cy="265176"/>
          </a:xfrm>
          <a:prstGeom prst="rect">
            <a:avLst/>
          </a:prstGeom>
          <a:noFill/>
        </p:spPr>
        <p:txBody>
          <a:bodyPr wrap="square" lIns="18288" rIns="18288" tIns="9144" bIns="9144">
            <a:spAutoFit/>
          </a:bodyPr>
          <a:lstStyle/>
          <a:p>
            <a:pPr>
              <a:defRPr sz="1300" b="0">
                <a:solidFill>
                  <a:srgbClr val="556B75"/>
                </a:solidFill>
                <a:latin typeface="Aptos"/>
              </a:defRPr>
            </a:pPr>
            <a:r>
              <a:t>31–35 of 35  /  appendix page 6 of 6</a:t>
            </a:r>
          </a:p>
        </p:txBody>
      </p:sp>
      <p:sp>
        <p:nvSpPr>
          <p:cNvPr id="6" name="Rectangle 5"/>
          <p:cNvSpPr/>
          <p:nvPr/>
        </p:nvSpPr>
        <p:spPr>
          <a:xfrm>
            <a:off x="822960" y="6345936"/>
            <a:ext cx="10561320" cy="13716"/>
          </a:xfrm>
          <a:prstGeom prst="rect">
            <a:avLst/>
          </a:prstGeom>
          <a:solidFill>
            <a:srgbClr val="D8E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428232"/>
            <a:ext cx="10789920" cy="237744"/>
          </a:xfrm>
          <a:prstGeom prst="rect">
            <a:avLst/>
          </a:prstGeom>
          <a:noFill/>
        </p:spPr>
        <p:txBody>
          <a:bodyPr wrap="square" lIns="18288" rIns="18288" tIns="9144" bIns="9144">
            <a:spAutoFit/>
          </a:bodyPr>
          <a:lstStyle/>
          <a:p>
            <a:pPr>
              <a:defRPr sz="900" b="0">
                <a:solidFill>
                  <a:srgbClr val="556B75"/>
                </a:solidFill>
                <a:latin typeface="Aptos"/>
              </a:defRPr>
            </a:pPr>
            <a:r>
              <a:t>ABANG CEBU AI  /  JIRA SNAPSHOT 16 OCT 2026                                          28</a:t>
            </a:r>
          </a:p>
        </p:txBody>
      </p:sp>
      <p:sp>
        <p:nvSpPr>
          <p:cNvPr id="8" name="Rounded Rectangle 7"/>
          <p:cNvSpPr/>
          <p:nvPr/>
        </p:nvSpPr>
        <p:spPr>
          <a:xfrm>
            <a:off x="822960" y="2130552"/>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249424"/>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2"/>
              </a:rPr>
              <a:t>SCRUM-164</a:t>
            </a:r>
          </a:p>
        </p:txBody>
      </p:sp>
      <p:sp>
        <p:nvSpPr>
          <p:cNvPr id="10" name="TextBox 9"/>
          <p:cNvSpPr txBox="1"/>
          <p:nvPr/>
        </p:nvSpPr>
        <p:spPr>
          <a:xfrm>
            <a:off x="2350008" y="2221992"/>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Browser, mobile and usability testing of auth pages and map UI</a:t>
            </a:r>
          </a:p>
        </p:txBody>
      </p:sp>
      <p:sp>
        <p:nvSpPr>
          <p:cNvPr id="11" name="TextBox 10"/>
          <p:cNvSpPr txBox="1"/>
          <p:nvPr/>
        </p:nvSpPr>
        <p:spPr>
          <a:xfrm>
            <a:off x="10021824" y="2286000"/>
            <a:ext cx="1124712" cy="228600"/>
          </a:xfrm>
          <a:prstGeom prst="rect">
            <a:avLst/>
          </a:prstGeom>
          <a:noFill/>
        </p:spPr>
        <p:txBody>
          <a:bodyPr wrap="square" lIns="18288" rIns="18288" tIns="9144" bIns="9144">
            <a:spAutoFit/>
          </a:bodyPr>
          <a:lstStyle/>
          <a:p>
            <a:pPr>
              <a:defRPr sz="1000" b="1">
                <a:solidFill>
                  <a:srgbClr val="556B75"/>
                </a:solidFill>
                <a:latin typeface="Aptos"/>
              </a:defRPr>
            </a:pPr>
            <a:r>
              <a:t>READY</a:t>
            </a:r>
          </a:p>
        </p:txBody>
      </p:sp>
      <p:sp>
        <p:nvSpPr>
          <p:cNvPr id="12" name="Rounded Rectangle 11"/>
          <p:cNvSpPr/>
          <p:nvPr/>
        </p:nvSpPr>
        <p:spPr>
          <a:xfrm>
            <a:off x="822960" y="2788920"/>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8" y="2907791"/>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3"/>
              </a:rPr>
              <a:t>SCRUM-165</a:t>
            </a:r>
          </a:p>
        </p:txBody>
      </p:sp>
      <p:sp>
        <p:nvSpPr>
          <p:cNvPr id="14" name="TextBox 13"/>
          <p:cNvSpPr txBox="1"/>
          <p:nvPr/>
        </p:nvSpPr>
        <p:spPr>
          <a:xfrm>
            <a:off x="2350008" y="2880360"/>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Write test plans for Modules 3, 4 and 5</a:t>
            </a:r>
          </a:p>
        </p:txBody>
      </p:sp>
      <p:sp>
        <p:nvSpPr>
          <p:cNvPr id="15" name="TextBox 14"/>
          <p:cNvSpPr txBox="1"/>
          <p:nvPr/>
        </p:nvSpPr>
        <p:spPr>
          <a:xfrm>
            <a:off x="10021824" y="2944368"/>
            <a:ext cx="1124712" cy="228600"/>
          </a:xfrm>
          <a:prstGeom prst="rect">
            <a:avLst/>
          </a:prstGeom>
          <a:noFill/>
        </p:spPr>
        <p:txBody>
          <a:bodyPr wrap="square" lIns="18288" rIns="18288" tIns="9144" bIns="9144">
            <a:spAutoFit/>
          </a:bodyPr>
          <a:lstStyle/>
          <a:p>
            <a:pPr>
              <a:defRPr sz="1000" b="1">
                <a:solidFill>
                  <a:srgbClr val="556B75"/>
                </a:solidFill>
                <a:latin typeface="Aptos"/>
              </a:defRPr>
            </a:pPr>
            <a:r>
              <a:t>READY</a:t>
            </a:r>
          </a:p>
        </p:txBody>
      </p:sp>
      <p:sp>
        <p:nvSpPr>
          <p:cNvPr id="16" name="Rounded Rectangle 15"/>
          <p:cNvSpPr/>
          <p:nvPr/>
        </p:nvSpPr>
        <p:spPr>
          <a:xfrm>
            <a:off x="822960" y="3447288"/>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4128" y="3566160"/>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4"/>
              </a:rPr>
              <a:t>SCRUM-166</a:t>
            </a:r>
          </a:p>
        </p:txBody>
      </p:sp>
      <p:sp>
        <p:nvSpPr>
          <p:cNvPr id="18" name="TextBox 17"/>
          <p:cNvSpPr txBox="1"/>
          <p:nvPr/>
        </p:nvSpPr>
        <p:spPr>
          <a:xfrm>
            <a:off x="2350008" y="3538728"/>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Execute k6 load tests on staging (steady-state and burst)</a:t>
            </a:r>
          </a:p>
        </p:txBody>
      </p:sp>
      <p:sp>
        <p:nvSpPr>
          <p:cNvPr id="19" name="TextBox 18"/>
          <p:cNvSpPr txBox="1"/>
          <p:nvPr/>
        </p:nvSpPr>
        <p:spPr>
          <a:xfrm>
            <a:off x="10021824" y="3602736"/>
            <a:ext cx="1124712" cy="228600"/>
          </a:xfrm>
          <a:prstGeom prst="rect">
            <a:avLst/>
          </a:prstGeom>
          <a:noFill/>
        </p:spPr>
        <p:txBody>
          <a:bodyPr wrap="square" lIns="18288" rIns="18288" tIns="9144" bIns="9144">
            <a:spAutoFit/>
          </a:bodyPr>
          <a:lstStyle/>
          <a:p>
            <a:pPr>
              <a:defRPr sz="1000" b="1">
                <a:solidFill>
                  <a:srgbClr val="556B75"/>
                </a:solidFill>
                <a:latin typeface="Aptos"/>
              </a:defRPr>
            </a:pPr>
            <a:r>
              <a:t>READY</a:t>
            </a:r>
          </a:p>
        </p:txBody>
      </p:sp>
      <p:sp>
        <p:nvSpPr>
          <p:cNvPr id="20" name="Rounded Rectangle 19"/>
          <p:cNvSpPr/>
          <p:nvPr/>
        </p:nvSpPr>
        <p:spPr>
          <a:xfrm>
            <a:off x="822960" y="4105656"/>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24128" y="4224528"/>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5"/>
              </a:rPr>
              <a:t>SCRUM-167</a:t>
            </a:r>
          </a:p>
        </p:txBody>
      </p:sp>
      <p:sp>
        <p:nvSpPr>
          <p:cNvPr id="22" name="TextBox 21"/>
          <p:cNvSpPr txBox="1"/>
          <p:nvPr/>
        </p:nvSpPr>
        <p:spPr>
          <a:xfrm>
            <a:off x="2350008" y="4197096"/>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System test plan and first end-to-end run (auth to map to listing)</a:t>
            </a:r>
          </a:p>
        </p:txBody>
      </p:sp>
      <p:sp>
        <p:nvSpPr>
          <p:cNvPr id="23" name="TextBox 22"/>
          <p:cNvSpPr txBox="1"/>
          <p:nvPr/>
        </p:nvSpPr>
        <p:spPr>
          <a:xfrm>
            <a:off x="10021824" y="4261104"/>
            <a:ext cx="1124712" cy="228600"/>
          </a:xfrm>
          <a:prstGeom prst="rect">
            <a:avLst/>
          </a:prstGeom>
          <a:noFill/>
        </p:spPr>
        <p:txBody>
          <a:bodyPr wrap="square" lIns="18288" rIns="18288" tIns="9144" bIns="9144">
            <a:spAutoFit/>
          </a:bodyPr>
          <a:lstStyle/>
          <a:p>
            <a:pPr>
              <a:defRPr sz="1000" b="1">
                <a:solidFill>
                  <a:srgbClr val="556B75"/>
                </a:solidFill>
                <a:latin typeface="Aptos"/>
              </a:defRPr>
            </a:pPr>
            <a:r>
              <a:t>READY</a:t>
            </a:r>
          </a:p>
        </p:txBody>
      </p:sp>
      <p:sp>
        <p:nvSpPr>
          <p:cNvPr id="24" name="Rounded Rectangle 23"/>
          <p:cNvSpPr/>
          <p:nvPr/>
        </p:nvSpPr>
        <p:spPr>
          <a:xfrm>
            <a:off x="822960" y="4764024"/>
            <a:ext cx="10524744" cy="5852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24128" y="4882896"/>
            <a:ext cx="1243584" cy="292608"/>
          </a:xfrm>
          <a:prstGeom prst="rect">
            <a:avLst/>
          </a:prstGeom>
          <a:noFill/>
        </p:spPr>
        <p:txBody>
          <a:bodyPr wrap="square" lIns="18288" rIns="18288" tIns="9144" bIns="9144">
            <a:spAutoFit/>
          </a:bodyPr>
          <a:lstStyle/>
          <a:p>
            <a:pPr>
              <a:defRPr sz="1400" b="1">
                <a:solidFill>
                  <a:srgbClr val="087E74"/>
                </a:solidFill>
                <a:latin typeface="Aptos"/>
              </a:defRPr>
            </a:pPr>
            <a:r>
              <a:rPr>
                <a:hlinkClick r:id="rId6"/>
              </a:rPr>
              <a:t>SCRUM-168</a:t>
            </a:r>
          </a:p>
        </p:txBody>
      </p:sp>
      <p:sp>
        <p:nvSpPr>
          <p:cNvPr id="26" name="TextBox 25"/>
          <p:cNvSpPr txBox="1"/>
          <p:nvPr/>
        </p:nvSpPr>
        <p:spPr>
          <a:xfrm>
            <a:off x="2350008" y="4855464"/>
            <a:ext cx="7571231" cy="438912"/>
          </a:xfrm>
          <a:prstGeom prst="rect">
            <a:avLst/>
          </a:prstGeom>
          <a:noFill/>
        </p:spPr>
        <p:txBody>
          <a:bodyPr wrap="square" lIns="18288" rIns="18288" tIns="9144" bIns="9144">
            <a:spAutoFit/>
          </a:bodyPr>
          <a:lstStyle/>
          <a:p>
            <a:pPr>
              <a:defRPr sz="1400" b="0">
                <a:solidFill>
                  <a:srgbClr val="153036"/>
                </a:solidFill>
                <a:latin typeface="Aptos"/>
              </a:defRPr>
            </a:pPr>
            <a:r>
              <a:t>Sprint 3 review, retrospective and reporting</a:t>
            </a:r>
          </a:p>
        </p:txBody>
      </p:sp>
      <p:sp>
        <p:nvSpPr>
          <p:cNvPr id="27" name="TextBox 26"/>
          <p:cNvSpPr txBox="1"/>
          <p:nvPr/>
        </p:nvSpPr>
        <p:spPr>
          <a:xfrm>
            <a:off x="10021824" y="4919472"/>
            <a:ext cx="1124712" cy="228600"/>
          </a:xfrm>
          <a:prstGeom prst="rect">
            <a:avLst/>
          </a:prstGeom>
          <a:noFill/>
        </p:spPr>
        <p:txBody>
          <a:bodyPr wrap="square" lIns="18288" rIns="18288" tIns="9144" bIns="9144">
            <a:spAutoFit/>
          </a:bodyPr>
          <a:lstStyle/>
          <a:p>
            <a:pPr>
              <a:defRPr sz="1000" b="1">
                <a:solidFill>
                  <a:srgbClr val="556B75"/>
                </a:solidFill>
                <a:latin typeface="Aptos"/>
              </a:defRPr>
            </a:pPr>
            <a:r>
              <a:t>READY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8F6"/>
        </a:solidFill>
        <a:effectLst/>
      </p:bgPr>
    </p:bg>
    <p:spTree>
      <p:nvGrpSpPr>
        <p:cNvPr id="1" name=""/>
        <p:cNvGrpSpPr/>
        <p:nvPr/>
      </p:nvGrpSpPr>
      <p:grpSpPr/>
      <p:sp>
        <p:nvSpPr>
          <p:cNvPr id="2" name="Rectangle 1"/>
          <p:cNvSpPr/>
          <p:nvPr/>
        </p:nvSpPr>
        <p:spPr>
          <a:xfrm>
            <a:off x="585216" y="484632"/>
            <a:ext cx="64008" cy="429768"/>
          </a:xfrm>
          <a:prstGeom prst="rect">
            <a:avLst/>
          </a:prstGeom>
          <a:solidFill>
            <a:srgbClr val="087E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30352"/>
            <a:ext cx="10058400" cy="256032"/>
          </a:xfrm>
          <a:prstGeom prst="rect">
            <a:avLst/>
          </a:prstGeom>
          <a:noFill/>
        </p:spPr>
        <p:txBody>
          <a:bodyPr wrap="square" lIns="18288" rIns="18288" tIns="9144" bIns="9144">
            <a:spAutoFit/>
          </a:bodyPr>
          <a:lstStyle/>
          <a:p>
            <a:pPr>
              <a:defRPr sz="1100" b="1">
                <a:solidFill>
                  <a:srgbClr val="087E74"/>
                </a:solidFill>
                <a:latin typeface="Aptos"/>
              </a:defRPr>
            </a:pPr>
            <a:r>
              <a:t>METHOD / SOURCE</a:t>
            </a:r>
          </a:p>
        </p:txBody>
      </p:sp>
      <p:sp>
        <p:nvSpPr>
          <p:cNvPr id="4" name="TextBox 3"/>
          <p:cNvSpPr txBox="1"/>
          <p:nvPr/>
        </p:nvSpPr>
        <p:spPr>
          <a:xfrm>
            <a:off x="822960" y="932688"/>
            <a:ext cx="10789920" cy="804672"/>
          </a:xfrm>
          <a:prstGeom prst="rect">
            <a:avLst/>
          </a:prstGeom>
          <a:noFill/>
        </p:spPr>
        <p:txBody>
          <a:bodyPr wrap="square" lIns="18288" rIns="18288" tIns="9144" bIns="9144">
            <a:spAutoFit/>
          </a:bodyPr>
          <a:lstStyle/>
          <a:p>
            <a:pPr>
              <a:defRPr sz="3100" b="1">
                <a:solidFill>
                  <a:srgbClr val="153036"/>
                </a:solidFill>
                <a:latin typeface="Aptos"/>
              </a:defRPr>
            </a:pPr>
            <a:r>
              <a:t>How to read this deck</a:t>
            </a:r>
          </a:p>
        </p:txBody>
      </p:sp>
      <p:sp>
        <p:nvSpPr>
          <p:cNvPr id="5" name="TextBox 4"/>
          <p:cNvSpPr txBox="1"/>
          <p:nvPr/>
        </p:nvSpPr>
        <p:spPr>
          <a:xfrm>
            <a:off x="822960" y="1819656"/>
            <a:ext cx="10698480" cy="265176"/>
          </a:xfrm>
          <a:prstGeom prst="rect">
            <a:avLst/>
          </a:prstGeom>
          <a:noFill/>
        </p:spPr>
        <p:txBody>
          <a:bodyPr wrap="square" lIns="18288" rIns="18288" tIns="9144" bIns="9144">
            <a:spAutoFit/>
          </a:bodyPr>
          <a:lstStyle/>
          <a:p>
            <a:pPr>
              <a:defRPr sz="1300" b="0">
                <a:solidFill>
                  <a:srgbClr val="556B75"/>
                </a:solidFill>
                <a:latin typeface="Aptos"/>
              </a:defRPr>
            </a:pPr>
            <a:r>
              <a:t>Snapshot: 16 Oct 2026 · board 1 · sprint IDs 4, 70, 72</a:t>
            </a:r>
          </a:p>
        </p:txBody>
      </p:sp>
      <p:sp>
        <p:nvSpPr>
          <p:cNvPr id="6" name="Rectangle 5"/>
          <p:cNvSpPr/>
          <p:nvPr/>
        </p:nvSpPr>
        <p:spPr>
          <a:xfrm>
            <a:off x="822960" y="6345936"/>
            <a:ext cx="10561320" cy="13716"/>
          </a:xfrm>
          <a:prstGeom prst="rect">
            <a:avLst/>
          </a:prstGeom>
          <a:solidFill>
            <a:srgbClr val="D8E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428232"/>
            <a:ext cx="10789920" cy="237744"/>
          </a:xfrm>
          <a:prstGeom prst="rect">
            <a:avLst/>
          </a:prstGeom>
          <a:noFill/>
        </p:spPr>
        <p:txBody>
          <a:bodyPr wrap="square" lIns="18288" rIns="18288" tIns="9144" bIns="9144">
            <a:spAutoFit/>
          </a:bodyPr>
          <a:lstStyle/>
          <a:p>
            <a:pPr>
              <a:defRPr sz="900" b="0">
                <a:solidFill>
                  <a:srgbClr val="556B75"/>
                </a:solidFill>
                <a:latin typeface="Aptos"/>
              </a:defRPr>
            </a:pPr>
            <a:r>
              <a:t>ABANG CEBU AI  /  JIRA SNAPSHOT 16 OCT 2026                                          29</a:t>
            </a:r>
          </a:p>
        </p:txBody>
      </p:sp>
      <p:sp>
        <p:nvSpPr>
          <p:cNvPr id="8" name="TextBox 7"/>
          <p:cNvSpPr txBox="1"/>
          <p:nvPr/>
        </p:nvSpPr>
        <p:spPr>
          <a:xfrm>
            <a:off x="914400" y="2267712"/>
            <a:ext cx="10058400" cy="630936"/>
          </a:xfrm>
          <a:prstGeom prst="rect">
            <a:avLst/>
          </a:prstGeom>
          <a:noFill/>
        </p:spPr>
        <p:txBody>
          <a:bodyPr wrap="square" lIns="18288" rIns="18288" tIns="9144" bIns="9144">
            <a:spAutoFit/>
          </a:bodyPr>
          <a:lstStyle/>
          <a:p>
            <a:pPr>
              <a:defRPr sz="2300" b="1">
                <a:solidFill>
                  <a:srgbClr val="087E74"/>
                </a:solidFill>
                <a:latin typeface="Aptos"/>
              </a:defRPr>
            </a:pPr>
            <a:r>
              <a:t>All 82 issue keys appear once in the appendix and link to Jira.</a:t>
            </a:r>
          </a:p>
        </p:txBody>
      </p:sp>
      <p:sp>
        <p:nvSpPr>
          <p:cNvPr id="9" name="TextBox 8"/>
          <p:cNvSpPr txBox="1"/>
          <p:nvPr/>
        </p:nvSpPr>
        <p:spPr>
          <a:xfrm>
            <a:off x="914400" y="3063240"/>
            <a:ext cx="9875520" cy="1417320"/>
          </a:xfrm>
          <a:prstGeom prst="rect">
            <a:avLst/>
          </a:prstGeom>
          <a:noFill/>
        </p:spPr>
        <p:txBody>
          <a:bodyPr wrap="square" lIns="18288" rIns="18288" tIns="9144" bIns="9144">
            <a:spAutoFit/>
          </a:bodyPr>
          <a:lstStyle/>
          <a:p>
            <a:pPr>
              <a:defRPr sz="2000" b="0">
                <a:solidFill>
                  <a:srgbClr val="153036"/>
                </a:solidFill>
                <a:latin typeface="Aptos"/>
              </a:defRPr>
            </a:pPr>
            <a:r>
              <a:t>The status labels are current Jira workflow states at snapshot time. They are not proof of code, tests, approval, or deployment. Visuals are local artifacts and are captioned with their verification limits.</a:t>
            </a:r>
          </a:p>
        </p:txBody>
      </p:sp>
      <p:sp>
        <p:nvSpPr>
          <p:cNvPr id="10" name="TextBox 9"/>
          <p:cNvSpPr txBox="1"/>
          <p:nvPr/>
        </p:nvSpPr>
        <p:spPr>
          <a:xfrm>
            <a:off x="914400" y="5239512"/>
            <a:ext cx="10058400" cy="457200"/>
          </a:xfrm>
          <a:prstGeom prst="rect">
            <a:avLst/>
          </a:prstGeom>
          <a:noFill/>
        </p:spPr>
        <p:txBody>
          <a:bodyPr wrap="square" lIns="18288" rIns="18288" tIns="9144" bIns="9144">
            <a:spAutoFit/>
          </a:bodyPr>
          <a:lstStyle/>
          <a:p>
            <a:pPr>
              <a:defRPr sz="1300" b="0">
                <a:solidFill>
                  <a:srgbClr val="556B75"/>
                </a:solidFill>
                <a:latin typeface="Aptos"/>
              </a:defRPr>
            </a:pPr>
            <a:r>
              <a:t>Jira board: https://abangcebuai.atlassian.net/jira/software/projects/SCRUM/boards/1/backlog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