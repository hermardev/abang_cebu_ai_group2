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6.xml" ContentType="application/vnd.openxmlformats-officedocument.presentationml.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notesSlides/notesSlide28.xml" ContentType="application/vnd.openxmlformats-officedocument.presentationml.notesSlide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7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3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91695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 /><Relationship Id="rId34" Type="http://schemas.openxmlformats.org/officeDocument/2006/relationships/tableStyles" Target="tableStyles.xml" /><Relationship Id="rId3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1FAA90-250A-6B8A-28C0-5F90132D39D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FA0790-230E-F8DC-0887-EAB35D2C4D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901359-676E-799D-B2ED-4E32278EBFC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F33CB2-5BB4-CB84-ABD5-08E8EFCD6E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6257EE-19C2-B105-2A9A-B02CA210DBD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355560-5605-910D-3306-3D62C4530BD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0DA5A1-1C2C-1753-18A9-A2EB8C7E52C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1FF116-A3CE-EB7E-C698-2562F05759D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C6B18-3E62-1338-33C7-79848D4EE84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0D6AF55-D325-49FC-9777-AEB96C0D6AC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2DB9FD-6518-5CA3-CF73-3F01108E52D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147656-5F55-8AD2-B41E-FD549A910A1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60835C-F423-6936-2E19-4D022D1FCD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78BE6C-8BD4-D3AF-633E-37D44AB7185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A45E8F-D59E-E719-0F36-044C75FBAEF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36B11F-38A7-5EBF-3703-AD29B08862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C60FB0-FEBD-2D79-EB47-3CD892C9639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E85DF7-BCB9-248A-FBD4-4D6FF5B9004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72BB80-CEB9-D5BA-1D30-522270F8331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50A847-A811-167D-D252-C9CA5426074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629095-5634-596D-C4FB-F87E4B83E8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210E9D-E47E-D36A-4516-28B3B21ACE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7997A0-57B2-1160-8CC5-4359AE0AC8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030B86-B3F5-4E44-1FB0-2164FFC624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C66CAF-DBA5-FBC3-8B5F-EDAA1ACEBF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C286EE8-A34E-7A88-DA3C-1ADBB7A20F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7EFBA7-62CE-DDC0-E75A-C5A08FBBD3A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02E40A-ABEA-C2C3-E8BF-C4F6215F15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90852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3713208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50515191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583084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05093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083775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8097280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883196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74838630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27099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1775912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106232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938788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9942107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3347977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6999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1203173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7147391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974035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649119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835152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386505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5150054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4074691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0047540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3294266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3351737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61435156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4427796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63014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3321889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8933805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2367459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130328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48401532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9383201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70880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6925545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3622359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88002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7818699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7007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10363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6135739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401585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5352274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7076778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45646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190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1638761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634682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588379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2241878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313755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20925157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4694747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5549676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437509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25972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734194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1985705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558581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1335898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hyperlink" Target="https://abangcebuai.atlassian.net/browse/SCRUM-64" TargetMode="Externa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abangcebuai.atlassian.net/browse/SCRUM-65" TargetMode="Externa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abangcebuai.atlassian.net/browse/SCRUM-10" TargetMode="External"/><Relationship Id="rId4" Type="http://schemas.openxmlformats.org/officeDocument/2006/relationships/hyperlink" Target="https://abangcebuai.atlassian.net/browse/SCRUM-49" TargetMode="External"/><Relationship Id="rId5" Type="http://schemas.openxmlformats.org/officeDocument/2006/relationships/hyperlink" Target="https://abangcebuai.atlassian.net/browse/SCRUM-6" TargetMode="External"/><Relationship Id="rId6" Type="http://schemas.openxmlformats.org/officeDocument/2006/relationships/hyperlink" Target="https://abangcebuai.atlassian.net/browse/SCRUM-55" TargetMode="External"/><Relationship Id="rId7" Type="http://schemas.openxmlformats.org/officeDocument/2006/relationships/hyperlink" Target="https://abangcebuai.atlassian.net/browse/SCRUM-62" TargetMode="External"/><Relationship Id="rId8" Type="http://schemas.openxmlformats.org/officeDocument/2006/relationships/hyperlink" Target="https://abangcebuai.atlassian.net/browse/SCRUM-50" TargetMode="Externa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abangcebuai.atlassian.net/browse/SCRUM-51" TargetMode="External"/><Relationship Id="rId4" Type="http://schemas.openxmlformats.org/officeDocument/2006/relationships/hyperlink" Target="https://abangcebuai.atlassian.net/browse/SCRUM-52" TargetMode="External"/><Relationship Id="rId5" Type="http://schemas.openxmlformats.org/officeDocument/2006/relationships/hyperlink" Target="https://abangcebuai.atlassian.net/browse/SCRUM-53" TargetMode="External"/><Relationship Id="rId6" Type="http://schemas.openxmlformats.org/officeDocument/2006/relationships/hyperlink" Target="https://abangcebuai.atlassian.net/browse/SCRUM-54" TargetMode="External"/><Relationship Id="rId7" Type="http://schemas.openxmlformats.org/officeDocument/2006/relationships/hyperlink" Target="https://abangcebuai.atlassian.net/browse/SCRUM-56" TargetMode="External"/><Relationship Id="rId8" Type="http://schemas.openxmlformats.org/officeDocument/2006/relationships/hyperlink" Target="https://abangcebuai.atlassian.net/browse/SCRUM-57" TargetMode="Externa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abangcebuai.atlassian.net/browse/SCRUM-58" TargetMode="External"/><Relationship Id="rId4" Type="http://schemas.openxmlformats.org/officeDocument/2006/relationships/hyperlink" Target="https://abangcebuai.atlassian.net/browse/SCRUM-60" TargetMode="External"/><Relationship Id="rId5" Type="http://schemas.openxmlformats.org/officeDocument/2006/relationships/hyperlink" Target="https://abangcebuai.atlassian.net/browse/SCRUM-48" TargetMode="External"/><Relationship Id="rId6" Type="http://schemas.openxmlformats.org/officeDocument/2006/relationships/hyperlink" Target="https://abangcebuai.atlassian.net/browse/SCRUM-64" TargetMode="External"/><Relationship Id="rId7" Type="http://schemas.openxmlformats.org/officeDocument/2006/relationships/hyperlink" Target="https://abangcebuai.atlassian.net/browse/SCRUM-63" TargetMode="External"/><Relationship Id="rId8" Type="http://schemas.openxmlformats.org/officeDocument/2006/relationships/hyperlink" Target="https://abangcebuai.atlassian.net/browse/SCRUM-61" TargetMode="Externa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abangcebuai.atlassian.net/browse/SCRUM-59" TargetMode="External"/><Relationship Id="rId4" Type="http://schemas.openxmlformats.org/officeDocument/2006/relationships/hyperlink" Target="https://abangcebuai.atlassian.net/browse/SCRUM-65" TargetMode="External"/><Relationship Id="rId5" Type="http://schemas.openxmlformats.org/officeDocument/2006/relationships/hyperlink" Target="https://abangcebuai.atlassian.net/browse/SCRUM-66" TargetMode="External"/><Relationship Id="rId6" Type="http://schemas.openxmlformats.org/officeDocument/2006/relationships/hyperlink" Target="https://abangcebuai.atlassian.net/browse/SCRUM-67" TargetMode="External"/><Relationship Id="rId7" Type="http://schemas.openxmlformats.org/officeDocument/2006/relationships/hyperlink" Target="https://abangcebuai.atlassian.net/browse/SCRUM-68" TargetMode="External"/><Relationship Id="rId8" Type="http://schemas.openxmlformats.org/officeDocument/2006/relationships/hyperlink" Target="https://abangcebuai.atlassian.net/browse/SCRUM-69" TargetMode="Externa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abangcebuai.atlassian.net/browse/SCRUM-70" TargetMode="External"/><Relationship Id="rId4" Type="http://schemas.openxmlformats.org/officeDocument/2006/relationships/hyperlink" Target="https://abangcebuai.atlassian.net/browse/SCRUM-71" TargetMode="External"/><Relationship Id="rId5" Type="http://schemas.openxmlformats.org/officeDocument/2006/relationships/hyperlink" Target="https://abangcebuai.atlassian.net/browse/SCRUM-72" TargetMode="Externa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hyperlink" Target="https://abangcebuai.atlassian.net/browse/SCRUM-104" TargetMode="Externa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hyperlink" Target="https://abangcebuai.atlassian.net/browse/SCRUM-116" TargetMode="Externa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hyperlink" Target="https://abangcebuai.atlassian.net/browse/SCRUM-118" TargetMode="Externa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Relationship Id="rId4" Type="http://schemas.openxmlformats.org/officeDocument/2006/relationships/hyperlink" Target="https://abangcebuai.atlassian.net/browse/SCRUM-125" TargetMode="Externa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abangcebuai.atlassian.net/browse/SCRUM-104" TargetMode="External"/><Relationship Id="rId4" Type="http://schemas.openxmlformats.org/officeDocument/2006/relationships/hyperlink" Target="https://abangcebuai.atlassian.net/browse/SCRUM-105" TargetMode="External"/><Relationship Id="rId5" Type="http://schemas.openxmlformats.org/officeDocument/2006/relationships/hyperlink" Target="https://abangcebuai.atlassian.net/browse/SCRUM-106" TargetMode="External"/><Relationship Id="rId6" Type="http://schemas.openxmlformats.org/officeDocument/2006/relationships/hyperlink" Target="https://abangcebuai.atlassian.net/browse/SCRUM-107" TargetMode="External"/><Relationship Id="rId7" Type="http://schemas.openxmlformats.org/officeDocument/2006/relationships/hyperlink" Target="https://abangcebuai.atlassian.net/browse/SCRUM-108" TargetMode="External"/><Relationship Id="rId8" Type="http://schemas.openxmlformats.org/officeDocument/2006/relationships/hyperlink" Target="https://abangcebuai.atlassian.net/browse/SCRUM-109" TargetMode="Externa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abangcebuai.atlassian.net/browse/SCRUM-110" TargetMode="External"/><Relationship Id="rId4" Type="http://schemas.openxmlformats.org/officeDocument/2006/relationships/hyperlink" Target="https://abangcebuai.atlassian.net/browse/SCRUM-111" TargetMode="External"/><Relationship Id="rId5" Type="http://schemas.openxmlformats.org/officeDocument/2006/relationships/hyperlink" Target="https://abangcebuai.atlassian.net/browse/SCRUM-112" TargetMode="External"/><Relationship Id="rId6" Type="http://schemas.openxmlformats.org/officeDocument/2006/relationships/hyperlink" Target="https://abangcebuai.atlassian.net/browse/SCRUM-113" TargetMode="External"/><Relationship Id="rId7" Type="http://schemas.openxmlformats.org/officeDocument/2006/relationships/hyperlink" Target="https://abangcebuai.atlassian.net/browse/SCRUM-114" TargetMode="External"/><Relationship Id="rId8" Type="http://schemas.openxmlformats.org/officeDocument/2006/relationships/hyperlink" Target="https://abangcebuai.atlassian.net/browse/SCRUM-116" TargetMode="Externa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abangcebuai.atlassian.net/browse/SCRUM-117" TargetMode="External"/><Relationship Id="rId4" Type="http://schemas.openxmlformats.org/officeDocument/2006/relationships/hyperlink" Target="https://abangcebuai.atlassian.net/browse/SCRUM-118" TargetMode="External"/><Relationship Id="rId5" Type="http://schemas.openxmlformats.org/officeDocument/2006/relationships/hyperlink" Target="https://abangcebuai.atlassian.net/browse/SCRUM-119" TargetMode="External"/><Relationship Id="rId6" Type="http://schemas.openxmlformats.org/officeDocument/2006/relationships/hyperlink" Target="https://abangcebuai.atlassian.net/browse/SCRUM-120" TargetMode="External"/><Relationship Id="rId7" Type="http://schemas.openxmlformats.org/officeDocument/2006/relationships/hyperlink" Target="https://abangcebuai.atlassian.net/browse/SCRUM-122" TargetMode="External"/><Relationship Id="rId8" Type="http://schemas.openxmlformats.org/officeDocument/2006/relationships/hyperlink" Target="https://abangcebuai.atlassian.net/browse/SCRUM-125" TargetMode="Externa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abangcebuai.atlassian.net/browse/SCRUM-126" TargetMode="External"/><Relationship Id="rId4" Type="http://schemas.openxmlformats.org/officeDocument/2006/relationships/hyperlink" Target="https://abangcebuai.atlassian.net/browse/SCRUM-127" TargetMode="Externa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abangcebuai.atlassian.net/browse/SCRUM-134" TargetMode="External"/><Relationship Id="rId4" Type="http://schemas.openxmlformats.org/officeDocument/2006/relationships/hyperlink" Target="https://abangcebuai.atlassian.net/browse/SCRUM-135" TargetMode="External"/><Relationship Id="rId5" Type="http://schemas.openxmlformats.org/officeDocument/2006/relationships/hyperlink" Target="https://abangcebuai.atlassian.net/browse/SCRUM-136" TargetMode="External"/><Relationship Id="rId6" Type="http://schemas.openxmlformats.org/officeDocument/2006/relationships/hyperlink" Target="https://abangcebuai.atlassian.net/browse/SCRUM-137" TargetMode="External"/><Relationship Id="rId7" Type="http://schemas.openxmlformats.org/officeDocument/2006/relationships/hyperlink" Target="https://abangcebuai.atlassian.net/browse/SCRUM-138" TargetMode="External"/><Relationship Id="rId8" Type="http://schemas.openxmlformats.org/officeDocument/2006/relationships/hyperlink" Target="https://abangcebuai.atlassian.net/browse/SCRUM-139" TargetMode="Externa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abangcebuai.atlassian.net/browse/SCRUM-140" TargetMode="External"/><Relationship Id="rId4" Type="http://schemas.openxmlformats.org/officeDocument/2006/relationships/hyperlink" Target="https://abangcebuai.atlassian.net/browse/SCRUM-141" TargetMode="External"/><Relationship Id="rId5" Type="http://schemas.openxmlformats.org/officeDocument/2006/relationships/hyperlink" Target="https://abangcebuai.atlassian.net/browse/SCRUM-142" TargetMode="External"/><Relationship Id="rId6" Type="http://schemas.openxmlformats.org/officeDocument/2006/relationships/hyperlink" Target="https://abangcebuai.atlassian.net/browse/SCRUM-143" TargetMode="External"/><Relationship Id="rId7" Type="http://schemas.openxmlformats.org/officeDocument/2006/relationships/hyperlink" Target="https://abangcebuai.atlassian.net/browse/SCRUM-144" TargetMode="External"/><Relationship Id="rId8" Type="http://schemas.openxmlformats.org/officeDocument/2006/relationships/hyperlink" Target="https://abangcebuai.atlassian.net/browse/SCRUM-145" TargetMode="Externa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abangcebuai.atlassian.net/browse/SCRUM-146" TargetMode="External"/><Relationship Id="rId4" Type="http://schemas.openxmlformats.org/officeDocument/2006/relationships/hyperlink" Target="https://abangcebuai.atlassian.net/browse/SCRUM-147" TargetMode="External"/><Relationship Id="rId5" Type="http://schemas.openxmlformats.org/officeDocument/2006/relationships/hyperlink" Target="https://abangcebuai.atlassian.net/browse/SCRUM-148" TargetMode="External"/><Relationship Id="rId6" Type="http://schemas.openxmlformats.org/officeDocument/2006/relationships/hyperlink" Target="https://abangcebuai.atlassian.net/browse/SCRUM-149" TargetMode="External"/><Relationship Id="rId7" Type="http://schemas.openxmlformats.org/officeDocument/2006/relationships/hyperlink" Target="https://abangcebuai.atlassian.net/browse/SCRUM-150" TargetMode="External"/><Relationship Id="rId8" Type="http://schemas.openxmlformats.org/officeDocument/2006/relationships/hyperlink" Target="https://abangcebuai.atlassian.net/browse/SCRUM-151" TargetMode="Externa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abangcebuai.atlassian.net/browse/SCRUM-152" TargetMode="External"/><Relationship Id="rId4" Type="http://schemas.openxmlformats.org/officeDocument/2006/relationships/hyperlink" Target="https://abangcebuai.atlassian.net/browse/SCRUM-153" TargetMode="External"/><Relationship Id="rId5" Type="http://schemas.openxmlformats.org/officeDocument/2006/relationships/hyperlink" Target="https://abangcebuai.atlassian.net/browse/SCRUM-154" TargetMode="External"/><Relationship Id="rId6" Type="http://schemas.openxmlformats.org/officeDocument/2006/relationships/hyperlink" Target="https://abangcebuai.atlassian.net/browse/SCRUM-155" TargetMode="External"/><Relationship Id="rId7" Type="http://schemas.openxmlformats.org/officeDocument/2006/relationships/hyperlink" Target="https://abangcebuai.atlassian.net/browse/SCRUM-156" TargetMode="External"/><Relationship Id="rId8" Type="http://schemas.openxmlformats.org/officeDocument/2006/relationships/hyperlink" Target="https://abangcebuai.atlassian.net/browse/SCRUM-157" TargetMode="Externa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abangcebuai.atlassian.net/browse/SCRUM-158" TargetMode="External"/><Relationship Id="rId4" Type="http://schemas.openxmlformats.org/officeDocument/2006/relationships/hyperlink" Target="https://abangcebuai.atlassian.net/browse/SCRUM-159" TargetMode="External"/><Relationship Id="rId5" Type="http://schemas.openxmlformats.org/officeDocument/2006/relationships/hyperlink" Target="https://abangcebuai.atlassian.net/browse/SCRUM-160" TargetMode="External"/><Relationship Id="rId6" Type="http://schemas.openxmlformats.org/officeDocument/2006/relationships/hyperlink" Target="https://abangcebuai.atlassian.net/browse/SCRUM-161" TargetMode="External"/><Relationship Id="rId7" Type="http://schemas.openxmlformats.org/officeDocument/2006/relationships/hyperlink" Target="https://abangcebuai.atlassian.net/browse/SCRUM-162" TargetMode="External"/><Relationship Id="rId8" Type="http://schemas.openxmlformats.org/officeDocument/2006/relationships/hyperlink" Target="https://abangcebuai.atlassian.net/browse/SCRUM-163" TargetMode="Externa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abangcebuai.atlassian.net/browse/SCRUM-164" TargetMode="External"/><Relationship Id="rId4" Type="http://schemas.openxmlformats.org/officeDocument/2006/relationships/hyperlink" Target="https://abangcebuai.atlassian.net/browse/SCRUM-165" TargetMode="External"/><Relationship Id="rId5" Type="http://schemas.openxmlformats.org/officeDocument/2006/relationships/hyperlink" Target="https://abangcebuai.atlassian.net/browse/SCRUM-166" TargetMode="External"/><Relationship Id="rId6" Type="http://schemas.openxmlformats.org/officeDocument/2006/relationships/hyperlink" Target="https://abangcebuai.atlassian.net/browse/SCRUM-167" TargetMode="External"/><Relationship Id="rId7" Type="http://schemas.openxmlformats.org/officeDocument/2006/relationships/hyperlink" Target="https://abangcebuai.atlassian.net/browse/SCRUM-16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D3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354424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43D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98075776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70EBD1"/>
                </a:solidFill>
                <a:latin typeface="Aptos"/>
              </a:defRPr>
            </a:pPr>
            <a:r>
              <a:rPr/>
              <a:t>DELIVERY REVIEW / 01</a:t>
            </a:r>
            <a:endParaRPr/>
          </a:p>
        </p:txBody>
      </p:sp>
      <p:sp>
        <p:nvSpPr>
          <p:cNvPr id="1908256765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FFFFFF"/>
                </a:solidFill>
                <a:latin typeface="Aptos"/>
              </a:defRPr>
            </a:pPr>
            <a:r>
              <a:rPr/>
              <a:t>From specification to implementation</a:t>
            </a:r>
            <a:endParaRPr/>
          </a:p>
        </p:txBody>
      </p:sp>
      <p:sp>
        <p:nvSpPr>
          <p:cNvPr id="997019238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BDD7D6"/>
                </a:solidFill>
                <a:latin typeface="Aptos"/>
              </a:defRPr>
            </a:pPr>
            <a:r>
              <a:rPr/>
              <a:t>Sprint-by-sprint Jira tickets · 16 October 2026</a:t>
            </a:r>
            <a:endParaRPr/>
          </a:p>
        </p:txBody>
      </p:sp>
      <p:sp>
        <p:nvSpPr>
          <p:cNvPr id="1988917405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556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9311108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BCD8D6"/>
                </a:solidFill>
                <a:latin typeface="Aptos"/>
              </a:defRPr>
            </a:pPr>
            <a:r>
              <a:rPr/>
              <a:t>ABANG CEBU AI  /  JIRA SNAPSHOT 16 OCT 2026                                          01</a:t>
            </a:r>
            <a:endParaRPr/>
          </a:p>
        </p:txBody>
      </p:sp>
      <p:sp>
        <p:nvSpPr>
          <p:cNvPr id="480256980" name="TextBox 7"/>
          <p:cNvSpPr txBox="1"/>
          <p:nvPr/>
        </p:nvSpPr>
        <p:spPr bwMode="auto">
          <a:xfrm>
            <a:off x="914400" y="2798064"/>
            <a:ext cx="1828800" cy="73152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5400" b="1">
                <a:solidFill>
                  <a:srgbClr val="70EBD1"/>
                </a:solidFill>
                <a:latin typeface="Aptos"/>
              </a:defRPr>
            </a:pPr>
            <a:r>
              <a:rPr/>
              <a:t>01</a:t>
            </a:r>
            <a:endParaRPr/>
          </a:p>
        </p:txBody>
      </p:sp>
      <p:sp>
        <p:nvSpPr>
          <p:cNvPr id="1799085152" name="TextBox 8"/>
          <p:cNvSpPr txBox="1"/>
          <p:nvPr/>
        </p:nvSpPr>
        <p:spPr bwMode="auto">
          <a:xfrm>
            <a:off x="914400" y="3666744"/>
            <a:ext cx="2743200" cy="40233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Aptos"/>
              </a:defRPr>
            </a:pPr>
            <a:r>
              <a:rPr/>
              <a:t>Foundation</a:t>
            </a:r>
            <a:endParaRPr/>
          </a:p>
        </p:txBody>
      </p:sp>
      <p:sp>
        <p:nvSpPr>
          <p:cNvPr id="480341665" name="TextBox 9"/>
          <p:cNvSpPr txBox="1"/>
          <p:nvPr/>
        </p:nvSpPr>
        <p:spPr bwMode="auto">
          <a:xfrm>
            <a:off x="4572000" y="2798064"/>
            <a:ext cx="1828800" cy="73152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5400" b="1">
                <a:solidFill>
                  <a:srgbClr val="70EBD1"/>
                </a:solidFill>
                <a:latin typeface="Aptos"/>
              </a:defRPr>
            </a:pPr>
            <a:r>
              <a:rPr/>
              <a:t>02</a:t>
            </a:r>
            <a:endParaRPr/>
          </a:p>
        </p:txBody>
      </p:sp>
      <p:sp>
        <p:nvSpPr>
          <p:cNvPr id="126869936" name="TextBox 10"/>
          <p:cNvSpPr txBox="1"/>
          <p:nvPr/>
        </p:nvSpPr>
        <p:spPr bwMode="auto">
          <a:xfrm>
            <a:off x="4572000" y="3666744"/>
            <a:ext cx="2743200" cy="40233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Aptos"/>
              </a:defRPr>
            </a:pPr>
            <a:r>
              <a:rPr/>
              <a:t>Detailed flows</a:t>
            </a:r>
            <a:endParaRPr/>
          </a:p>
        </p:txBody>
      </p:sp>
      <p:sp>
        <p:nvSpPr>
          <p:cNvPr id="1772965851" name="TextBox 11"/>
          <p:cNvSpPr txBox="1"/>
          <p:nvPr/>
        </p:nvSpPr>
        <p:spPr bwMode="auto">
          <a:xfrm>
            <a:off x="8229600" y="2798064"/>
            <a:ext cx="1828800" cy="73152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5400" b="1">
                <a:solidFill>
                  <a:srgbClr val="A9BCC3"/>
                </a:solidFill>
                <a:latin typeface="Aptos"/>
              </a:defRPr>
            </a:pPr>
            <a:r>
              <a:rPr/>
              <a:t>03</a:t>
            </a:r>
            <a:endParaRPr/>
          </a:p>
        </p:txBody>
      </p:sp>
      <p:sp>
        <p:nvSpPr>
          <p:cNvPr id="70821889" name="TextBox 12"/>
          <p:cNvSpPr txBox="1"/>
          <p:nvPr/>
        </p:nvSpPr>
        <p:spPr bwMode="auto">
          <a:xfrm>
            <a:off x="8229600" y="3666744"/>
            <a:ext cx="2743200" cy="40233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Aptos"/>
              </a:defRPr>
            </a:pPr>
            <a:r>
              <a:rPr/>
              <a:t>Planned build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D3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857844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43D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06935217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70EBD1"/>
                </a:solidFill>
                <a:latin typeface="Aptos"/>
              </a:defRPr>
            </a:pPr>
            <a:r>
              <a:rPr/>
              <a:t>SPRINT 1 / CLOSED</a:t>
            </a:r>
            <a:endParaRPr/>
          </a:p>
        </p:txBody>
      </p:sp>
      <p:sp>
        <p:nvSpPr>
          <p:cNvPr id="1536255203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FFFFFF"/>
                </a:solidFill>
                <a:latin typeface="Aptos"/>
              </a:defRPr>
            </a:pPr>
            <a:r>
              <a:rPr/>
              <a:t>Foundation, designed</a:t>
            </a:r>
            <a:endParaRPr/>
          </a:p>
        </p:txBody>
      </p:sp>
      <p:sp>
        <p:nvSpPr>
          <p:cNvPr id="89541424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BDD7D6"/>
                </a:solidFill>
                <a:latin typeface="Aptos"/>
              </a:defRPr>
            </a:pPr>
            <a:r>
              <a:rPr/>
              <a:t>15 Sep–2 Oct planned · completed 1 Oct</a:t>
            </a:r>
            <a:endParaRPr/>
          </a:p>
        </p:txBody>
      </p:sp>
      <p:sp>
        <p:nvSpPr>
          <p:cNvPr id="1707564560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556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7354962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BCD8D6"/>
                </a:solidFill>
                <a:latin typeface="Aptos"/>
              </a:defRPr>
            </a:pPr>
            <a:r>
              <a:rPr/>
              <a:t>ABANG CEBU AI  /  JIRA SNAPSHOT 16 OCT 2026                                          02</a:t>
            </a:r>
            <a:endParaRPr/>
          </a:p>
        </p:txBody>
      </p:sp>
      <p:sp>
        <p:nvSpPr>
          <p:cNvPr id="471024977" name="TextBox 7"/>
          <p:cNvSpPr txBox="1"/>
          <p:nvPr/>
        </p:nvSpPr>
        <p:spPr bwMode="auto">
          <a:xfrm>
            <a:off x="914400" y="2331720"/>
            <a:ext cx="2743200" cy="10515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6200" b="1">
                <a:solidFill>
                  <a:srgbClr val="FFFFFF"/>
                </a:solidFill>
                <a:latin typeface="Aptos"/>
              </a:defRPr>
            </a:pPr>
            <a:r>
              <a:rPr/>
              <a:t>27</a:t>
            </a:r>
            <a:endParaRPr/>
          </a:p>
        </p:txBody>
      </p:sp>
      <p:sp>
        <p:nvSpPr>
          <p:cNvPr id="19146356" name="TextBox 8"/>
          <p:cNvSpPr txBox="1"/>
          <p:nvPr/>
        </p:nvSpPr>
        <p:spPr bwMode="auto">
          <a:xfrm>
            <a:off x="914400" y="3383280"/>
            <a:ext cx="3657600" cy="3657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2000" b="0">
                <a:solidFill>
                  <a:srgbClr val="BAD6D3"/>
                </a:solidFill>
                <a:latin typeface="Aptos"/>
              </a:defRPr>
            </a:pPr>
            <a:r>
              <a:rPr/>
              <a:t>tickets in sprint</a:t>
            </a:r>
            <a:endParaRPr/>
          </a:p>
        </p:txBody>
      </p:sp>
      <p:sp>
        <p:nvSpPr>
          <p:cNvPr id="1727326617" name="TextBox 9"/>
          <p:cNvSpPr txBox="1"/>
          <p:nvPr/>
        </p:nvSpPr>
        <p:spPr bwMode="auto">
          <a:xfrm>
            <a:off x="4800600" y="2304288"/>
            <a:ext cx="1828800" cy="8229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5000" b="1">
                <a:solidFill>
                  <a:srgbClr val="51D4B3"/>
                </a:solidFill>
                <a:latin typeface="Aptos"/>
              </a:defRPr>
            </a:pPr>
            <a:r>
              <a:rPr/>
              <a:t>27</a:t>
            </a:r>
            <a:endParaRPr/>
          </a:p>
        </p:txBody>
      </p:sp>
      <p:sp>
        <p:nvSpPr>
          <p:cNvPr id="158707728" name="TextBox 10"/>
          <p:cNvSpPr txBox="1"/>
          <p:nvPr/>
        </p:nvSpPr>
        <p:spPr bwMode="auto">
          <a:xfrm>
            <a:off x="4800600" y="3145536"/>
            <a:ext cx="2468880" cy="54864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917734480" name="TextBox 11"/>
          <p:cNvSpPr txBox="1"/>
          <p:nvPr/>
        </p:nvSpPr>
        <p:spPr bwMode="auto">
          <a:xfrm>
            <a:off x="914400" y="5020056"/>
            <a:ext cx="9144000" cy="4572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BAD6D3"/>
                </a:solidFill>
                <a:latin typeface="Aptos"/>
              </a:defRPr>
            </a:pPr>
            <a:r>
              <a:rPr/>
              <a:t>Jira status ≠ independent acceptance or implementation audit.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9309881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2240867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SPRINT 1 / OUTCOME</a:t>
            </a:r>
            <a:endParaRPr/>
          </a:p>
        </p:txBody>
      </p:sp>
      <p:sp>
        <p:nvSpPr>
          <p:cNvPr id="671903908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Requirements before implementation</a:t>
            </a:r>
            <a:endParaRPr/>
          </a:p>
        </p:txBody>
      </p:sp>
      <p:sp>
        <p:nvSpPr>
          <p:cNvPr id="977973273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27 of 27 tickets marked Done; most outputs are plans and design artifacts.</a:t>
            </a:r>
            <a:endParaRPr/>
          </a:p>
        </p:txBody>
      </p:sp>
      <p:sp>
        <p:nvSpPr>
          <p:cNvPr id="22832116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6992428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03</a:t>
            </a:r>
            <a:endParaRPr/>
          </a:p>
        </p:txBody>
      </p:sp>
      <p:sp>
        <p:nvSpPr>
          <p:cNvPr id="728607958" name="Rounded Rectangle 7"/>
          <p:cNvSpPr/>
          <p:nvPr/>
        </p:nvSpPr>
        <p:spPr bwMode="auto">
          <a:xfrm>
            <a:off x="822960" y="2331720"/>
            <a:ext cx="10515600" cy="10149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01562586" name="TextBox 8"/>
          <p:cNvSpPr txBox="1"/>
          <p:nvPr/>
        </p:nvSpPr>
        <p:spPr bwMode="auto">
          <a:xfrm>
            <a:off x="1051560" y="2459735"/>
            <a:ext cx="2971800" cy="31089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800" b="1">
                <a:solidFill>
                  <a:srgbClr val="087E74"/>
                </a:solidFill>
                <a:latin typeface="Aptos"/>
              </a:defRPr>
            </a:pPr>
            <a:r>
              <a:rPr/>
              <a:t>Foundation</a:t>
            </a:r>
            <a:endParaRPr/>
          </a:p>
        </p:txBody>
      </p:sp>
      <p:sp>
        <p:nvSpPr>
          <p:cNvPr id="1552692139" name="TextBox 9"/>
          <p:cNvSpPr txBox="1"/>
          <p:nvPr/>
        </p:nvSpPr>
        <p:spPr bwMode="auto">
          <a:xfrm>
            <a:off x="3886200" y="2450591"/>
            <a:ext cx="7114032" cy="6858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Git, AWS, Next.js/MapLibre and Supabase/PostGIS direction.</a:t>
            </a:r>
            <a:endParaRPr/>
          </a:p>
        </p:txBody>
      </p:sp>
      <p:sp>
        <p:nvSpPr>
          <p:cNvPr id="700954652" name="Rounded Rectangle 10"/>
          <p:cNvSpPr/>
          <p:nvPr/>
        </p:nvSpPr>
        <p:spPr bwMode="auto">
          <a:xfrm>
            <a:off x="822960" y="3529584"/>
            <a:ext cx="10515600" cy="10149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74274482" name="TextBox 11"/>
          <p:cNvSpPr txBox="1"/>
          <p:nvPr/>
        </p:nvSpPr>
        <p:spPr bwMode="auto">
          <a:xfrm>
            <a:off x="1051560" y="3657600"/>
            <a:ext cx="2971800" cy="31089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800" b="1">
                <a:solidFill>
                  <a:srgbClr val="087E74"/>
                </a:solidFill>
                <a:latin typeface="Aptos"/>
              </a:defRPr>
            </a:pPr>
            <a:r>
              <a:rPr/>
              <a:t>Access + data</a:t>
            </a:r>
            <a:endParaRPr/>
          </a:p>
        </p:txBody>
      </p:sp>
      <p:sp>
        <p:nvSpPr>
          <p:cNvPr id="673297174" name="TextBox 12"/>
          <p:cNvSpPr txBox="1"/>
          <p:nvPr/>
        </p:nvSpPr>
        <p:spPr bwMode="auto">
          <a:xfrm>
            <a:off x="3886200" y="3648456"/>
            <a:ext cx="7114032" cy="6858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User/profile schema, RLS policy drafts, RBAC and renter/landlord personas.</a:t>
            </a:r>
            <a:endParaRPr/>
          </a:p>
        </p:txBody>
      </p:sp>
      <p:sp>
        <p:nvSpPr>
          <p:cNvPr id="1824010417" name="Rounded Rectangle 13"/>
          <p:cNvSpPr/>
          <p:nvPr/>
        </p:nvSpPr>
        <p:spPr bwMode="auto">
          <a:xfrm>
            <a:off x="822960" y="4727448"/>
            <a:ext cx="10515600" cy="10149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13019735" name="TextBox 14"/>
          <p:cNvSpPr txBox="1"/>
          <p:nvPr/>
        </p:nvSpPr>
        <p:spPr bwMode="auto">
          <a:xfrm>
            <a:off x="1051560" y="4855464"/>
            <a:ext cx="2971800" cy="31089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800" b="1">
                <a:solidFill>
                  <a:srgbClr val="087E74"/>
                </a:solidFill>
                <a:latin typeface="Aptos"/>
              </a:defRPr>
            </a:pPr>
            <a:r>
              <a:rPr/>
              <a:t>Experience + QA</a:t>
            </a:r>
            <a:endParaRPr/>
          </a:p>
        </p:txBody>
      </p:sp>
      <p:sp>
        <p:nvSpPr>
          <p:cNvPr id="1116406406" name="TextBox 15"/>
          <p:cNvSpPr txBox="1"/>
          <p:nvPr/>
        </p:nvSpPr>
        <p:spPr bwMode="auto">
          <a:xfrm>
            <a:off x="3886200" y="4846320"/>
            <a:ext cx="7114032" cy="6858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Page wireframes, authentication workflow specifications and test plans.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9107221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77080362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SPRINT 1 / ARTIFACT SPOTLIGHT</a:t>
            </a:r>
            <a:endParaRPr/>
          </a:p>
        </p:txBody>
      </p:sp>
      <p:sp>
        <p:nvSpPr>
          <p:cNvPr id="466301162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2600" b="1">
                <a:solidFill>
                  <a:srgbClr val="153036"/>
                </a:solidFill>
                <a:latin typeface="Aptos"/>
              </a:defRPr>
            </a:pPr>
            <a:r>
              <a:rPr/>
              <a:t>SCRUM-64 · Design Landing Page Wireframe / Mockup</a:t>
            </a:r>
            <a:endParaRPr/>
          </a:p>
        </p:txBody>
      </p:sp>
      <p:sp>
        <p:nvSpPr>
          <p:cNvPr id="1491854522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Ticket contents and artifact provenance</a:t>
            </a:r>
            <a:endParaRPr/>
          </a:p>
        </p:txBody>
      </p:sp>
      <p:sp>
        <p:nvSpPr>
          <p:cNvPr id="1466632697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9057273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04</a:t>
            </a:r>
            <a:endParaRPr/>
          </a:p>
        </p:txBody>
      </p:sp>
      <p:sp>
        <p:nvSpPr>
          <p:cNvPr id="2036681369" name="Rounded Rectangle 7"/>
          <p:cNvSpPr/>
          <p:nvPr/>
        </p:nvSpPr>
        <p:spPr bwMode="auto">
          <a:xfrm>
            <a:off x="822960" y="2157984"/>
            <a:ext cx="6400800" cy="390448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4288812" name="Picture 8" descr="AbangCebu_Landing_Page_Desktop_Wireframe_Blueprin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555495" y="2267712"/>
            <a:ext cx="4935728" cy="3172968"/>
          </a:xfrm>
          <a:prstGeom prst="rect">
            <a:avLst/>
          </a:prstGeom>
        </p:spPr>
      </p:pic>
      <p:sp>
        <p:nvSpPr>
          <p:cNvPr id="1605816090" name="TextBox 9"/>
          <p:cNvSpPr txBox="1"/>
          <p:nvPr/>
        </p:nvSpPr>
        <p:spPr bwMode="auto">
          <a:xfrm>
            <a:off x="1005840" y="5532120"/>
            <a:ext cx="6080760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200" b="0">
                <a:solidFill>
                  <a:srgbClr val="556B75"/>
                </a:solidFill>
                <a:latin typeface="Aptos"/>
              </a:defRPr>
            </a:pPr>
            <a:r>
              <a:rPr/>
              <a:t>Desktop landing-page blueprint · wireframe, not a live application</a:t>
            </a:r>
            <a:endParaRPr/>
          </a:p>
        </p:txBody>
      </p:sp>
      <p:sp>
        <p:nvSpPr>
          <p:cNvPr id="1299045113" name="Rounded Rectangle 10"/>
          <p:cNvSpPr/>
          <p:nvPr/>
        </p:nvSpPr>
        <p:spPr bwMode="auto">
          <a:xfrm>
            <a:off x="7479792" y="2157984"/>
            <a:ext cx="3877056" cy="390448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24103871" name="Rounded Rectangle 11"/>
          <p:cNvSpPr/>
          <p:nvPr/>
        </p:nvSpPr>
        <p:spPr bwMode="auto">
          <a:xfrm>
            <a:off x="7763255" y="2414016"/>
            <a:ext cx="1371600" cy="356616"/>
          </a:xfrm>
          <a:prstGeom prst="roundRect">
            <a:avLst>
              <a:gd name="adj" fmla="val 16667"/>
            </a:avLst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819919" name="TextBox 12"/>
          <p:cNvSpPr txBox="1"/>
          <p:nvPr/>
        </p:nvSpPr>
        <p:spPr bwMode="auto">
          <a:xfrm>
            <a:off x="7872983" y="2478024"/>
            <a:ext cx="1207008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672494557" name="TextBox 13"/>
          <p:cNvSpPr txBox="1"/>
          <p:nvPr/>
        </p:nvSpPr>
        <p:spPr bwMode="auto">
          <a:xfrm>
            <a:off x="7763255" y="2990088"/>
            <a:ext cx="3264408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• Map-led rental discovery layout</a:t>
            </a:r>
            <a:endParaRPr/>
          </a:p>
        </p:txBody>
      </p:sp>
      <p:sp>
        <p:nvSpPr>
          <p:cNvPr id="1845689174" name="TextBox 14"/>
          <p:cNvSpPr txBox="1"/>
          <p:nvPr/>
        </p:nvSpPr>
        <p:spPr bwMode="auto">
          <a:xfrm>
            <a:off x="7763255" y="3785615"/>
            <a:ext cx="3264408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• Search, filters and listing preview are design concepts</a:t>
            </a:r>
            <a:endParaRPr/>
          </a:p>
        </p:txBody>
      </p:sp>
      <p:sp>
        <p:nvSpPr>
          <p:cNvPr id="285430267" name="TextBox 15"/>
          <p:cNvSpPr txBox="1"/>
          <p:nvPr/>
        </p:nvSpPr>
        <p:spPr bwMode="auto">
          <a:xfrm>
            <a:off x="7763255" y="4800600"/>
            <a:ext cx="3291840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0">
                <a:solidFill>
                  <a:srgbClr val="556B75"/>
                </a:solidFill>
                <a:latin typeface="Aptos"/>
              </a:defRPr>
            </a:pPr>
            <a:r>
              <a:rPr/>
              <a:t>Local wireframe; Jira lists same-named attachment</a:t>
            </a:r>
            <a:endParaRPr/>
          </a:p>
        </p:txBody>
      </p:sp>
      <p:sp>
        <p:nvSpPr>
          <p:cNvPr id="1205955387" name="TextBox 16"/>
          <p:cNvSpPr txBox="1"/>
          <p:nvPr/>
        </p:nvSpPr>
        <p:spPr bwMode="auto">
          <a:xfrm>
            <a:off x="7763255" y="5605272"/>
            <a:ext cx="329184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2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OPEN JIRA ISSUE ↗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097319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27915305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SPRINT 1 / ARTIFACT SPOTLIGHT</a:t>
            </a:r>
            <a:endParaRPr/>
          </a:p>
        </p:txBody>
      </p:sp>
      <p:sp>
        <p:nvSpPr>
          <p:cNvPr id="2091295617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SCRUM-65 · Design Login Page Wireframe / Mockup</a:t>
            </a:r>
            <a:endParaRPr/>
          </a:p>
        </p:txBody>
      </p:sp>
      <p:sp>
        <p:nvSpPr>
          <p:cNvPr id="244441475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Ticket contents and artifact provenance</a:t>
            </a:r>
            <a:endParaRPr/>
          </a:p>
        </p:txBody>
      </p:sp>
      <p:sp>
        <p:nvSpPr>
          <p:cNvPr id="1792535944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391543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05</a:t>
            </a:r>
            <a:endParaRPr/>
          </a:p>
        </p:txBody>
      </p:sp>
      <p:sp>
        <p:nvSpPr>
          <p:cNvPr id="404205481" name="Rounded Rectangle 7"/>
          <p:cNvSpPr/>
          <p:nvPr/>
        </p:nvSpPr>
        <p:spPr bwMode="auto">
          <a:xfrm>
            <a:off x="822960" y="2157984"/>
            <a:ext cx="6400800" cy="390448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6362218" name="Picture 8" descr="AbangCebu_Login_Page_Desktop_Wireframe_Blueprin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555495" y="2267712"/>
            <a:ext cx="4935728" cy="3172968"/>
          </a:xfrm>
          <a:prstGeom prst="rect">
            <a:avLst/>
          </a:prstGeom>
        </p:spPr>
      </p:pic>
      <p:sp>
        <p:nvSpPr>
          <p:cNvPr id="1145810844" name="TextBox 9"/>
          <p:cNvSpPr txBox="1"/>
          <p:nvPr/>
        </p:nvSpPr>
        <p:spPr bwMode="auto">
          <a:xfrm>
            <a:off x="1005840" y="5532120"/>
            <a:ext cx="6080760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200" b="0">
                <a:solidFill>
                  <a:srgbClr val="556B75"/>
                </a:solidFill>
                <a:latin typeface="Aptos"/>
              </a:defRPr>
            </a:pPr>
            <a:r>
              <a:rPr/>
              <a:t>Desktop login-page blueprint · wireframe, not a live application</a:t>
            </a:r>
            <a:endParaRPr/>
          </a:p>
        </p:txBody>
      </p:sp>
      <p:sp>
        <p:nvSpPr>
          <p:cNvPr id="1321458697" name="Rounded Rectangle 10"/>
          <p:cNvSpPr/>
          <p:nvPr/>
        </p:nvSpPr>
        <p:spPr bwMode="auto">
          <a:xfrm>
            <a:off x="7479792" y="2157984"/>
            <a:ext cx="3877056" cy="390448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14883806" name="Rounded Rectangle 11"/>
          <p:cNvSpPr/>
          <p:nvPr/>
        </p:nvSpPr>
        <p:spPr bwMode="auto">
          <a:xfrm>
            <a:off x="7763255" y="2414016"/>
            <a:ext cx="1371600" cy="356616"/>
          </a:xfrm>
          <a:prstGeom prst="roundRect">
            <a:avLst>
              <a:gd name="adj" fmla="val 16667"/>
            </a:avLst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52559125" name="TextBox 12"/>
          <p:cNvSpPr txBox="1"/>
          <p:nvPr/>
        </p:nvSpPr>
        <p:spPr bwMode="auto">
          <a:xfrm>
            <a:off x="7872983" y="2478024"/>
            <a:ext cx="1207008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310581663" name="TextBox 13"/>
          <p:cNvSpPr txBox="1"/>
          <p:nvPr/>
        </p:nvSpPr>
        <p:spPr bwMode="auto">
          <a:xfrm>
            <a:off x="7763255" y="2990088"/>
            <a:ext cx="3264408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• Login page visual specification</a:t>
            </a:r>
            <a:endParaRPr/>
          </a:p>
        </p:txBody>
      </p:sp>
      <p:sp>
        <p:nvSpPr>
          <p:cNvPr id="1305829650" name="TextBox 14"/>
          <p:cNvSpPr txBox="1"/>
          <p:nvPr/>
        </p:nvSpPr>
        <p:spPr bwMode="auto">
          <a:xfrm>
            <a:off x="7763255" y="3785615"/>
            <a:ext cx="3264408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• Auth implementation remains separate work</a:t>
            </a:r>
            <a:endParaRPr/>
          </a:p>
        </p:txBody>
      </p:sp>
      <p:sp>
        <p:nvSpPr>
          <p:cNvPr id="1155291023" name="TextBox 15"/>
          <p:cNvSpPr txBox="1"/>
          <p:nvPr/>
        </p:nvSpPr>
        <p:spPr bwMode="auto">
          <a:xfrm>
            <a:off x="7763255" y="4800600"/>
            <a:ext cx="3291840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0">
                <a:solidFill>
                  <a:srgbClr val="556B75"/>
                </a:solidFill>
                <a:latin typeface="Aptos"/>
              </a:defRPr>
            </a:pPr>
            <a:r>
              <a:rPr/>
              <a:t>Local wireframe; Jira attachment linkage not independently checked</a:t>
            </a:r>
            <a:endParaRPr/>
          </a:p>
        </p:txBody>
      </p:sp>
      <p:sp>
        <p:nvSpPr>
          <p:cNvPr id="1668811881" name="TextBox 16"/>
          <p:cNvSpPr txBox="1"/>
          <p:nvPr/>
        </p:nvSpPr>
        <p:spPr bwMode="auto">
          <a:xfrm>
            <a:off x="7763255" y="5605272"/>
            <a:ext cx="329184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2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OPEN JIRA ISSUE ↗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5851564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8884302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1</a:t>
            </a:r>
            <a:endParaRPr/>
          </a:p>
        </p:txBody>
      </p:sp>
      <p:sp>
        <p:nvSpPr>
          <p:cNvPr id="1176489039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1 · ticket register</a:t>
            </a:r>
            <a:endParaRPr/>
          </a:p>
        </p:txBody>
      </p:sp>
      <p:sp>
        <p:nvSpPr>
          <p:cNvPr id="155780931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1–6 of 27  /  appendix page 1 of 5</a:t>
            </a:r>
            <a:endParaRPr/>
          </a:p>
        </p:txBody>
      </p:sp>
      <p:sp>
        <p:nvSpPr>
          <p:cNvPr id="1189270670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8937041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06</a:t>
            </a:r>
            <a:endParaRPr/>
          </a:p>
        </p:txBody>
      </p:sp>
      <p:sp>
        <p:nvSpPr>
          <p:cNvPr id="148264638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79035145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SCRUM-10</a:t>
            </a:r>
            <a:endParaRPr/>
          </a:p>
        </p:txBody>
      </p:sp>
      <p:sp>
        <p:nvSpPr>
          <p:cNvPr id="1309523624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Create AbangCebu System Flowcharts</a:t>
            </a:r>
            <a:endParaRPr/>
          </a:p>
        </p:txBody>
      </p:sp>
      <p:sp>
        <p:nvSpPr>
          <p:cNvPr id="907272811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699620390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2409711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SCRUM-49</a:t>
            </a:r>
            <a:endParaRPr/>
          </a:p>
        </p:txBody>
      </p:sp>
      <p:sp>
        <p:nvSpPr>
          <p:cNvPr id="239129281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Establish Git Branching &amp; PR Collaboration Strategy</a:t>
            </a:r>
            <a:endParaRPr/>
          </a:p>
        </p:txBody>
      </p:sp>
      <p:sp>
        <p:nvSpPr>
          <p:cNvPr id="1832703279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5557174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68276369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SCRUM-6</a:t>
            </a:r>
            <a:endParaRPr/>
          </a:p>
        </p:txBody>
      </p:sp>
      <p:sp>
        <p:nvSpPr>
          <p:cNvPr id="1352123974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create AWS account for the team</a:t>
            </a:r>
            <a:endParaRPr/>
          </a:p>
        </p:txBody>
      </p:sp>
      <p:sp>
        <p:nvSpPr>
          <p:cNvPr id="1837050796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70786998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8319707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SCRUM-55</a:t>
            </a:r>
            <a:endParaRPr/>
          </a:p>
        </p:txBody>
      </p:sp>
      <p:sp>
        <p:nvSpPr>
          <p:cNvPr id="58545230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Draft Row Level Security (RLS) Policy Specifications</a:t>
            </a:r>
            <a:endParaRPr/>
          </a:p>
        </p:txBody>
      </p:sp>
      <p:sp>
        <p:nvSpPr>
          <p:cNvPr id="1436795982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994150183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9899740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SCRUM-62</a:t>
            </a:r>
            <a:endParaRPr/>
          </a:p>
        </p:txBody>
      </p:sp>
      <p:sp>
        <p:nvSpPr>
          <p:cNvPr id="272677215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Define Landlord Persona, Permissions &amp; Capabilities</a:t>
            </a:r>
            <a:endParaRPr/>
          </a:p>
        </p:txBody>
      </p:sp>
      <p:sp>
        <p:nvSpPr>
          <p:cNvPr id="1166285400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061655167" name="Rounded Rectangle 27"/>
          <p:cNvSpPr/>
          <p:nvPr/>
        </p:nvSpPr>
        <p:spPr bwMode="auto">
          <a:xfrm>
            <a:off x="822960" y="542239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4734534" name="TextBox 28"/>
          <p:cNvSpPr txBox="1"/>
          <p:nvPr/>
        </p:nvSpPr>
        <p:spPr bwMode="auto">
          <a:xfrm>
            <a:off x="1024128" y="554126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8" tooltip=""/>
              </a:rPr>
              <a:t>SCRUM-50</a:t>
            </a:r>
            <a:endParaRPr/>
          </a:p>
        </p:txBody>
      </p:sp>
      <p:sp>
        <p:nvSpPr>
          <p:cNvPr id="1502253075" name="TextBox 29"/>
          <p:cNvSpPr txBox="1"/>
          <p:nvPr/>
        </p:nvSpPr>
        <p:spPr bwMode="auto">
          <a:xfrm>
            <a:off x="2350008" y="5513831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Configure UI Framework &amp; Styling Guidelines</a:t>
            </a:r>
            <a:endParaRPr/>
          </a:p>
        </p:txBody>
      </p:sp>
      <p:sp>
        <p:nvSpPr>
          <p:cNvPr id="1624422761" name="TextBox 30"/>
          <p:cNvSpPr txBox="1"/>
          <p:nvPr/>
        </p:nvSpPr>
        <p:spPr bwMode="auto">
          <a:xfrm>
            <a:off x="10021824" y="557784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0510529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984771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1</a:t>
            </a:r>
            <a:endParaRPr/>
          </a:p>
        </p:txBody>
      </p:sp>
      <p:sp>
        <p:nvSpPr>
          <p:cNvPr id="1443349837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1 · ticket register</a:t>
            </a:r>
            <a:endParaRPr/>
          </a:p>
        </p:txBody>
      </p:sp>
      <p:sp>
        <p:nvSpPr>
          <p:cNvPr id="1673847058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7–12 of 27  /  appendix page 2 of 5</a:t>
            </a:r>
            <a:endParaRPr/>
          </a:p>
        </p:txBody>
      </p:sp>
      <p:sp>
        <p:nvSpPr>
          <p:cNvPr id="358988348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16092650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07</a:t>
            </a:r>
            <a:endParaRPr/>
          </a:p>
        </p:txBody>
      </p:sp>
      <p:sp>
        <p:nvSpPr>
          <p:cNvPr id="1311548472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8552999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SCRUM-51</a:t>
            </a:r>
            <a:endParaRPr/>
          </a:p>
        </p:txBody>
      </p:sp>
      <p:sp>
        <p:nvSpPr>
          <p:cNvPr id="2104729873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Environment Variables &amp; Secrets Governance Plan</a:t>
            </a:r>
            <a:endParaRPr/>
          </a:p>
        </p:txBody>
      </p:sp>
      <p:sp>
        <p:nvSpPr>
          <p:cNvPr id="970370435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2001163579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7625728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SCRUM-52</a:t>
            </a:r>
            <a:endParaRPr/>
          </a:p>
        </p:txBody>
      </p:sp>
      <p:sp>
        <p:nvSpPr>
          <p:cNvPr id="1288031143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Plan Supabase Project Structure &amp; Extensions</a:t>
            </a:r>
            <a:endParaRPr/>
          </a:p>
        </p:txBody>
      </p:sp>
      <p:sp>
        <p:nvSpPr>
          <p:cNvPr id="1419896678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918275047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02403631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SCRUM-53</a:t>
            </a:r>
            <a:endParaRPr/>
          </a:p>
        </p:txBody>
      </p:sp>
      <p:sp>
        <p:nvSpPr>
          <p:cNvPr id="1759508110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Design Initial Database ERD Diagram</a:t>
            </a:r>
            <a:endParaRPr/>
          </a:p>
        </p:txBody>
      </p:sp>
      <p:sp>
        <p:nvSpPr>
          <p:cNvPr id="592343537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010320640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393279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SCRUM-54</a:t>
            </a:r>
            <a:endParaRPr/>
          </a:p>
        </p:txBody>
      </p:sp>
      <p:sp>
        <p:nvSpPr>
          <p:cNvPr id="300069813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Define Users &amp; Profiles Table Schema Specification</a:t>
            </a:r>
            <a:endParaRPr/>
          </a:p>
        </p:txBody>
      </p:sp>
      <p:sp>
        <p:nvSpPr>
          <p:cNvPr id="1186570788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2085144037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24888302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SCRUM-56</a:t>
            </a:r>
            <a:endParaRPr/>
          </a:p>
        </p:txBody>
      </p:sp>
      <p:sp>
        <p:nvSpPr>
          <p:cNvPr id="1982451676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Specify User Registration Workflow &amp; Data Contract</a:t>
            </a:r>
            <a:endParaRPr/>
          </a:p>
        </p:txBody>
      </p:sp>
      <p:sp>
        <p:nvSpPr>
          <p:cNvPr id="823838262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387792929" name="Rounded Rectangle 27"/>
          <p:cNvSpPr/>
          <p:nvPr/>
        </p:nvSpPr>
        <p:spPr bwMode="auto">
          <a:xfrm>
            <a:off x="822960" y="542239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1946311" name="TextBox 28"/>
          <p:cNvSpPr txBox="1"/>
          <p:nvPr/>
        </p:nvSpPr>
        <p:spPr bwMode="auto">
          <a:xfrm>
            <a:off x="1024128" y="554126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8" tooltip=""/>
              </a:rPr>
              <a:t>SCRUM-57</a:t>
            </a:r>
            <a:endParaRPr/>
          </a:p>
        </p:txBody>
      </p:sp>
      <p:sp>
        <p:nvSpPr>
          <p:cNvPr id="198829453" name="TextBox 29"/>
          <p:cNvSpPr txBox="1"/>
          <p:nvPr/>
        </p:nvSpPr>
        <p:spPr bwMode="auto">
          <a:xfrm>
            <a:off x="2350008" y="5513831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Specify User Login &amp; Session Token Lifecycle</a:t>
            </a:r>
            <a:endParaRPr/>
          </a:p>
        </p:txBody>
      </p:sp>
      <p:sp>
        <p:nvSpPr>
          <p:cNvPr id="270331670" name="TextBox 30"/>
          <p:cNvSpPr txBox="1"/>
          <p:nvPr/>
        </p:nvSpPr>
        <p:spPr bwMode="auto">
          <a:xfrm>
            <a:off x="10021824" y="557784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293909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31146012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1</a:t>
            </a:r>
            <a:endParaRPr/>
          </a:p>
        </p:txBody>
      </p:sp>
      <p:sp>
        <p:nvSpPr>
          <p:cNvPr id="1443062395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1 · ticket register</a:t>
            </a:r>
            <a:endParaRPr/>
          </a:p>
        </p:txBody>
      </p:sp>
      <p:sp>
        <p:nvSpPr>
          <p:cNvPr id="1168316536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13–18 of 27  /  appendix page 3 of 5</a:t>
            </a:r>
            <a:endParaRPr/>
          </a:p>
        </p:txBody>
      </p:sp>
      <p:sp>
        <p:nvSpPr>
          <p:cNvPr id="1913263969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60782880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08</a:t>
            </a:r>
            <a:endParaRPr/>
          </a:p>
        </p:txBody>
      </p:sp>
      <p:sp>
        <p:nvSpPr>
          <p:cNvPr id="365647582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5699502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SCRUM-58</a:t>
            </a:r>
            <a:endParaRPr/>
          </a:p>
        </p:txBody>
      </p:sp>
      <p:sp>
        <p:nvSpPr>
          <p:cNvPr id="1392451388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Specify User Logout &amp; Session Invalidation</a:t>
            </a:r>
            <a:endParaRPr/>
          </a:p>
        </p:txBody>
      </p:sp>
      <p:sp>
        <p:nvSpPr>
          <p:cNvPr id="1942373080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035136593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3314775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SCRUM-60</a:t>
            </a:r>
            <a:endParaRPr/>
          </a:p>
        </p:txBody>
      </p:sp>
      <p:sp>
        <p:nvSpPr>
          <p:cNvPr id="1708528894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Document Authentication Error Handling &amp; Edge Cases</a:t>
            </a:r>
            <a:endParaRPr/>
          </a:p>
        </p:txBody>
      </p:sp>
      <p:sp>
        <p:nvSpPr>
          <p:cNvPr id="311581018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297711100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42096207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SCRUM-48</a:t>
            </a:r>
            <a:endParaRPr/>
          </a:p>
        </p:txBody>
      </p:sp>
      <p:sp>
        <p:nvSpPr>
          <p:cNvPr id="651676772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Plan Next.js 15 &amp; MapLibre Project Foundation</a:t>
            </a:r>
            <a:endParaRPr/>
          </a:p>
        </p:txBody>
      </p:sp>
      <p:sp>
        <p:nvSpPr>
          <p:cNvPr id="1418320749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164902501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70460305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SCRUM-64</a:t>
            </a:r>
            <a:endParaRPr/>
          </a:p>
        </p:txBody>
      </p:sp>
      <p:sp>
        <p:nvSpPr>
          <p:cNvPr id="921629463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Design Landing Page Wireframe / Mockup</a:t>
            </a:r>
            <a:endParaRPr/>
          </a:p>
        </p:txBody>
      </p:sp>
      <p:sp>
        <p:nvSpPr>
          <p:cNvPr id="1575631504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9033303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3535409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SCRUM-63</a:t>
            </a:r>
            <a:endParaRPr/>
          </a:p>
        </p:txBody>
      </p:sp>
      <p:sp>
        <p:nvSpPr>
          <p:cNvPr id="1734413615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Create Role-Based Access Control (RBAC) Matrix</a:t>
            </a:r>
            <a:endParaRPr/>
          </a:p>
        </p:txBody>
      </p:sp>
      <p:sp>
        <p:nvSpPr>
          <p:cNvPr id="424134452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508490159" name="Rounded Rectangle 27"/>
          <p:cNvSpPr/>
          <p:nvPr/>
        </p:nvSpPr>
        <p:spPr bwMode="auto">
          <a:xfrm>
            <a:off x="822960" y="542239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93436219" name="TextBox 28"/>
          <p:cNvSpPr txBox="1"/>
          <p:nvPr/>
        </p:nvSpPr>
        <p:spPr bwMode="auto">
          <a:xfrm>
            <a:off x="1024128" y="554126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8" tooltip=""/>
              </a:rPr>
              <a:t>SCRUM-61</a:t>
            </a:r>
            <a:endParaRPr/>
          </a:p>
        </p:txBody>
      </p:sp>
      <p:sp>
        <p:nvSpPr>
          <p:cNvPr id="1166110578" name="TextBox 29"/>
          <p:cNvSpPr txBox="1"/>
          <p:nvPr/>
        </p:nvSpPr>
        <p:spPr bwMode="auto">
          <a:xfrm>
            <a:off x="2350008" y="5513831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Define Renter Persona, Permissions &amp; Capabilities</a:t>
            </a:r>
            <a:endParaRPr/>
          </a:p>
        </p:txBody>
      </p:sp>
      <p:sp>
        <p:nvSpPr>
          <p:cNvPr id="341277696" name="TextBox 30"/>
          <p:cNvSpPr txBox="1"/>
          <p:nvPr/>
        </p:nvSpPr>
        <p:spPr bwMode="auto">
          <a:xfrm>
            <a:off x="10021824" y="557784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503482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9495309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1</a:t>
            </a:r>
            <a:endParaRPr/>
          </a:p>
        </p:txBody>
      </p:sp>
      <p:sp>
        <p:nvSpPr>
          <p:cNvPr id="1502229058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1 · ticket register</a:t>
            </a:r>
            <a:endParaRPr/>
          </a:p>
        </p:txBody>
      </p:sp>
      <p:sp>
        <p:nvSpPr>
          <p:cNvPr id="420259875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19–24 of 27  /  appendix page 4 of 5</a:t>
            </a:r>
            <a:endParaRPr/>
          </a:p>
        </p:txBody>
      </p:sp>
      <p:sp>
        <p:nvSpPr>
          <p:cNvPr id="62150006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4628915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09</a:t>
            </a:r>
            <a:endParaRPr/>
          </a:p>
        </p:txBody>
      </p:sp>
      <p:sp>
        <p:nvSpPr>
          <p:cNvPr id="1365200872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32412200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SCRUM-59</a:t>
            </a:r>
            <a:endParaRPr/>
          </a:p>
        </p:txBody>
      </p:sp>
      <p:sp>
        <p:nvSpPr>
          <p:cNvPr id="797644030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Specify Password Reset &amp; Recovery Workflow</a:t>
            </a:r>
            <a:endParaRPr/>
          </a:p>
        </p:txBody>
      </p:sp>
      <p:sp>
        <p:nvSpPr>
          <p:cNvPr id="263789506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733059071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3447160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SCRUM-65</a:t>
            </a:r>
            <a:endParaRPr/>
          </a:p>
        </p:txBody>
      </p:sp>
      <p:sp>
        <p:nvSpPr>
          <p:cNvPr id="1168276277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Design Login Page Wireframe / Mockup</a:t>
            </a:r>
            <a:endParaRPr/>
          </a:p>
        </p:txBody>
      </p:sp>
      <p:sp>
        <p:nvSpPr>
          <p:cNvPr id="640824297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373787514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0176206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SCRUM-66</a:t>
            </a:r>
            <a:endParaRPr/>
          </a:p>
        </p:txBody>
      </p:sp>
      <p:sp>
        <p:nvSpPr>
          <p:cNvPr id="2129809525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Design Registration Page Wireframe / Mockup</a:t>
            </a:r>
            <a:endParaRPr/>
          </a:p>
        </p:txBody>
      </p:sp>
      <p:sp>
        <p:nvSpPr>
          <p:cNvPr id="1840236585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870645829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26114058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SCRUM-67</a:t>
            </a:r>
            <a:endParaRPr/>
          </a:p>
        </p:txBody>
      </p:sp>
      <p:sp>
        <p:nvSpPr>
          <p:cNvPr id="335216921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Design User Dashboard Wireframe / Mockup</a:t>
            </a:r>
            <a:endParaRPr/>
          </a:p>
        </p:txBody>
      </p:sp>
      <p:sp>
        <p:nvSpPr>
          <p:cNvPr id="991003813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217787928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30175949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SCRUM-68</a:t>
            </a:r>
            <a:endParaRPr/>
          </a:p>
        </p:txBody>
      </p:sp>
      <p:sp>
        <p:nvSpPr>
          <p:cNvPr id="1497741608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Design Profile Page Wireframe / Mockup</a:t>
            </a:r>
            <a:endParaRPr/>
          </a:p>
        </p:txBody>
      </p:sp>
      <p:sp>
        <p:nvSpPr>
          <p:cNvPr id="821392022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964137098" name="Rounded Rectangle 27"/>
          <p:cNvSpPr/>
          <p:nvPr/>
        </p:nvSpPr>
        <p:spPr bwMode="auto">
          <a:xfrm>
            <a:off x="822960" y="542239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7020980" name="TextBox 28"/>
          <p:cNvSpPr txBox="1"/>
          <p:nvPr/>
        </p:nvSpPr>
        <p:spPr bwMode="auto">
          <a:xfrm>
            <a:off x="1024128" y="554126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8" tooltip=""/>
              </a:rPr>
              <a:t>SCRUM-69</a:t>
            </a:r>
            <a:endParaRPr/>
          </a:p>
        </p:txBody>
      </p:sp>
      <p:sp>
        <p:nvSpPr>
          <p:cNvPr id="1225805573" name="TextBox 29"/>
          <p:cNvSpPr txBox="1"/>
          <p:nvPr/>
        </p:nvSpPr>
        <p:spPr bwMode="auto">
          <a:xfrm>
            <a:off x="2350008" y="5513831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Draft Authentication Test Plan &amp; Test Scenarios</a:t>
            </a:r>
            <a:endParaRPr/>
          </a:p>
        </p:txBody>
      </p:sp>
      <p:sp>
        <p:nvSpPr>
          <p:cNvPr id="2089728222" name="TextBox 30"/>
          <p:cNvSpPr txBox="1"/>
          <p:nvPr/>
        </p:nvSpPr>
        <p:spPr bwMode="auto">
          <a:xfrm>
            <a:off x="10021824" y="557784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9777337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02644343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1</a:t>
            </a:r>
            <a:endParaRPr/>
          </a:p>
        </p:txBody>
      </p:sp>
      <p:sp>
        <p:nvSpPr>
          <p:cNvPr id="767992031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1 · ticket register</a:t>
            </a:r>
            <a:endParaRPr/>
          </a:p>
        </p:txBody>
      </p:sp>
      <p:sp>
        <p:nvSpPr>
          <p:cNvPr id="255189898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25–27 of 27  /  appendix page 5 of 5</a:t>
            </a:r>
            <a:endParaRPr/>
          </a:p>
        </p:txBody>
      </p:sp>
      <p:sp>
        <p:nvSpPr>
          <p:cNvPr id="297266796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03962596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10</a:t>
            </a:r>
            <a:endParaRPr/>
          </a:p>
        </p:txBody>
      </p:sp>
      <p:sp>
        <p:nvSpPr>
          <p:cNvPr id="111276146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30204995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SCRUM-70</a:t>
            </a:r>
            <a:endParaRPr/>
          </a:p>
        </p:txBody>
      </p:sp>
      <p:sp>
        <p:nvSpPr>
          <p:cNvPr id="1117181735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Draft Role &amp; Access Permission Verification Test Cases</a:t>
            </a:r>
            <a:endParaRPr/>
          </a:p>
        </p:txBody>
      </p:sp>
      <p:sp>
        <p:nvSpPr>
          <p:cNvPr id="1214378419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968486069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60858117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SCRUM-71</a:t>
            </a:r>
            <a:endParaRPr/>
          </a:p>
        </p:txBody>
      </p:sp>
      <p:sp>
        <p:nvSpPr>
          <p:cNvPr id="1020549181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Draft Protected Route &amp; Middleware Test Scenarios</a:t>
            </a:r>
            <a:endParaRPr/>
          </a:p>
        </p:txBody>
      </p:sp>
      <p:sp>
        <p:nvSpPr>
          <p:cNvPr id="585286833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284744817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66341163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SCRUM-72</a:t>
            </a:r>
            <a:endParaRPr/>
          </a:p>
        </p:txBody>
      </p:sp>
      <p:sp>
        <p:nvSpPr>
          <p:cNvPr id="2091961855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Plan Authentication Baseline Latency &amp; Load Strategy</a:t>
            </a:r>
            <a:endParaRPr/>
          </a:p>
        </p:txBody>
      </p:sp>
      <p:sp>
        <p:nvSpPr>
          <p:cNvPr id="281320852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D3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815279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43D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81404442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70EBD1"/>
                </a:solidFill>
                <a:latin typeface="Aptos"/>
              </a:defRPr>
            </a:pPr>
            <a:r>
              <a:rPr/>
              <a:t>SPRINT 2 / ACTIVE</a:t>
            </a:r>
            <a:endParaRPr/>
          </a:p>
        </p:txBody>
      </p:sp>
      <p:sp>
        <p:nvSpPr>
          <p:cNvPr id="2088844478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FFFFFF"/>
                </a:solidFill>
                <a:latin typeface="Aptos"/>
              </a:defRPr>
            </a:pPr>
            <a:r>
              <a:rPr/>
              <a:t>Flows, specified</a:t>
            </a:r>
            <a:endParaRPr/>
          </a:p>
        </p:txBody>
      </p:sp>
      <p:sp>
        <p:nvSpPr>
          <p:cNvPr id="1352191424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BDD7D6"/>
                </a:solidFill>
                <a:latin typeface="Aptos"/>
              </a:defRPr>
            </a:pPr>
            <a:r>
              <a:rPr/>
              <a:t>1–15 Oct planned · still active on 16 Oct</a:t>
            </a:r>
            <a:endParaRPr/>
          </a:p>
        </p:txBody>
      </p:sp>
      <p:sp>
        <p:nvSpPr>
          <p:cNvPr id="1006751539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556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85282532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BCD8D6"/>
                </a:solidFill>
                <a:latin typeface="Aptos"/>
              </a:defRPr>
            </a:pPr>
            <a:r>
              <a:rPr/>
              <a:t>ABANG CEBU AI  /  JIRA SNAPSHOT 16 OCT 2026                                          11</a:t>
            </a:r>
            <a:endParaRPr/>
          </a:p>
        </p:txBody>
      </p:sp>
      <p:sp>
        <p:nvSpPr>
          <p:cNvPr id="187131796" name="TextBox 7"/>
          <p:cNvSpPr txBox="1"/>
          <p:nvPr/>
        </p:nvSpPr>
        <p:spPr bwMode="auto">
          <a:xfrm>
            <a:off x="914400" y="2331720"/>
            <a:ext cx="2743200" cy="10515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6200" b="1">
                <a:solidFill>
                  <a:srgbClr val="FFFFFF"/>
                </a:solidFill>
                <a:latin typeface="Aptos"/>
              </a:defRPr>
            </a:pPr>
            <a:r>
              <a:rPr/>
              <a:t>20</a:t>
            </a:r>
            <a:endParaRPr/>
          </a:p>
        </p:txBody>
      </p:sp>
      <p:sp>
        <p:nvSpPr>
          <p:cNvPr id="1726537573" name="TextBox 8"/>
          <p:cNvSpPr txBox="1"/>
          <p:nvPr/>
        </p:nvSpPr>
        <p:spPr bwMode="auto">
          <a:xfrm>
            <a:off x="914400" y="3383280"/>
            <a:ext cx="3657600" cy="3657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2000" b="0">
                <a:solidFill>
                  <a:srgbClr val="BAD6D3"/>
                </a:solidFill>
                <a:latin typeface="Aptos"/>
              </a:defRPr>
            </a:pPr>
            <a:r>
              <a:rPr/>
              <a:t>tickets in sprint</a:t>
            </a:r>
            <a:endParaRPr/>
          </a:p>
        </p:txBody>
      </p:sp>
      <p:sp>
        <p:nvSpPr>
          <p:cNvPr id="313827413" name="TextBox 9"/>
          <p:cNvSpPr txBox="1"/>
          <p:nvPr/>
        </p:nvSpPr>
        <p:spPr bwMode="auto">
          <a:xfrm>
            <a:off x="4800600" y="2304288"/>
            <a:ext cx="1828800" cy="8229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5000" b="1">
                <a:solidFill>
                  <a:srgbClr val="51D4B3"/>
                </a:solidFill>
                <a:latin typeface="Aptos"/>
              </a:defRPr>
            </a:pPr>
            <a:r>
              <a:rPr/>
              <a:t>17</a:t>
            </a:r>
            <a:endParaRPr/>
          </a:p>
        </p:txBody>
      </p:sp>
      <p:sp>
        <p:nvSpPr>
          <p:cNvPr id="1796885758" name="TextBox 10"/>
          <p:cNvSpPr txBox="1"/>
          <p:nvPr/>
        </p:nvSpPr>
        <p:spPr bwMode="auto">
          <a:xfrm>
            <a:off x="4800600" y="3145536"/>
            <a:ext cx="2468880" cy="54864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814177912" name="TextBox 11"/>
          <p:cNvSpPr txBox="1"/>
          <p:nvPr/>
        </p:nvSpPr>
        <p:spPr bwMode="auto">
          <a:xfrm>
            <a:off x="7223760" y="2304288"/>
            <a:ext cx="1828800" cy="8229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5000" b="1">
                <a:solidFill>
                  <a:srgbClr val="B26B13"/>
                </a:solidFill>
                <a:latin typeface="Aptos"/>
              </a:defRPr>
            </a:pPr>
            <a:r>
              <a:rPr/>
              <a:t>3</a:t>
            </a:r>
            <a:endParaRPr/>
          </a:p>
        </p:txBody>
      </p:sp>
      <p:sp>
        <p:nvSpPr>
          <p:cNvPr id="521525887" name="TextBox 12"/>
          <p:cNvSpPr txBox="1"/>
          <p:nvPr/>
        </p:nvSpPr>
        <p:spPr bwMode="auto">
          <a:xfrm>
            <a:off x="7223760" y="3145536"/>
            <a:ext cx="2468880" cy="54864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Aptos"/>
              </a:defRPr>
            </a:pPr>
            <a:r>
              <a:rPr/>
              <a:t>In Development</a:t>
            </a:r>
            <a:endParaRPr/>
          </a:p>
        </p:txBody>
      </p:sp>
      <p:sp>
        <p:nvSpPr>
          <p:cNvPr id="721959678" name="TextBox 13"/>
          <p:cNvSpPr txBox="1"/>
          <p:nvPr/>
        </p:nvSpPr>
        <p:spPr bwMode="auto">
          <a:xfrm>
            <a:off x="914400" y="5020056"/>
            <a:ext cx="9144000" cy="4572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BAD6D3"/>
                </a:solidFill>
                <a:latin typeface="Aptos"/>
              </a:defRPr>
            </a:pPr>
            <a:r>
              <a:rPr/>
              <a:t>Jira status ≠ independent acceptance or implementation audit.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563140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6739824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SPRINT 2 / OUTCOME</a:t>
            </a:r>
            <a:endParaRPr/>
          </a:p>
        </p:txBody>
      </p:sp>
      <p:sp>
        <p:nvSpPr>
          <p:cNvPr id="1932003666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Authentication and discovery mapped</a:t>
            </a:r>
            <a:endParaRPr/>
          </a:p>
        </p:txBody>
      </p:sp>
      <p:sp>
        <p:nvSpPr>
          <p:cNvPr id="1555446379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17 Done; 3 In Development. The sprint still reads Active in Jira.</a:t>
            </a:r>
            <a:endParaRPr/>
          </a:p>
        </p:txBody>
      </p:sp>
      <p:sp>
        <p:nvSpPr>
          <p:cNvPr id="28436537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2242916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12</a:t>
            </a:r>
            <a:endParaRPr/>
          </a:p>
        </p:txBody>
      </p:sp>
      <p:sp>
        <p:nvSpPr>
          <p:cNvPr id="276505489" name="Rounded Rectangle 7"/>
          <p:cNvSpPr/>
          <p:nvPr/>
        </p:nvSpPr>
        <p:spPr bwMode="auto">
          <a:xfrm>
            <a:off x="822960" y="2331720"/>
            <a:ext cx="10515600" cy="10149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1762312" name="TextBox 8"/>
          <p:cNvSpPr txBox="1"/>
          <p:nvPr/>
        </p:nvSpPr>
        <p:spPr bwMode="auto">
          <a:xfrm>
            <a:off x="1051560" y="2459735"/>
            <a:ext cx="2971800" cy="31089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800" b="1">
                <a:solidFill>
                  <a:srgbClr val="087E74"/>
                </a:solidFill>
                <a:latin typeface="Aptos"/>
              </a:defRPr>
            </a:pPr>
            <a:r>
              <a:rPr/>
              <a:t>Authentication</a:t>
            </a:r>
            <a:endParaRPr/>
          </a:p>
        </p:txBody>
      </p:sp>
      <p:sp>
        <p:nvSpPr>
          <p:cNvPr id="1070999622" name="TextBox 9"/>
          <p:cNvSpPr txBox="1"/>
          <p:nvPr/>
        </p:nvSpPr>
        <p:spPr bwMode="auto">
          <a:xfrm>
            <a:off x="3886200" y="2450591"/>
            <a:ext cx="7114032" cy="6858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Registration, login, reset, sign-out and failure flows; test matrices.</a:t>
            </a:r>
            <a:endParaRPr/>
          </a:p>
        </p:txBody>
      </p:sp>
      <p:sp>
        <p:nvSpPr>
          <p:cNvPr id="784129803" name="Rounded Rectangle 10"/>
          <p:cNvSpPr/>
          <p:nvPr/>
        </p:nvSpPr>
        <p:spPr bwMode="auto">
          <a:xfrm>
            <a:off x="822960" y="3529584"/>
            <a:ext cx="10515600" cy="10149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36424" name="TextBox 11"/>
          <p:cNvSpPr txBox="1"/>
          <p:nvPr/>
        </p:nvSpPr>
        <p:spPr bwMode="auto">
          <a:xfrm>
            <a:off x="1051560" y="3657600"/>
            <a:ext cx="2971800" cy="31089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800" b="1">
                <a:solidFill>
                  <a:srgbClr val="087E74"/>
                </a:solidFill>
                <a:latin typeface="Aptos"/>
              </a:defRPr>
            </a:pPr>
            <a:r>
              <a:rPr/>
              <a:t>Spatial discovery</a:t>
            </a:r>
            <a:endParaRPr/>
          </a:p>
        </p:txBody>
      </p:sp>
      <p:sp>
        <p:nvSpPr>
          <p:cNvPr id="1726078436" name="TextBox 12"/>
          <p:cNvSpPr txBox="1"/>
          <p:nvPr/>
        </p:nvSpPr>
        <p:spPr bwMode="auto">
          <a:xfrm>
            <a:off x="3886200" y="3648456"/>
            <a:ext cx="7114032" cy="6858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Map initialization, search, filters and pin/drawer interaction flowcharts.</a:t>
            </a:r>
            <a:endParaRPr/>
          </a:p>
        </p:txBody>
      </p:sp>
      <p:sp>
        <p:nvSpPr>
          <p:cNvPr id="211671307" name="Rounded Rectangle 13"/>
          <p:cNvSpPr/>
          <p:nvPr/>
        </p:nvSpPr>
        <p:spPr bwMode="auto">
          <a:xfrm>
            <a:off x="822960" y="4727448"/>
            <a:ext cx="10515600" cy="10149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21370878" name="TextBox 14"/>
          <p:cNvSpPr txBox="1"/>
          <p:nvPr/>
        </p:nvSpPr>
        <p:spPr bwMode="auto">
          <a:xfrm>
            <a:off x="1051560" y="4855464"/>
            <a:ext cx="2971800" cy="31089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800" b="1">
                <a:solidFill>
                  <a:srgbClr val="087E74"/>
                </a:solidFill>
                <a:latin typeface="Aptos"/>
              </a:defRPr>
            </a:pPr>
            <a:r>
              <a:rPr/>
              <a:t>Carry-over</a:t>
            </a:r>
            <a:endParaRPr/>
          </a:p>
        </p:txBody>
      </p:sp>
      <p:sp>
        <p:nvSpPr>
          <p:cNvPr id="582464932" name="TextBox 15"/>
          <p:cNvSpPr txBox="1"/>
          <p:nvPr/>
        </p:nvSpPr>
        <p:spPr bwMode="auto">
          <a:xfrm>
            <a:off x="3886200" y="4846320"/>
            <a:ext cx="7114032" cy="6858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SCRUM-125, SCRUM-126 and SCRUM-127 remain In Development.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9375112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85439815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SPRINT 2 / ARTIFACT SPOTLIGHT</a:t>
            </a:r>
            <a:endParaRPr/>
          </a:p>
        </p:txBody>
      </p:sp>
      <p:sp>
        <p:nvSpPr>
          <p:cNvPr id="1285748445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2200" b="1">
                <a:solidFill>
                  <a:srgbClr val="153036"/>
                </a:solidFill>
                <a:latin typeface="Aptos"/>
              </a:defRPr>
            </a:pPr>
            <a:r>
              <a:rPr/>
              <a:t>SCRUM-104 · Sign Up Module &amp; Flowchart: Registration &amp; PKCE Verification</a:t>
            </a:r>
            <a:endParaRPr/>
          </a:p>
        </p:txBody>
      </p:sp>
      <p:sp>
        <p:nvSpPr>
          <p:cNvPr id="682868881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Ticket contents and artifact provenance</a:t>
            </a:r>
            <a:endParaRPr/>
          </a:p>
        </p:txBody>
      </p:sp>
      <p:sp>
        <p:nvSpPr>
          <p:cNvPr id="1109407525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35163865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13</a:t>
            </a:r>
            <a:endParaRPr/>
          </a:p>
        </p:txBody>
      </p:sp>
      <p:sp>
        <p:nvSpPr>
          <p:cNvPr id="436880241" name="Rounded Rectangle 7"/>
          <p:cNvSpPr/>
          <p:nvPr/>
        </p:nvSpPr>
        <p:spPr bwMode="auto">
          <a:xfrm>
            <a:off x="822960" y="2157984"/>
            <a:ext cx="6400800" cy="390448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92199759" name="Picture 8" descr="auth-registration-pkc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029456" y="2267712"/>
            <a:ext cx="1987806" cy="3172968"/>
          </a:xfrm>
          <a:prstGeom prst="rect">
            <a:avLst/>
          </a:prstGeom>
        </p:spPr>
      </p:pic>
      <p:sp>
        <p:nvSpPr>
          <p:cNvPr id="1496721148" name="TextBox 9"/>
          <p:cNvSpPr txBox="1"/>
          <p:nvPr/>
        </p:nvSpPr>
        <p:spPr bwMode="auto">
          <a:xfrm>
            <a:off x="1005840" y="5532120"/>
            <a:ext cx="6080760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200" b="0">
                <a:solidFill>
                  <a:srgbClr val="556B75"/>
                </a:solidFill>
                <a:latin typeface="Aptos"/>
              </a:defRPr>
            </a:pPr>
            <a:r>
              <a:rPr/>
              <a:t>Registration + PKCE verification flow · diagram excerpt</a:t>
            </a:r>
            <a:endParaRPr/>
          </a:p>
        </p:txBody>
      </p:sp>
      <p:sp>
        <p:nvSpPr>
          <p:cNvPr id="1029654139" name="Rounded Rectangle 10"/>
          <p:cNvSpPr/>
          <p:nvPr/>
        </p:nvSpPr>
        <p:spPr bwMode="auto">
          <a:xfrm>
            <a:off x="7479792" y="2157984"/>
            <a:ext cx="3877056" cy="390448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89264524" name="Rounded Rectangle 11"/>
          <p:cNvSpPr/>
          <p:nvPr/>
        </p:nvSpPr>
        <p:spPr bwMode="auto">
          <a:xfrm>
            <a:off x="7763255" y="2414016"/>
            <a:ext cx="1371600" cy="356616"/>
          </a:xfrm>
          <a:prstGeom prst="roundRect">
            <a:avLst>
              <a:gd name="adj" fmla="val 16667"/>
            </a:avLst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23527903" name="TextBox 12"/>
          <p:cNvSpPr txBox="1"/>
          <p:nvPr/>
        </p:nvSpPr>
        <p:spPr bwMode="auto">
          <a:xfrm>
            <a:off x="7872983" y="2478024"/>
            <a:ext cx="1207008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524707585" name="TextBox 13"/>
          <p:cNvSpPr txBox="1"/>
          <p:nvPr/>
        </p:nvSpPr>
        <p:spPr bwMode="auto">
          <a:xfrm>
            <a:off x="7763255" y="2990088"/>
            <a:ext cx="3264408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• Defines registration, validation and duplicate checks</a:t>
            </a:r>
            <a:endParaRPr/>
          </a:p>
        </p:txBody>
      </p:sp>
      <p:sp>
        <p:nvSpPr>
          <p:cNvPr id="751972744" name="TextBox 14"/>
          <p:cNvSpPr txBox="1"/>
          <p:nvPr/>
        </p:nvSpPr>
        <p:spPr bwMode="auto">
          <a:xfrm>
            <a:off x="7763255" y="3785615"/>
            <a:ext cx="3264408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• Models email verification and PKCE callback</a:t>
            </a:r>
            <a:endParaRPr/>
          </a:p>
        </p:txBody>
      </p:sp>
      <p:sp>
        <p:nvSpPr>
          <p:cNvPr id="1484421289" name="TextBox 15"/>
          <p:cNvSpPr txBox="1"/>
          <p:nvPr/>
        </p:nvSpPr>
        <p:spPr bwMode="auto">
          <a:xfrm>
            <a:off x="7763255" y="4800600"/>
            <a:ext cx="3291840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0">
                <a:solidFill>
                  <a:srgbClr val="556B75"/>
                </a:solidFill>
                <a:latin typeface="Aptos"/>
              </a:defRPr>
            </a:pPr>
            <a:r>
              <a:rPr/>
              <a:t>Local PNG; Jira lists matching editable .drawio attachment</a:t>
            </a:r>
            <a:endParaRPr/>
          </a:p>
        </p:txBody>
      </p:sp>
      <p:sp>
        <p:nvSpPr>
          <p:cNvPr id="1767336859" name="TextBox 16"/>
          <p:cNvSpPr txBox="1"/>
          <p:nvPr/>
        </p:nvSpPr>
        <p:spPr bwMode="auto">
          <a:xfrm>
            <a:off x="7763255" y="5605272"/>
            <a:ext cx="329184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2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OPEN JIRA ISSUE ↗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08410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15483991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SPRINT 2 / ARTIFACT SPOTLIGHT</a:t>
            </a:r>
            <a:endParaRPr/>
          </a:p>
        </p:txBody>
      </p:sp>
      <p:sp>
        <p:nvSpPr>
          <p:cNvPr id="1733858636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2200" b="1">
                <a:solidFill>
                  <a:srgbClr val="153036"/>
                </a:solidFill>
                <a:latin typeface="Aptos"/>
              </a:defRPr>
            </a:pPr>
            <a:r>
              <a:rPr/>
              <a:t>SCRUM-116 · Landing Page Master Orchestration &amp; Spatial Discovery Flowchart</a:t>
            </a:r>
            <a:endParaRPr/>
          </a:p>
        </p:txBody>
      </p:sp>
      <p:sp>
        <p:nvSpPr>
          <p:cNvPr id="1941877359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Ticket contents and artifact provenance</a:t>
            </a:r>
            <a:endParaRPr/>
          </a:p>
        </p:txBody>
      </p:sp>
      <p:sp>
        <p:nvSpPr>
          <p:cNvPr id="1076082519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38735302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14</a:t>
            </a:r>
            <a:endParaRPr/>
          </a:p>
        </p:txBody>
      </p:sp>
      <p:sp>
        <p:nvSpPr>
          <p:cNvPr id="635390824" name="Rounded Rectangle 7"/>
          <p:cNvSpPr/>
          <p:nvPr/>
        </p:nvSpPr>
        <p:spPr bwMode="auto">
          <a:xfrm>
            <a:off x="822960" y="2157984"/>
            <a:ext cx="6400800" cy="390448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16977963" name="Picture 8" descr="map-master-orchestration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908602" y="2267712"/>
            <a:ext cx="2229514" cy="3172968"/>
          </a:xfrm>
          <a:prstGeom prst="rect">
            <a:avLst/>
          </a:prstGeom>
        </p:spPr>
      </p:pic>
      <p:sp>
        <p:nvSpPr>
          <p:cNvPr id="1444049195" name="TextBox 9"/>
          <p:cNvSpPr txBox="1"/>
          <p:nvPr/>
        </p:nvSpPr>
        <p:spPr bwMode="auto">
          <a:xfrm>
            <a:off x="1005840" y="5532120"/>
            <a:ext cx="6080760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200" b="0">
                <a:solidFill>
                  <a:srgbClr val="556B75"/>
                </a:solidFill>
                <a:latin typeface="Aptos"/>
              </a:defRPr>
            </a:pPr>
            <a:r>
              <a:rPr/>
              <a:t>Map-first spatial discovery · diagram excerpt</a:t>
            </a:r>
            <a:endParaRPr/>
          </a:p>
        </p:txBody>
      </p:sp>
      <p:sp>
        <p:nvSpPr>
          <p:cNvPr id="1911750767" name="Rounded Rectangle 10"/>
          <p:cNvSpPr/>
          <p:nvPr/>
        </p:nvSpPr>
        <p:spPr bwMode="auto">
          <a:xfrm>
            <a:off x="7479792" y="2157984"/>
            <a:ext cx="3877056" cy="390448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34525189" name="Rounded Rectangle 11"/>
          <p:cNvSpPr/>
          <p:nvPr/>
        </p:nvSpPr>
        <p:spPr bwMode="auto">
          <a:xfrm>
            <a:off x="7763255" y="2414016"/>
            <a:ext cx="1371600" cy="356616"/>
          </a:xfrm>
          <a:prstGeom prst="roundRect">
            <a:avLst>
              <a:gd name="adj" fmla="val 16667"/>
            </a:avLst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9582240" name="TextBox 12"/>
          <p:cNvSpPr txBox="1"/>
          <p:nvPr/>
        </p:nvSpPr>
        <p:spPr bwMode="auto">
          <a:xfrm>
            <a:off x="7872983" y="2478024"/>
            <a:ext cx="1207008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6678922" name="TextBox 13"/>
          <p:cNvSpPr txBox="1"/>
          <p:nvPr/>
        </p:nvSpPr>
        <p:spPr bwMode="auto">
          <a:xfrm>
            <a:off x="7763255" y="2990088"/>
            <a:ext cx="3264408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• Map initialization and location choice</a:t>
            </a:r>
            <a:endParaRPr/>
          </a:p>
        </p:txBody>
      </p:sp>
      <p:sp>
        <p:nvSpPr>
          <p:cNvPr id="1370384297" name="TextBox 14"/>
          <p:cNvSpPr txBox="1"/>
          <p:nvPr/>
        </p:nvSpPr>
        <p:spPr bwMode="auto">
          <a:xfrm>
            <a:off x="7763255" y="3785615"/>
            <a:ext cx="3264408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• Spatial query to price pins and results surfaces</a:t>
            </a:r>
            <a:endParaRPr/>
          </a:p>
        </p:txBody>
      </p:sp>
      <p:sp>
        <p:nvSpPr>
          <p:cNvPr id="1766599250" name="TextBox 15"/>
          <p:cNvSpPr txBox="1"/>
          <p:nvPr/>
        </p:nvSpPr>
        <p:spPr bwMode="auto">
          <a:xfrm>
            <a:off x="7763255" y="4800600"/>
            <a:ext cx="3291840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0">
                <a:solidFill>
                  <a:srgbClr val="556B75"/>
                </a:solidFill>
                <a:latin typeface="Aptos"/>
              </a:defRPr>
            </a:pPr>
            <a:r>
              <a:rPr/>
              <a:t>Local flowchart; attachment linkage not independently checked</a:t>
            </a:r>
            <a:endParaRPr/>
          </a:p>
        </p:txBody>
      </p:sp>
      <p:sp>
        <p:nvSpPr>
          <p:cNvPr id="478184386" name="TextBox 16"/>
          <p:cNvSpPr txBox="1"/>
          <p:nvPr/>
        </p:nvSpPr>
        <p:spPr bwMode="auto">
          <a:xfrm>
            <a:off x="7763255" y="5605272"/>
            <a:ext cx="329184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2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OPEN JIRA ISSUE ↗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40966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64217499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SPRINT 2 / ARTIFACT SPOTLIGHT</a:t>
            </a:r>
            <a:endParaRPr/>
          </a:p>
        </p:txBody>
      </p:sp>
      <p:sp>
        <p:nvSpPr>
          <p:cNvPr id="1579436830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2200" b="1">
                <a:solidFill>
                  <a:srgbClr val="153036"/>
                </a:solidFill>
                <a:latin typeface="Aptos"/>
              </a:defRPr>
            </a:pPr>
            <a:r>
              <a:rPr/>
              <a:t>SCRUM-118 · Sub-Process 2.2: Spatial Search, Landmark Auto-Suggest &amp; PostGIS Query Flowchart</a:t>
            </a:r>
            <a:endParaRPr/>
          </a:p>
        </p:txBody>
      </p:sp>
      <p:sp>
        <p:nvSpPr>
          <p:cNvPr id="980991331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Ticket contents and artifact provenance</a:t>
            </a:r>
            <a:endParaRPr/>
          </a:p>
        </p:txBody>
      </p:sp>
      <p:sp>
        <p:nvSpPr>
          <p:cNvPr id="23362488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5702759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15</a:t>
            </a:r>
            <a:endParaRPr/>
          </a:p>
        </p:txBody>
      </p:sp>
      <p:sp>
        <p:nvSpPr>
          <p:cNvPr id="1764782647" name="Rounded Rectangle 7"/>
          <p:cNvSpPr/>
          <p:nvPr/>
        </p:nvSpPr>
        <p:spPr bwMode="auto">
          <a:xfrm>
            <a:off x="822960" y="2157984"/>
            <a:ext cx="6400800" cy="390448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07869709" name="Picture 8" descr="map-search-spatial-query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874327" y="2267712"/>
            <a:ext cx="2298064" cy="3172968"/>
          </a:xfrm>
          <a:prstGeom prst="rect">
            <a:avLst/>
          </a:prstGeom>
        </p:spPr>
      </p:pic>
      <p:sp>
        <p:nvSpPr>
          <p:cNvPr id="671895760" name="TextBox 9"/>
          <p:cNvSpPr txBox="1"/>
          <p:nvPr/>
        </p:nvSpPr>
        <p:spPr bwMode="auto">
          <a:xfrm>
            <a:off x="1005840" y="5532120"/>
            <a:ext cx="6080760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200" b="0">
                <a:solidFill>
                  <a:srgbClr val="556B75"/>
                </a:solidFill>
                <a:latin typeface="Aptos"/>
              </a:defRPr>
            </a:pPr>
            <a:r>
              <a:rPr/>
              <a:t>Spatial search query · diagram excerpt</a:t>
            </a:r>
            <a:endParaRPr/>
          </a:p>
        </p:txBody>
      </p:sp>
      <p:sp>
        <p:nvSpPr>
          <p:cNvPr id="1708566032" name="Rounded Rectangle 10"/>
          <p:cNvSpPr/>
          <p:nvPr/>
        </p:nvSpPr>
        <p:spPr bwMode="auto">
          <a:xfrm>
            <a:off x="7479792" y="2157984"/>
            <a:ext cx="3877056" cy="390448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58013952" name="Rounded Rectangle 11"/>
          <p:cNvSpPr/>
          <p:nvPr/>
        </p:nvSpPr>
        <p:spPr bwMode="auto">
          <a:xfrm>
            <a:off x="7763255" y="2414016"/>
            <a:ext cx="1371600" cy="356616"/>
          </a:xfrm>
          <a:prstGeom prst="roundRect">
            <a:avLst>
              <a:gd name="adj" fmla="val 16667"/>
            </a:avLst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2083359" name="TextBox 12"/>
          <p:cNvSpPr txBox="1"/>
          <p:nvPr/>
        </p:nvSpPr>
        <p:spPr bwMode="auto">
          <a:xfrm>
            <a:off x="7872983" y="2478024"/>
            <a:ext cx="1207008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264861120" name="TextBox 13"/>
          <p:cNvSpPr txBox="1"/>
          <p:nvPr/>
        </p:nvSpPr>
        <p:spPr bwMode="auto">
          <a:xfrm>
            <a:off x="7763255" y="2990088"/>
            <a:ext cx="3264408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• Landmark auto-suggest and viewport query</a:t>
            </a:r>
            <a:endParaRPr/>
          </a:p>
        </p:txBody>
      </p:sp>
      <p:sp>
        <p:nvSpPr>
          <p:cNvPr id="1336186640" name="TextBox 14"/>
          <p:cNvSpPr txBox="1"/>
          <p:nvPr/>
        </p:nvSpPr>
        <p:spPr bwMode="auto">
          <a:xfrm>
            <a:off x="7763255" y="3785615"/>
            <a:ext cx="3264408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• PostGIS search specification, not implementation</a:t>
            </a:r>
            <a:endParaRPr/>
          </a:p>
        </p:txBody>
      </p:sp>
      <p:sp>
        <p:nvSpPr>
          <p:cNvPr id="430689221" name="TextBox 15"/>
          <p:cNvSpPr txBox="1"/>
          <p:nvPr/>
        </p:nvSpPr>
        <p:spPr bwMode="auto">
          <a:xfrm>
            <a:off x="7763255" y="4800600"/>
            <a:ext cx="3291840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0">
                <a:solidFill>
                  <a:srgbClr val="556B75"/>
                </a:solidFill>
                <a:latin typeface="Aptos"/>
              </a:defRPr>
            </a:pPr>
            <a:r>
              <a:rPr/>
              <a:t>Local PNG; Jira lists matching editable .drawio attachment</a:t>
            </a:r>
            <a:endParaRPr/>
          </a:p>
        </p:txBody>
      </p:sp>
      <p:sp>
        <p:nvSpPr>
          <p:cNvPr id="1224036921" name="TextBox 16"/>
          <p:cNvSpPr txBox="1"/>
          <p:nvPr/>
        </p:nvSpPr>
        <p:spPr bwMode="auto">
          <a:xfrm>
            <a:off x="7763255" y="5605272"/>
            <a:ext cx="329184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2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OPEN JIRA ISSUE ↗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018496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47395885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SPRINT 2 / ARTIFACT SPOTLIGHT</a:t>
            </a:r>
            <a:endParaRPr/>
          </a:p>
        </p:txBody>
      </p:sp>
      <p:sp>
        <p:nvSpPr>
          <p:cNvPr id="936720003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2200" b="1">
                <a:solidFill>
                  <a:srgbClr val="153036"/>
                </a:solidFill>
                <a:latin typeface="Aptos"/>
              </a:defRPr>
            </a:pPr>
            <a:r>
              <a:rPr/>
              <a:t>SCRUM-125 · Module 3: Landlord Onboarding &amp; Listing Management Flowcharts</a:t>
            </a:r>
            <a:endParaRPr/>
          </a:p>
        </p:txBody>
      </p:sp>
      <p:sp>
        <p:nvSpPr>
          <p:cNvPr id="1887358265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Ticket contents and artifact provenance</a:t>
            </a:r>
            <a:endParaRPr/>
          </a:p>
        </p:txBody>
      </p:sp>
      <p:sp>
        <p:nvSpPr>
          <p:cNvPr id="37646336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3868310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16</a:t>
            </a:r>
            <a:endParaRPr/>
          </a:p>
        </p:txBody>
      </p:sp>
      <p:sp>
        <p:nvSpPr>
          <p:cNvPr id="1153896856" name="Rounded Rectangle 7"/>
          <p:cNvSpPr/>
          <p:nvPr/>
        </p:nvSpPr>
        <p:spPr bwMode="auto">
          <a:xfrm>
            <a:off x="822960" y="2157984"/>
            <a:ext cx="6400800" cy="390448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36499713" name="Picture 8" descr="landlord-listing-draft-submi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484578" y="2267711"/>
            <a:ext cx="3077563" cy="3172968"/>
          </a:xfrm>
          <a:prstGeom prst="rect">
            <a:avLst/>
          </a:prstGeom>
        </p:spPr>
      </p:pic>
      <p:sp>
        <p:nvSpPr>
          <p:cNvPr id="2009899119" name="TextBox 9"/>
          <p:cNvSpPr txBox="1"/>
          <p:nvPr/>
        </p:nvSpPr>
        <p:spPr bwMode="auto">
          <a:xfrm>
            <a:off x="1005840" y="5532120"/>
            <a:ext cx="6080760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200" b="0">
                <a:solidFill>
                  <a:srgbClr val="556B75"/>
                </a:solidFill>
                <a:latin typeface="Aptos"/>
              </a:defRPr>
            </a:pPr>
            <a:r>
              <a:rPr/>
              <a:t>Landlord listing draft/submission · local draft</a:t>
            </a:r>
            <a:endParaRPr/>
          </a:p>
        </p:txBody>
      </p:sp>
      <p:sp>
        <p:nvSpPr>
          <p:cNvPr id="466851729" name="Rounded Rectangle 10"/>
          <p:cNvSpPr/>
          <p:nvPr/>
        </p:nvSpPr>
        <p:spPr bwMode="auto">
          <a:xfrm>
            <a:off x="7479792" y="2157984"/>
            <a:ext cx="3877056" cy="390448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4111879" name="Rounded Rectangle 11"/>
          <p:cNvSpPr/>
          <p:nvPr/>
        </p:nvSpPr>
        <p:spPr bwMode="auto">
          <a:xfrm>
            <a:off x="7763255" y="2414016"/>
            <a:ext cx="1371600" cy="356616"/>
          </a:xfrm>
          <a:prstGeom prst="roundRect">
            <a:avLst>
              <a:gd name="adj" fmla="val 16667"/>
            </a:avLst>
          </a:prstGeom>
          <a:solidFill>
            <a:srgbClr val="B26B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6719269" name="TextBox 12"/>
          <p:cNvSpPr txBox="1"/>
          <p:nvPr/>
        </p:nvSpPr>
        <p:spPr bwMode="auto">
          <a:xfrm>
            <a:off x="7872983" y="2478024"/>
            <a:ext cx="1207008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ptos"/>
              </a:defRPr>
            </a:pPr>
            <a:r>
              <a:rPr/>
              <a:t>IN DEV</a:t>
            </a:r>
            <a:endParaRPr/>
          </a:p>
        </p:txBody>
      </p:sp>
      <p:sp>
        <p:nvSpPr>
          <p:cNvPr id="631109007" name="TextBox 13"/>
          <p:cNvSpPr txBox="1"/>
          <p:nvPr/>
        </p:nvSpPr>
        <p:spPr bwMode="auto">
          <a:xfrm>
            <a:off x="7763255" y="2990088"/>
            <a:ext cx="3264408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• Draft and submit listing flow</a:t>
            </a:r>
            <a:endParaRPr/>
          </a:p>
        </p:txBody>
      </p:sp>
      <p:sp>
        <p:nvSpPr>
          <p:cNvPr id="656708366" name="TextBox 14"/>
          <p:cNvSpPr txBox="1"/>
          <p:nvPr/>
        </p:nvSpPr>
        <p:spPr bwMode="auto">
          <a:xfrm>
            <a:off x="7763255" y="3785615"/>
            <a:ext cx="3264408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• Ticket remains In Development</a:t>
            </a:r>
            <a:endParaRPr/>
          </a:p>
        </p:txBody>
      </p:sp>
      <p:sp>
        <p:nvSpPr>
          <p:cNvPr id="887346731" name="TextBox 15"/>
          <p:cNvSpPr txBox="1"/>
          <p:nvPr/>
        </p:nvSpPr>
        <p:spPr bwMode="auto">
          <a:xfrm>
            <a:off x="7763255" y="4800600"/>
            <a:ext cx="3291840" cy="6217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0">
                <a:solidFill>
                  <a:srgbClr val="556B75"/>
                </a:solidFill>
                <a:latin typeface="Aptos"/>
              </a:defRPr>
            </a:pPr>
            <a:r>
              <a:rPr/>
              <a:t>Local draft; acceptance and Jira publication not verified</a:t>
            </a:r>
            <a:endParaRPr/>
          </a:p>
        </p:txBody>
      </p:sp>
      <p:sp>
        <p:nvSpPr>
          <p:cNvPr id="2012363802" name="TextBox 16"/>
          <p:cNvSpPr txBox="1"/>
          <p:nvPr/>
        </p:nvSpPr>
        <p:spPr bwMode="auto">
          <a:xfrm>
            <a:off x="7763255" y="5605272"/>
            <a:ext cx="329184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2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OPEN JIRA ISSUE ↗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694087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41194658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2</a:t>
            </a:r>
            <a:endParaRPr/>
          </a:p>
        </p:txBody>
      </p:sp>
      <p:sp>
        <p:nvSpPr>
          <p:cNvPr id="1090028132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2 · ticket register</a:t>
            </a:r>
            <a:endParaRPr/>
          </a:p>
        </p:txBody>
      </p:sp>
      <p:sp>
        <p:nvSpPr>
          <p:cNvPr id="2057524921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1–6 of 20  /  appendix page 1 of 4</a:t>
            </a:r>
            <a:endParaRPr/>
          </a:p>
        </p:txBody>
      </p:sp>
      <p:sp>
        <p:nvSpPr>
          <p:cNvPr id="229912207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53451386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17</a:t>
            </a:r>
            <a:endParaRPr/>
          </a:p>
        </p:txBody>
      </p:sp>
      <p:sp>
        <p:nvSpPr>
          <p:cNvPr id="1742589330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8720135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SCRUM-104</a:t>
            </a:r>
            <a:endParaRPr/>
          </a:p>
        </p:txBody>
      </p:sp>
      <p:sp>
        <p:nvSpPr>
          <p:cNvPr id="651204073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Sign Up Module &amp; Flowchart: Registration &amp; PKCE Verification</a:t>
            </a:r>
            <a:endParaRPr/>
          </a:p>
        </p:txBody>
      </p:sp>
      <p:sp>
        <p:nvSpPr>
          <p:cNvPr id="760967715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797965725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8353010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SCRUM-105</a:t>
            </a:r>
            <a:endParaRPr/>
          </a:p>
        </p:txBody>
      </p:sp>
      <p:sp>
        <p:nvSpPr>
          <p:cNvPr id="810494843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Log In Module &amp; Flowchart: Authentication &amp; Session Token Lifecycle</a:t>
            </a:r>
            <a:endParaRPr/>
          </a:p>
        </p:txBody>
      </p:sp>
      <p:sp>
        <p:nvSpPr>
          <p:cNvPr id="1021665919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655836928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5914180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SCRUM-106</a:t>
            </a:r>
            <a:endParaRPr/>
          </a:p>
        </p:txBody>
      </p:sp>
      <p:sp>
        <p:nvSpPr>
          <p:cNvPr id="50102766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Password Reset Module &amp; Flowchart: Self-Service Recovery Workflow</a:t>
            </a:r>
            <a:endParaRPr/>
          </a:p>
        </p:txBody>
      </p:sp>
      <p:sp>
        <p:nvSpPr>
          <p:cNvPr id="284584351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108475258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39973916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SCRUM-107</a:t>
            </a:r>
            <a:endParaRPr/>
          </a:p>
        </p:txBody>
      </p:sp>
      <p:sp>
        <p:nvSpPr>
          <p:cNvPr id="269656094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Sign Out Module &amp; Flowchart: Session Termination &amp; Multi-Tab Sync</a:t>
            </a:r>
            <a:endParaRPr/>
          </a:p>
        </p:txBody>
      </p:sp>
      <p:sp>
        <p:nvSpPr>
          <p:cNvPr id="1284415585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410687178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96467933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SCRUM-108</a:t>
            </a:r>
            <a:endParaRPr/>
          </a:p>
        </p:txBody>
      </p:sp>
      <p:sp>
        <p:nvSpPr>
          <p:cNvPr id="651844055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Error Handling &amp; Suspension Module &amp; Flowchart: Failure Taxonomy &amp; UX States</a:t>
            </a:r>
            <a:endParaRPr/>
          </a:p>
        </p:txBody>
      </p:sp>
      <p:sp>
        <p:nvSpPr>
          <p:cNvPr id="2001790051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22448610" name="Rounded Rectangle 27"/>
          <p:cNvSpPr/>
          <p:nvPr/>
        </p:nvSpPr>
        <p:spPr bwMode="auto">
          <a:xfrm>
            <a:off x="822960" y="542239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35163545" name="TextBox 28"/>
          <p:cNvSpPr txBox="1"/>
          <p:nvPr/>
        </p:nvSpPr>
        <p:spPr bwMode="auto">
          <a:xfrm>
            <a:off x="1024128" y="554126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8" tooltip=""/>
              </a:rPr>
              <a:t>SCRUM-109</a:t>
            </a:r>
            <a:endParaRPr/>
          </a:p>
        </p:txBody>
      </p:sp>
      <p:sp>
        <p:nvSpPr>
          <p:cNvPr id="910290834" name="TextBox 29"/>
          <p:cNvSpPr txBox="1"/>
          <p:nvPr/>
        </p:nvSpPr>
        <p:spPr bwMode="auto">
          <a:xfrm>
            <a:off x="2350008" y="5513831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Authentication Master Test Plan &amp; Test Matrix</a:t>
            </a:r>
            <a:endParaRPr/>
          </a:p>
        </p:txBody>
      </p:sp>
      <p:sp>
        <p:nvSpPr>
          <p:cNvPr id="871901310" name="TextBox 30"/>
          <p:cNvSpPr txBox="1"/>
          <p:nvPr/>
        </p:nvSpPr>
        <p:spPr bwMode="auto">
          <a:xfrm>
            <a:off x="10021824" y="557784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169205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9807015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2</a:t>
            </a:r>
            <a:endParaRPr/>
          </a:p>
        </p:txBody>
      </p:sp>
      <p:sp>
        <p:nvSpPr>
          <p:cNvPr id="74740965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2 · ticket register</a:t>
            </a:r>
            <a:endParaRPr/>
          </a:p>
        </p:txBody>
      </p:sp>
      <p:sp>
        <p:nvSpPr>
          <p:cNvPr id="1013931812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7–12 of 20  /  appendix page 2 of 4</a:t>
            </a:r>
            <a:endParaRPr/>
          </a:p>
        </p:txBody>
      </p:sp>
      <p:sp>
        <p:nvSpPr>
          <p:cNvPr id="59902993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59526017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18</a:t>
            </a:r>
            <a:endParaRPr/>
          </a:p>
        </p:txBody>
      </p:sp>
      <p:sp>
        <p:nvSpPr>
          <p:cNvPr id="333223908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86630367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SCRUM-110</a:t>
            </a:r>
            <a:endParaRPr/>
          </a:p>
        </p:txBody>
      </p:sp>
      <p:sp>
        <p:nvSpPr>
          <p:cNvPr id="472881427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Sign Up Module Test Plan &amp; Registration Test Cases</a:t>
            </a:r>
            <a:endParaRPr/>
          </a:p>
        </p:txBody>
      </p:sp>
      <p:sp>
        <p:nvSpPr>
          <p:cNvPr id="851052873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466108571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3220929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SCRUM-111</a:t>
            </a:r>
            <a:endParaRPr/>
          </a:p>
        </p:txBody>
      </p:sp>
      <p:sp>
        <p:nvSpPr>
          <p:cNvPr id="1578275840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Log In Module Test Plan &amp; Session Token Test Cases</a:t>
            </a:r>
            <a:endParaRPr/>
          </a:p>
        </p:txBody>
      </p:sp>
      <p:sp>
        <p:nvSpPr>
          <p:cNvPr id="713450175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89460133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427417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SCRUM-112</a:t>
            </a:r>
            <a:endParaRPr/>
          </a:p>
        </p:txBody>
      </p:sp>
      <p:sp>
        <p:nvSpPr>
          <p:cNvPr id="979114578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Password Reset &amp; Sign Out Module Test Cases</a:t>
            </a:r>
            <a:endParaRPr/>
          </a:p>
        </p:txBody>
      </p:sp>
      <p:sp>
        <p:nvSpPr>
          <p:cNvPr id="1592394462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804680437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05857553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SCRUM-113</a:t>
            </a:r>
            <a:endParaRPr/>
          </a:p>
        </p:txBody>
      </p:sp>
      <p:sp>
        <p:nvSpPr>
          <p:cNvPr id="2079567321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Route Guards &amp; Middleware Security Test Cases</a:t>
            </a:r>
            <a:endParaRPr/>
          </a:p>
        </p:txBody>
      </p:sp>
      <p:sp>
        <p:nvSpPr>
          <p:cNvPr id="1436869949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795675374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00147997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SCRUM-114</a:t>
            </a:r>
            <a:endParaRPr/>
          </a:p>
        </p:txBody>
      </p:sp>
      <p:sp>
        <p:nvSpPr>
          <p:cNvPr id="1106940111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Authentication Baseline Latency &amp; Load Strategy</a:t>
            </a:r>
            <a:endParaRPr/>
          </a:p>
        </p:txBody>
      </p:sp>
      <p:sp>
        <p:nvSpPr>
          <p:cNvPr id="1540218601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333155805" name="Rounded Rectangle 27"/>
          <p:cNvSpPr/>
          <p:nvPr/>
        </p:nvSpPr>
        <p:spPr bwMode="auto">
          <a:xfrm>
            <a:off x="822960" y="542239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7956678" name="TextBox 28"/>
          <p:cNvSpPr txBox="1"/>
          <p:nvPr/>
        </p:nvSpPr>
        <p:spPr bwMode="auto">
          <a:xfrm>
            <a:off x="1024128" y="554126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8" tooltip=""/>
              </a:rPr>
              <a:t>SCRUM-116</a:t>
            </a:r>
            <a:endParaRPr/>
          </a:p>
        </p:txBody>
      </p:sp>
      <p:sp>
        <p:nvSpPr>
          <p:cNvPr id="923421387" name="TextBox 29"/>
          <p:cNvSpPr txBox="1"/>
          <p:nvPr/>
        </p:nvSpPr>
        <p:spPr bwMode="auto">
          <a:xfrm>
            <a:off x="2350008" y="5513831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Landing Page Master Orchestration &amp; Spatial Discovery Flowchart</a:t>
            </a:r>
            <a:endParaRPr/>
          </a:p>
        </p:txBody>
      </p:sp>
      <p:sp>
        <p:nvSpPr>
          <p:cNvPr id="883047939" name="TextBox 30"/>
          <p:cNvSpPr txBox="1"/>
          <p:nvPr/>
        </p:nvSpPr>
        <p:spPr bwMode="auto">
          <a:xfrm>
            <a:off x="10021824" y="557784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742989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6841197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2</a:t>
            </a:r>
            <a:endParaRPr/>
          </a:p>
        </p:txBody>
      </p:sp>
      <p:sp>
        <p:nvSpPr>
          <p:cNvPr id="1355738756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2 · ticket register</a:t>
            </a:r>
            <a:endParaRPr/>
          </a:p>
        </p:txBody>
      </p:sp>
      <p:sp>
        <p:nvSpPr>
          <p:cNvPr id="1126775182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13–18 of 20  /  appendix page 3 of 4</a:t>
            </a:r>
            <a:endParaRPr/>
          </a:p>
        </p:txBody>
      </p:sp>
      <p:sp>
        <p:nvSpPr>
          <p:cNvPr id="681607576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34337863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19</a:t>
            </a:r>
            <a:endParaRPr/>
          </a:p>
        </p:txBody>
      </p:sp>
      <p:sp>
        <p:nvSpPr>
          <p:cNvPr id="896507031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5469296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SCRUM-117</a:t>
            </a:r>
            <a:endParaRPr/>
          </a:p>
        </p:txBody>
      </p:sp>
      <p:sp>
        <p:nvSpPr>
          <p:cNvPr id="1949157231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Sub-Process 2.1: Map Initialization, Viewport &amp; Geolocation Flowchart</a:t>
            </a:r>
            <a:endParaRPr/>
          </a:p>
        </p:txBody>
      </p:sp>
      <p:sp>
        <p:nvSpPr>
          <p:cNvPr id="397972229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54228577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2304483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SCRUM-118</a:t>
            </a:r>
            <a:endParaRPr/>
          </a:p>
        </p:txBody>
      </p:sp>
      <p:sp>
        <p:nvSpPr>
          <p:cNvPr id="415952322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Sub-Process 2.2: Spatial Search, Landmark Auto-Suggest &amp; PostGIS Query Flowchart</a:t>
            </a:r>
            <a:endParaRPr/>
          </a:p>
        </p:txBody>
      </p:sp>
      <p:sp>
        <p:nvSpPr>
          <p:cNvPr id="716793872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436700585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46511312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SCRUM-119</a:t>
            </a:r>
            <a:endParaRPr/>
          </a:p>
        </p:txBody>
      </p:sp>
      <p:sp>
        <p:nvSpPr>
          <p:cNvPr id="1698797819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Sub-Process 2.3: Multi-Criteria Filter Pills &amp; URL State Sync Flowchart</a:t>
            </a:r>
            <a:endParaRPr/>
          </a:p>
        </p:txBody>
      </p:sp>
      <p:sp>
        <p:nvSpPr>
          <p:cNvPr id="1539873087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871326161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04526928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SCRUM-120</a:t>
            </a:r>
            <a:endParaRPr/>
          </a:p>
        </p:txBody>
      </p:sp>
      <p:sp>
        <p:nvSpPr>
          <p:cNvPr id="1977647330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Sub-Process 2.4: Bidirectional Pin Marker &amp; 3-Snap Gesture Drawer Flowchart</a:t>
            </a:r>
            <a:endParaRPr/>
          </a:p>
        </p:txBody>
      </p:sp>
      <p:sp>
        <p:nvSpPr>
          <p:cNvPr id="424390452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547022200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5778091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SCRUM-122</a:t>
            </a:r>
            <a:endParaRPr/>
          </a:p>
        </p:txBody>
      </p:sp>
      <p:sp>
        <p:nvSpPr>
          <p:cNvPr id="1472365053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FUNCTION SPECIFICATION DOCUMENT FOR ABANG CEBU</a:t>
            </a:r>
            <a:endParaRPr/>
          </a:p>
        </p:txBody>
      </p:sp>
      <p:sp>
        <p:nvSpPr>
          <p:cNvPr id="718422639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087E74"/>
                </a:solidFill>
                <a:latin typeface="Aptos"/>
              </a:defRPr>
            </a:pPr>
            <a:r>
              <a:rPr/>
              <a:t>DONE</a:t>
            </a:r>
            <a:endParaRPr/>
          </a:p>
        </p:txBody>
      </p:sp>
      <p:sp>
        <p:nvSpPr>
          <p:cNvPr id="1810103733" name="Rounded Rectangle 27"/>
          <p:cNvSpPr/>
          <p:nvPr/>
        </p:nvSpPr>
        <p:spPr bwMode="auto">
          <a:xfrm>
            <a:off x="822960" y="542239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5066000" name="TextBox 28"/>
          <p:cNvSpPr txBox="1"/>
          <p:nvPr/>
        </p:nvSpPr>
        <p:spPr bwMode="auto">
          <a:xfrm>
            <a:off x="1024128" y="554126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8" tooltip=""/>
              </a:rPr>
              <a:t>SCRUM-125</a:t>
            </a:r>
            <a:endParaRPr/>
          </a:p>
        </p:txBody>
      </p:sp>
      <p:sp>
        <p:nvSpPr>
          <p:cNvPr id="209179060" name="TextBox 29"/>
          <p:cNvSpPr txBox="1"/>
          <p:nvPr/>
        </p:nvSpPr>
        <p:spPr bwMode="auto">
          <a:xfrm>
            <a:off x="2350008" y="5513831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Module 3: Landlord Onboarding &amp; Listing Management Flowcharts</a:t>
            </a:r>
            <a:endParaRPr/>
          </a:p>
        </p:txBody>
      </p:sp>
      <p:sp>
        <p:nvSpPr>
          <p:cNvPr id="1655146595" name="TextBox 30"/>
          <p:cNvSpPr txBox="1"/>
          <p:nvPr/>
        </p:nvSpPr>
        <p:spPr bwMode="auto">
          <a:xfrm>
            <a:off x="10021824" y="557784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B26B13"/>
                </a:solidFill>
                <a:latin typeface="Aptos"/>
              </a:defRPr>
            </a:pPr>
            <a:r>
              <a:rPr/>
              <a:t>IN DEV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231078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0176396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2</a:t>
            </a:r>
            <a:endParaRPr/>
          </a:p>
        </p:txBody>
      </p:sp>
      <p:sp>
        <p:nvSpPr>
          <p:cNvPr id="1051483233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2 · ticket register</a:t>
            </a:r>
            <a:endParaRPr/>
          </a:p>
        </p:txBody>
      </p:sp>
      <p:sp>
        <p:nvSpPr>
          <p:cNvPr id="1093863327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19–20 of 20  /  appendix page 4 of 4</a:t>
            </a:r>
            <a:endParaRPr/>
          </a:p>
        </p:txBody>
      </p:sp>
      <p:sp>
        <p:nvSpPr>
          <p:cNvPr id="1287946439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7363221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20</a:t>
            </a:r>
            <a:endParaRPr/>
          </a:p>
        </p:txBody>
      </p:sp>
      <p:sp>
        <p:nvSpPr>
          <p:cNvPr id="946958124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0057720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SCRUM-126</a:t>
            </a:r>
            <a:endParaRPr/>
          </a:p>
        </p:txBody>
      </p:sp>
      <p:sp>
        <p:nvSpPr>
          <p:cNvPr id="524526857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Module 4: Admin KYC Verification &amp; Listing Moderation Flowcharts</a:t>
            </a:r>
            <a:endParaRPr/>
          </a:p>
        </p:txBody>
      </p:sp>
      <p:sp>
        <p:nvSpPr>
          <p:cNvPr id="327149656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B26B13"/>
                </a:solidFill>
                <a:latin typeface="Aptos"/>
              </a:defRPr>
            </a:pPr>
            <a:r>
              <a:rPr/>
              <a:t>IN DEV</a:t>
            </a:r>
            <a:endParaRPr/>
          </a:p>
        </p:txBody>
      </p:sp>
      <p:sp>
        <p:nvSpPr>
          <p:cNvPr id="415539925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54572381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SCRUM-127</a:t>
            </a:r>
            <a:endParaRPr/>
          </a:p>
        </p:txBody>
      </p:sp>
      <p:sp>
        <p:nvSpPr>
          <p:cNvPr id="1487481682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Module 5: Renter Favorites, Contact &amp; Viewing Inquiry Flowcharts</a:t>
            </a:r>
            <a:endParaRPr/>
          </a:p>
        </p:txBody>
      </p:sp>
      <p:sp>
        <p:nvSpPr>
          <p:cNvPr id="329848774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B26B13"/>
                </a:solidFill>
                <a:latin typeface="Aptos"/>
              </a:defRPr>
            </a:pPr>
            <a:r>
              <a:rPr/>
              <a:t>IN DEV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D3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1457802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43D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43334092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70EBD1"/>
                </a:solidFill>
                <a:latin typeface="Aptos"/>
              </a:defRPr>
            </a:pPr>
            <a:r>
              <a:rPr/>
              <a:t>SPRINT 3 / FUTURE</a:t>
            </a:r>
            <a:endParaRPr/>
          </a:p>
        </p:txBody>
      </p:sp>
      <p:sp>
        <p:nvSpPr>
          <p:cNvPr id="316808125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FFFFFF"/>
                </a:solidFill>
                <a:latin typeface="Aptos"/>
              </a:defRPr>
            </a:pPr>
            <a:r>
              <a:rPr/>
              <a:t>Build, then verify</a:t>
            </a:r>
            <a:endParaRPr/>
          </a:p>
        </p:txBody>
      </p:sp>
      <p:sp>
        <p:nvSpPr>
          <p:cNvPr id="400776941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BDD7D6"/>
                </a:solidFill>
                <a:latin typeface="Aptos"/>
              </a:defRPr>
            </a:pPr>
            <a:r>
              <a:rPr/>
              <a:t>No Jira start/end dates</a:t>
            </a:r>
            <a:endParaRPr/>
          </a:p>
        </p:txBody>
      </p:sp>
      <p:sp>
        <p:nvSpPr>
          <p:cNvPr id="73378294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556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3653336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BCD8D6"/>
                </a:solidFill>
                <a:latin typeface="Aptos"/>
              </a:defRPr>
            </a:pPr>
            <a:r>
              <a:rPr/>
              <a:t>ABANG CEBU AI  /  JIRA SNAPSHOT 16 OCT 2026                                          21</a:t>
            </a:r>
            <a:endParaRPr/>
          </a:p>
        </p:txBody>
      </p:sp>
      <p:sp>
        <p:nvSpPr>
          <p:cNvPr id="2122524512" name="TextBox 7"/>
          <p:cNvSpPr txBox="1"/>
          <p:nvPr/>
        </p:nvSpPr>
        <p:spPr bwMode="auto">
          <a:xfrm>
            <a:off x="914400" y="2331720"/>
            <a:ext cx="2743200" cy="10515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6200" b="1">
                <a:solidFill>
                  <a:srgbClr val="FFFFFF"/>
                </a:solidFill>
                <a:latin typeface="Aptos"/>
              </a:defRPr>
            </a:pPr>
            <a:r>
              <a:rPr/>
              <a:t>35</a:t>
            </a:r>
            <a:endParaRPr/>
          </a:p>
        </p:txBody>
      </p:sp>
      <p:sp>
        <p:nvSpPr>
          <p:cNvPr id="1611120793" name="TextBox 8"/>
          <p:cNvSpPr txBox="1"/>
          <p:nvPr/>
        </p:nvSpPr>
        <p:spPr bwMode="auto">
          <a:xfrm>
            <a:off x="914400" y="3383280"/>
            <a:ext cx="3657600" cy="3657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2000" b="0">
                <a:solidFill>
                  <a:srgbClr val="BAD6D3"/>
                </a:solidFill>
                <a:latin typeface="Aptos"/>
              </a:defRPr>
            </a:pPr>
            <a:r>
              <a:rPr/>
              <a:t>tickets in sprint</a:t>
            </a:r>
            <a:endParaRPr/>
          </a:p>
        </p:txBody>
      </p:sp>
      <p:sp>
        <p:nvSpPr>
          <p:cNvPr id="1682976114" name="TextBox 9"/>
          <p:cNvSpPr txBox="1"/>
          <p:nvPr/>
        </p:nvSpPr>
        <p:spPr bwMode="auto">
          <a:xfrm>
            <a:off x="4800600" y="2304288"/>
            <a:ext cx="1828800" cy="8229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5000" b="1">
                <a:solidFill>
                  <a:srgbClr val="A9BCC3"/>
                </a:solidFill>
                <a:latin typeface="Aptos"/>
              </a:defRPr>
            </a:pPr>
            <a:r>
              <a:rPr/>
              <a:t>35</a:t>
            </a:r>
            <a:endParaRPr/>
          </a:p>
        </p:txBody>
      </p:sp>
      <p:sp>
        <p:nvSpPr>
          <p:cNvPr id="1459824809" name="TextBox 10"/>
          <p:cNvSpPr txBox="1"/>
          <p:nvPr/>
        </p:nvSpPr>
        <p:spPr bwMode="auto">
          <a:xfrm>
            <a:off x="4800600" y="3145536"/>
            <a:ext cx="2468880" cy="54864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157628226" name="TextBox 11"/>
          <p:cNvSpPr txBox="1"/>
          <p:nvPr/>
        </p:nvSpPr>
        <p:spPr bwMode="auto">
          <a:xfrm>
            <a:off x="914400" y="5020056"/>
            <a:ext cx="9144000" cy="4572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BAD6D3"/>
                </a:solidFill>
                <a:latin typeface="Aptos"/>
              </a:defRPr>
            </a:pPr>
            <a:r>
              <a:rPr/>
              <a:t>Jira status ≠ independent acceptance or implementation audit.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382049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42742978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SPRINT 3 / PLANNED WORK</a:t>
            </a:r>
            <a:endParaRPr/>
          </a:p>
        </p:txBody>
      </p:sp>
      <p:sp>
        <p:nvSpPr>
          <p:cNvPr id="845340978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Implementation has not started in Jira</a:t>
            </a:r>
            <a:endParaRPr/>
          </a:p>
        </p:txBody>
      </p:sp>
      <p:sp>
        <p:nvSpPr>
          <p:cNvPr id="268561110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35 tickets Ready; 0 Done. No Jira start or end date recorded.</a:t>
            </a:r>
            <a:endParaRPr/>
          </a:p>
        </p:txBody>
      </p:sp>
      <p:sp>
        <p:nvSpPr>
          <p:cNvPr id="345423288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65538943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22</a:t>
            </a:r>
            <a:endParaRPr/>
          </a:p>
        </p:txBody>
      </p:sp>
      <p:sp>
        <p:nvSpPr>
          <p:cNvPr id="2063683574" name="Rounded Rectangle 7"/>
          <p:cNvSpPr/>
          <p:nvPr/>
        </p:nvSpPr>
        <p:spPr bwMode="auto">
          <a:xfrm>
            <a:off x="822960" y="2331720"/>
            <a:ext cx="10515600" cy="10149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60795916" name="TextBox 8"/>
          <p:cNvSpPr txBox="1"/>
          <p:nvPr/>
        </p:nvSpPr>
        <p:spPr bwMode="auto">
          <a:xfrm>
            <a:off x="1051560" y="2459735"/>
            <a:ext cx="2971800" cy="31089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800" b="1">
                <a:solidFill>
                  <a:srgbClr val="087E74"/>
                </a:solidFill>
                <a:latin typeface="Aptos"/>
              </a:defRPr>
            </a:pPr>
            <a:r>
              <a:rPr/>
              <a:t>Platform + data</a:t>
            </a:r>
            <a:endParaRPr/>
          </a:p>
        </p:txBody>
      </p:sp>
      <p:sp>
        <p:nvSpPr>
          <p:cNvPr id="1876051285" name="TextBox 9"/>
          <p:cNvSpPr txBox="1"/>
          <p:nvPr/>
        </p:nvSpPr>
        <p:spPr bwMode="auto">
          <a:xfrm>
            <a:off x="3886200" y="2450591"/>
            <a:ext cx="7114032" cy="6858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EC2 staging, CI/CD, IAM, monitoring, migrations, RLS and PostGIS.</a:t>
            </a:r>
            <a:endParaRPr/>
          </a:p>
        </p:txBody>
      </p:sp>
      <p:sp>
        <p:nvSpPr>
          <p:cNvPr id="727630316" name="Rounded Rectangle 10"/>
          <p:cNvSpPr/>
          <p:nvPr/>
        </p:nvSpPr>
        <p:spPr bwMode="auto">
          <a:xfrm>
            <a:off x="822960" y="3529584"/>
            <a:ext cx="10515600" cy="10149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3594823" name="TextBox 11"/>
          <p:cNvSpPr txBox="1"/>
          <p:nvPr/>
        </p:nvSpPr>
        <p:spPr bwMode="auto">
          <a:xfrm>
            <a:off x="1051560" y="3657600"/>
            <a:ext cx="2971800" cy="31089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800" b="1">
                <a:solidFill>
                  <a:srgbClr val="087E74"/>
                </a:solidFill>
                <a:latin typeface="Aptos"/>
              </a:defRPr>
            </a:pPr>
            <a:r>
              <a:rPr/>
              <a:t>Application</a:t>
            </a:r>
            <a:endParaRPr/>
          </a:p>
        </p:txBody>
      </p:sp>
      <p:sp>
        <p:nvSpPr>
          <p:cNvPr id="305717007" name="TextBox 12"/>
          <p:cNvSpPr txBox="1"/>
          <p:nvPr/>
        </p:nvSpPr>
        <p:spPr bwMode="auto">
          <a:xfrm>
            <a:off x="3886200" y="3648456"/>
            <a:ext cx="7114032" cy="6858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Authentication, RBAC, shared UI, map search and listing interfaces.</a:t>
            </a:r>
            <a:endParaRPr/>
          </a:p>
        </p:txBody>
      </p:sp>
      <p:sp>
        <p:nvSpPr>
          <p:cNvPr id="1299835369" name="Rounded Rectangle 13"/>
          <p:cNvSpPr/>
          <p:nvPr/>
        </p:nvSpPr>
        <p:spPr bwMode="auto">
          <a:xfrm>
            <a:off x="822960" y="4727448"/>
            <a:ext cx="10515600" cy="10149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63591721" name="TextBox 14"/>
          <p:cNvSpPr txBox="1"/>
          <p:nvPr/>
        </p:nvSpPr>
        <p:spPr bwMode="auto">
          <a:xfrm>
            <a:off x="1051560" y="4855464"/>
            <a:ext cx="2971800" cy="31089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800" b="1">
                <a:solidFill>
                  <a:srgbClr val="087E74"/>
                </a:solidFill>
                <a:latin typeface="Aptos"/>
              </a:defRPr>
            </a:pPr>
            <a:r>
              <a:rPr/>
              <a:t>Verification</a:t>
            </a:r>
            <a:endParaRPr/>
          </a:p>
        </p:txBody>
      </p:sp>
      <p:sp>
        <p:nvSpPr>
          <p:cNvPr id="1555493434" name="TextBox 15"/>
          <p:cNvSpPr txBox="1"/>
          <p:nvPr/>
        </p:nvSpPr>
        <p:spPr bwMode="auto">
          <a:xfrm>
            <a:off x="3886200" y="4846320"/>
            <a:ext cx="7114032" cy="6858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700" b="0">
                <a:solidFill>
                  <a:srgbClr val="153036"/>
                </a:solidFill>
                <a:latin typeface="Aptos"/>
              </a:defRPr>
            </a:pPr>
            <a:r>
              <a:rPr/>
              <a:t>Carry-over review, auth/RBAC QA, accessibility, load and system tests.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101653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39202201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3</a:t>
            </a:r>
            <a:endParaRPr/>
          </a:p>
        </p:txBody>
      </p:sp>
      <p:sp>
        <p:nvSpPr>
          <p:cNvPr id="426351114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3 · ticket register</a:t>
            </a:r>
            <a:endParaRPr/>
          </a:p>
        </p:txBody>
      </p:sp>
      <p:sp>
        <p:nvSpPr>
          <p:cNvPr id="61443626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1–6 of 35  /  appendix page 1 of 6</a:t>
            </a:r>
            <a:endParaRPr/>
          </a:p>
        </p:txBody>
      </p:sp>
      <p:sp>
        <p:nvSpPr>
          <p:cNvPr id="574465051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5600577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23</a:t>
            </a:r>
            <a:endParaRPr/>
          </a:p>
        </p:txBody>
      </p:sp>
      <p:sp>
        <p:nvSpPr>
          <p:cNvPr id="1789145876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9878874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SCRUM-134</a:t>
            </a:r>
            <a:endParaRPr/>
          </a:p>
        </p:txBody>
      </p:sp>
      <p:sp>
        <p:nvSpPr>
          <p:cNvPr id="204319461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Provision AWS EC2 staging environment for Next.js app</a:t>
            </a:r>
            <a:endParaRPr/>
          </a:p>
        </p:txBody>
      </p:sp>
      <p:sp>
        <p:nvSpPr>
          <p:cNvPr id="178914859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197975009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2907614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SCRUM-135</a:t>
            </a:r>
            <a:endParaRPr/>
          </a:p>
        </p:txBody>
      </p:sp>
      <p:sp>
        <p:nvSpPr>
          <p:cNvPr id="280103571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Set up GitHub Actions CI pipeline (tsc, lint, build)</a:t>
            </a:r>
            <a:endParaRPr/>
          </a:p>
        </p:txBody>
      </p:sp>
      <p:sp>
        <p:nvSpPr>
          <p:cNvPr id="158317310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958089909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77582562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SCRUM-136</a:t>
            </a:r>
            <a:endParaRPr/>
          </a:p>
        </p:txBody>
      </p:sp>
      <p:sp>
        <p:nvSpPr>
          <p:cNvPr id="1992948688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Automate deployment from main to EC2 staging</a:t>
            </a:r>
            <a:endParaRPr/>
          </a:p>
        </p:txBody>
      </p:sp>
      <p:sp>
        <p:nvSpPr>
          <p:cNvPr id="1086389088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124732968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8943709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SCRUM-137</a:t>
            </a:r>
            <a:endParaRPr/>
          </a:p>
        </p:txBody>
      </p:sp>
      <p:sp>
        <p:nvSpPr>
          <p:cNvPr id="1875068738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Define IAM least-privilege roles and policies for staging</a:t>
            </a:r>
            <a:endParaRPr/>
          </a:p>
        </p:txBody>
      </p:sp>
      <p:sp>
        <p:nvSpPr>
          <p:cNvPr id="2064480715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109132687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6783975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SCRUM-138</a:t>
            </a:r>
            <a:endParaRPr/>
          </a:p>
        </p:txBody>
      </p:sp>
      <p:sp>
        <p:nvSpPr>
          <p:cNvPr id="1480301547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IAM access review and security audit of staging</a:t>
            </a:r>
            <a:endParaRPr/>
          </a:p>
        </p:txBody>
      </p:sp>
      <p:sp>
        <p:nvSpPr>
          <p:cNvPr id="1206555439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382576325" name="Rounded Rectangle 27"/>
          <p:cNvSpPr/>
          <p:nvPr/>
        </p:nvSpPr>
        <p:spPr bwMode="auto">
          <a:xfrm>
            <a:off x="822960" y="542239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9550116" name="TextBox 28"/>
          <p:cNvSpPr txBox="1"/>
          <p:nvPr/>
        </p:nvSpPr>
        <p:spPr bwMode="auto">
          <a:xfrm>
            <a:off x="1024128" y="554126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8" tooltip=""/>
              </a:rPr>
              <a:t>SCRUM-139</a:t>
            </a:r>
            <a:endParaRPr/>
          </a:p>
        </p:txBody>
      </p:sp>
      <p:sp>
        <p:nvSpPr>
          <p:cNvPr id="1963128809" name="TextBox 29"/>
          <p:cNvSpPr txBox="1"/>
          <p:nvPr/>
        </p:nvSpPr>
        <p:spPr bwMode="auto">
          <a:xfrm>
            <a:off x="2350008" y="5513831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Set up monitoring, logging and uptime alerts for staging</a:t>
            </a:r>
            <a:endParaRPr/>
          </a:p>
        </p:txBody>
      </p:sp>
      <p:sp>
        <p:nvSpPr>
          <p:cNvPr id="1206600518" name="TextBox 30"/>
          <p:cNvSpPr txBox="1"/>
          <p:nvPr/>
        </p:nvSpPr>
        <p:spPr bwMode="auto">
          <a:xfrm>
            <a:off x="10021824" y="557784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9888341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09715686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3</a:t>
            </a:r>
            <a:endParaRPr/>
          </a:p>
        </p:txBody>
      </p:sp>
      <p:sp>
        <p:nvSpPr>
          <p:cNvPr id="895164379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3 · ticket register</a:t>
            </a:r>
            <a:endParaRPr/>
          </a:p>
        </p:txBody>
      </p:sp>
      <p:sp>
        <p:nvSpPr>
          <p:cNvPr id="1466593321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7–12 of 35  /  appendix page 2 of 6</a:t>
            </a:r>
            <a:endParaRPr/>
          </a:p>
        </p:txBody>
      </p:sp>
      <p:sp>
        <p:nvSpPr>
          <p:cNvPr id="1269615701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469344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24</a:t>
            </a:r>
            <a:endParaRPr/>
          </a:p>
        </p:txBody>
      </p:sp>
      <p:sp>
        <p:nvSpPr>
          <p:cNvPr id="1381675476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4874519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SCRUM-140</a:t>
            </a:r>
            <a:endParaRPr/>
          </a:p>
        </p:txBody>
      </p:sp>
      <p:sp>
        <p:nvSpPr>
          <p:cNvPr id="857746401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Implement core listing tables migration</a:t>
            </a:r>
            <a:endParaRPr/>
          </a:p>
        </p:txBody>
      </p:sp>
      <p:sp>
        <p:nvSpPr>
          <p:cNvPr id="1171842448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242549198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6584882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SCRUM-141</a:t>
            </a:r>
            <a:endParaRPr/>
          </a:p>
        </p:txBody>
      </p:sp>
      <p:sp>
        <p:nvSpPr>
          <p:cNvPr id="964008600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Implement engagement tables migration (inquiries, saved_listings, reviews, audit_logs)</a:t>
            </a:r>
            <a:endParaRPr/>
          </a:p>
        </p:txBody>
      </p:sp>
      <p:sp>
        <p:nvSpPr>
          <p:cNvPr id="1840872328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751886689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41882038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SCRUM-142</a:t>
            </a:r>
            <a:endParaRPr/>
          </a:p>
        </p:txBody>
      </p:sp>
      <p:sp>
        <p:nvSpPr>
          <p:cNvPr id="1615145293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Apply Row Level Security policies as migrations</a:t>
            </a:r>
            <a:endParaRPr/>
          </a:p>
        </p:txBody>
      </p:sp>
      <p:sp>
        <p:nvSpPr>
          <p:cNvPr id="1722429408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015407406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71418600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SCRUM-143</a:t>
            </a:r>
            <a:endParaRPr/>
          </a:p>
        </p:txBody>
      </p:sp>
      <p:sp>
        <p:nvSpPr>
          <p:cNvPr id="1208472088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Create PostGIS search functions (viewport bbox and landmark radius)</a:t>
            </a:r>
            <a:endParaRPr/>
          </a:p>
        </p:txBody>
      </p:sp>
      <p:sp>
        <p:nvSpPr>
          <p:cNvPr id="250368207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928317389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88206354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SCRUM-144</a:t>
            </a:r>
            <a:endParaRPr/>
          </a:p>
        </p:txBody>
      </p:sp>
      <p:sp>
        <p:nvSpPr>
          <p:cNvPr id="63858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Seed Metro Cebu landmarks and sample listings</a:t>
            </a:r>
            <a:endParaRPr/>
          </a:p>
        </p:txBody>
      </p:sp>
      <p:sp>
        <p:nvSpPr>
          <p:cNvPr id="671927664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532379032" name="Rounded Rectangle 27"/>
          <p:cNvSpPr/>
          <p:nvPr/>
        </p:nvSpPr>
        <p:spPr bwMode="auto">
          <a:xfrm>
            <a:off x="822960" y="542239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7389800" name="TextBox 28"/>
          <p:cNvSpPr txBox="1"/>
          <p:nvPr/>
        </p:nvSpPr>
        <p:spPr bwMode="auto">
          <a:xfrm>
            <a:off x="1024128" y="554126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8" tooltip=""/>
              </a:rPr>
              <a:t>SCRUM-145</a:t>
            </a:r>
            <a:endParaRPr/>
          </a:p>
        </p:txBody>
      </p:sp>
      <p:sp>
        <p:nvSpPr>
          <p:cNvPr id="106310147" name="TextBox 29"/>
          <p:cNvSpPr txBox="1"/>
          <p:nvPr/>
        </p:nvSpPr>
        <p:spPr bwMode="auto">
          <a:xfrm>
            <a:off x="2350008" y="5513831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Configure Supabase Storage buckets and database backups</a:t>
            </a:r>
            <a:endParaRPr/>
          </a:p>
        </p:txBody>
      </p:sp>
      <p:sp>
        <p:nvSpPr>
          <p:cNvPr id="396302589" name="TextBox 30"/>
          <p:cNvSpPr txBox="1"/>
          <p:nvPr/>
        </p:nvSpPr>
        <p:spPr bwMode="auto">
          <a:xfrm>
            <a:off x="10021824" y="557784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8773581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02905096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3</a:t>
            </a:r>
            <a:endParaRPr/>
          </a:p>
        </p:txBody>
      </p:sp>
      <p:sp>
        <p:nvSpPr>
          <p:cNvPr id="2016289044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3 · ticket register</a:t>
            </a:r>
            <a:endParaRPr/>
          </a:p>
        </p:txBody>
      </p:sp>
      <p:sp>
        <p:nvSpPr>
          <p:cNvPr id="1609085827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13–18 of 35  /  appendix page 3 of 6</a:t>
            </a:r>
            <a:endParaRPr/>
          </a:p>
        </p:txBody>
      </p:sp>
      <p:sp>
        <p:nvSpPr>
          <p:cNvPr id="197331674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605040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25</a:t>
            </a:r>
            <a:endParaRPr/>
          </a:p>
        </p:txBody>
      </p:sp>
      <p:sp>
        <p:nvSpPr>
          <p:cNvPr id="904066577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31501598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SCRUM-146</a:t>
            </a:r>
            <a:endParaRPr/>
          </a:p>
        </p:txBody>
      </p:sp>
      <p:sp>
        <p:nvSpPr>
          <p:cNvPr id="837670543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Complete Database Specification workbook (.xlsx)</a:t>
            </a:r>
            <a:endParaRPr/>
          </a:p>
        </p:txBody>
      </p:sp>
      <p:sp>
        <p:nvSpPr>
          <p:cNvPr id="1800927242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647438088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44722424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SCRUM-147</a:t>
            </a:r>
            <a:endParaRPr/>
          </a:p>
        </p:txBody>
      </p:sp>
      <p:sp>
        <p:nvSpPr>
          <p:cNvPr id="467630938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Implement sign-up and email verification (PKCE)</a:t>
            </a:r>
            <a:endParaRPr/>
          </a:p>
        </p:txBody>
      </p:sp>
      <p:sp>
        <p:nvSpPr>
          <p:cNvPr id="1286796349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038630985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50746143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SCRUM-148</a:t>
            </a:r>
            <a:endParaRPr/>
          </a:p>
        </p:txBody>
      </p:sp>
      <p:sp>
        <p:nvSpPr>
          <p:cNvPr id="1175117686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Implement login, session refresh and Remember Me</a:t>
            </a:r>
            <a:endParaRPr/>
          </a:p>
        </p:txBody>
      </p:sp>
      <p:sp>
        <p:nvSpPr>
          <p:cNvPr id="1864290489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83766416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46091083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SCRUM-149</a:t>
            </a:r>
            <a:endParaRPr/>
          </a:p>
        </p:txBody>
      </p:sp>
      <p:sp>
        <p:nvSpPr>
          <p:cNvPr id="682079149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Implement logout and multi-tab sign-out sync</a:t>
            </a:r>
            <a:endParaRPr/>
          </a:p>
        </p:txBody>
      </p:sp>
      <p:sp>
        <p:nvSpPr>
          <p:cNvPr id="134090384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2051815599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6793788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SCRUM-150</a:t>
            </a:r>
            <a:endParaRPr/>
          </a:p>
        </p:txBody>
      </p:sp>
      <p:sp>
        <p:nvSpPr>
          <p:cNvPr id="1117828031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Implement password reset and recovery</a:t>
            </a:r>
            <a:endParaRPr/>
          </a:p>
        </p:txBody>
      </p:sp>
      <p:sp>
        <p:nvSpPr>
          <p:cNvPr id="182954831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574480714" name="Rounded Rectangle 27"/>
          <p:cNvSpPr/>
          <p:nvPr/>
        </p:nvSpPr>
        <p:spPr bwMode="auto">
          <a:xfrm>
            <a:off x="822960" y="542239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70374988" name="TextBox 28"/>
          <p:cNvSpPr txBox="1"/>
          <p:nvPr/>
        </p:nvSpPr>
        <p:spPr bwMode="auto">
          <a:xfrm>
            <a:off x="1024128" y="554126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8" tooltip=""/>
              </a:rPr>
              <a:t>SCRUM-151</a:t>
            </a:r>
            <a:endParaRPr/>
          </a:p>
        </p:txBody>
      </p:sp>
      <p:sp>
        <p:nvSpPr>
          <p:cNvPr id="599524572" name="TextBox 29"/>
          <p:cNvSpPr txBox="1"/>
          <p:nvPr/>
        </p:nvSpPr>
        <p:spPr bwMode="auto">
          <a:xfrm>
            <a:off x="2350008" y="5513831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Implement RBAC middleware and route guards</a:t>
            </a:r>
            <a:endParaRPr/>
          </a:p>
        </p:txBody>
      </p:sp>
      <p:sp>
        <p:nvSpPr>
          <p:cNvPr id="498342783" name="TextBox 30"/>
          <p:cNvSpPr txBox="1"/>
          <p:nvPr/>
        </p:nvSpPr>
        <p:spPr bwMode="auto">
          <a:xfrm>
            <a:off x="10021824" y="557784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28358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9254519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3</a:t>
            </a:r>
            <a:endParaRPr/>
          </a:p>
        </p:txBody>
      </p:sp>
      <p:sp>
        <p:nvSpPr>
          <p:cNvPr id="1443085123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3 · ticket register</a:t>
            </a:r>
            <a:endParaRPr/>
          </a:p>
        </p:txBody>
      </p:sp>
      <p:sp>
        <p:nvSpPr>
          <p:cNvPr id="902420925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19–24 of 35  /  appendix page 4 of 6</a:t>
            </a:r>
            <a:endParaRPr/>
          </a:p>
        </p:txBody>
      </p:sp>
      <p:sp>
        <p:nvSpPr>
          <p:cNvPr id="866568993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26535569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26</a:t>
            </a:r>
            <a:endParaRPr/>
          </a:p>
        </p:txBody>
      </p:sp>
      <p:sp>
        <p:nvSpPr>
          <p:cNvPr id="949494062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9253204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SCRUM-152</a:t>
            </a:r>
            <a:endParaRPr/>
          </a:p>
        </p:txBody>
      </p:sp>
      <p:sp>
        <p:nvSpPr>
          <p:cNvPr id="2023277084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Implement standard API error contract and auth error handling</a:t>
            </a:r>
            <a:endParaRPr/>
          </a:p>
        </p:txBody>
      </p:sp>
      <p:sp>
        <p:nvSpPr>
          <p:cNvPr id="1769725421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798423905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945541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SCRUM-153</a:t>
            </a:r>
            <a:endParaRPr/>
          </a:p>
        </p:txBody>
      </p:sp>
      <p:sp>
        <p:nvSpPr>
          <p:cNvPr id="1115349863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Build shared UI component library (Tailwind v4 tokens)</a:t>
            </a:r>
            <a:endParaRPr/>
          </a:p>
        </p:txBody>
      </p:sp>
      <p:sp>
        <p:nvSpPr>
          <p:cNvPr id="983039859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554723238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5633865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SCRUM-154</a:t>
            </a:r>
            <a:endParaRPr/>
          </a:p>
        </p:txBody>
      </p:sp>
      <p:sp>
        <p:nvSpPr>
          <p:cNvPr id="1350528902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Implement login, registration and password reset pages</a:t>
            </a:r>
            <a:endParaRPr/>
          </a:p>
        </p:txBody>
      </p:sp>
      <p:sp>
        <p:nvSpPr>
          <p:cNvPr id="39416506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359212891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85298212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SCRUM-155</a:t>
            </a:r>
            <a:endParaRPr/>
          </a:p>
        </p:txBody>
      </p:sp>
      <p:sp>
        <p:nvSpPr>
          <p:cNvPr id="168104360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Implement MapLibre map canvas with Metro Cebu viewport and Locate Me</a:t>
            </a:r>
            <a:endParaRPr/>
          </a:p>
        </p:txBody>
      </p:sp>
      <p:sp>
        <p:nvSpPr>
          <p:cNvPr id="421739158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638790677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8688361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SCRUM-156</a:t>
            </a:r>
            <a:endParaRPr/>
          </a:p>
        </p:txBody>
      </p:sp>
      <p:sp>
        <p:nvSpPr>
          <p:cNvPr id="1828799863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Implement landing page, search bar and landmark auto-suggest</a:t>
            </a:r>
            <a:endParaRPr/>
          </a:p>
        </p:txBody>
      </p:sp>
      <p:sp>
        <p:nvSpPr>
          <p:cNvPr id="196810370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733328112" name="Rounded Rectangle 27"/>
          <p:cNvSpPr/>
          <p:nvPr/>
        </p:nvSpPr>
        <p:spPr bwMode="auto">
          <a:xfrm>
            <a:off x="822960" y="542239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04764364" name="TextBox 28"/>
          <p:cNvSpPr txBox="1"/>
          <p:nvPr/>
        </p:nvSpPr>
        <p:spPr bwMode="auto">
          <a:xfrm>
            <a:off x="1024128" y="554126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8" tooltip=""/>
              </a:rPr>
              <a:t>SCRUM-157</a:t>
            </a:r>
            <a:endParaRPr/>
          </a:p>
        </p:txBody>
      </p:sp>
      <p:sp>
        <p:nvSpPr>
          <p:cNvPr id="666636813" name="TextBox 29"/>
          <p:cNvSpPr txBox="1"/>
          <p:nvPr/>
        </p:nvSpPr>
        <p:spPr bwMode="auto">
          <a:xfrm>
            <a:off x="2350008" y="5513831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Implement filter pills, URL state sync and results drawer</a:t>
            </a:r>
            <a:endParaRPr/>
          </a:p>
        </p:txBody>
      </p:sp>
      <p:sp>
        <p:nvSpPr>
          <p:cNvPr id="475137322" name="TextBox 30"/>
          <p:cNvSpPr txBox="1"/>
          <p:nvPr/>
        </p:nvSpPr>
        <p:spPr bwMode="auto">
          <a:xfrm>
            <a:off x="10021824" y="557784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987403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29906924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3</a:t>
            </a:r>
            <a:endParaRPr/>
          </a:p>
        </p:txBody>
      </p:sp>
      <p:sp>
        <p:nvSpPr>
          <p:cNvPr id="1558925615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3 · ticket register</a:t>
            </a:r>
            <a:endParaRPr/>
          </a:p>
        </p:txBody>
      </p:sp>
      <p:sp>
        <p:nvSpPr>
          <p:cNvPr id="1878617051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25–30 of 35  /  appendix page 5 of 6</a:t>
            </a:r>
            <a:endParaRPr/>
          </a:p>
        </p:txBody>
      </p:sp>
      <p:sp>
        <p:nvSpPr>
          <p:cNvPr id="588471302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55132510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27</a:t>
            </a:r>
            <a:endParaRPr/>
          </a:p>
        </p:txBody>
      </p:sp>
      <p:sp>
        <p:nvSpPr>
          <p:cNvPr id="248424340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9875503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SCRUM-158</a:t>
            </a:r>
            <a:endParaRPr/>
          </a:p>
        </p:txBody>
      </p:sp>
      <p:sp>
        <p:nvSpPr>
          <p:cNvPr id="367946662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Module 6: AI Rental Assistant Flowcharts and Specification</a:t>
            </a:r>
            <a:endParaRPr/>
          </a:p>
        </p:txBody>
      </p:sp>
      <p:sp>
        <p:nvSpPr>
          <p:cNvPr id="1350948164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958588582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08128611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SCRUM-159</a:t>
            </a:r>
            <a:endParaRPr/>
          </a:p>
        </p:txBody>
      </p:sp>
      <p:sp>
        <p:nvSpPr>
          <p:cNvPr id="233296092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Define AI assistant API contract, prompt policy and evaluation set</a:t>
            </a:r>
            <a:endParaRPr/>
          </a:p>
        </p:txBody>
      </p:sp>
      <p:sp>
        <p:nvSpPr>
          <p:cNvPr id="1467550138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95030870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7422228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SCRUM-160</a:t>
            </a:r>
            <a:endParaRPr/>
          </a:p>
        </p:txBody>
      </p:sp>
      <p:sp>
        <p:nvSpPr>
          <p:cNvPr id="148307560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Extend Function Specification Document with Modules 3 to 5</a:t>
            </a:r>
            <a:endParaRPr/>
          </a:p>
        </p:txBody>
      </p:sp>
      <p:sp>
        <p:nvSpPr>
          <p:cNvPr id="867017280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800252553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9370276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SCRUM-161</a:t>
            </a:r>
            <a:endParaRPr/>
          </a:p>
        </p:txBody>
      </p:sp>
      <p:sp>
        <p:nvSpPr>
          <p:cNvPr id="827457898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Review and close Sprint 2 carry-over (SCRUM-125, 126, 127)</a:t>
            </a:r>
            <a:endParaRPr/>
          </a:p>
        </p:txBody>
      </p:sp>
      <p:sp>
        <p:nvSpPr>
          <p:cNvPr id="1280084990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681882459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93173701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SCRUM-162</a:t>
            </a:r>
            <a:endParaRPr/>
          </a:p>
        </p:txBody>
      </p:sp>
      <p:sp>
        <p:nvSpPr>
          <p:cNvPr id="227195445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Execute authentication test plan against staging</a:t>
            </a:r>
            <a:endParaRPr/>
          </a:p>
        </p:txBody>
      </p:sp>
      <p:sp>
        <p:nvSpPr>
          <p:cNvPr id="235083857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2038219753" name="Rounded Rectangle 27"/>
          <p:cNvSpPr/>
          <p:nvPr/>
        </p:nvSpPr>
        <p:spPr bwMode="auto">
          <a:xfrm>
            <a:off x="822960" y="542239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71617904" name="TextBox 28"/>
          <p:cNvSpPr txBox="1"/>
          <p:nvPr/>
        </p:nvSpPr>
        <p:spPr bwMode="auto">
          <a:xfrm>
            <a:off x="1024128" y="554126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8" tooltip=""/>
              </a:rPr>
              <a:t>SCRUM-163</a:t>
            </a:r>
            <a:endParaRPr/>
          </a:p>
        </p:txBody>
      </p:sp>
      <p:sp>
        <p:nvSpPr>
          <p:cNvPr id="1856544503" name="TextBox 29"/>
          <p:cNvSpPr txBox="1"/>
          <p:nvPr/>
        </p:nvSpPr>
        <p:spPr bwMode="auto">
          <a:xfrm>
            <a:off x="2350008" y="5513831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Execute RBAC and route guard tests</a:t>
            </a:r>
            <a:endParaRPr/>
          </a:p>
        </p:txBody>
      </p:sp>
      <p:sp>
        <p:nvSpPr>
          <p:cNvPr id="1203641170" name="TextBox 30"/>
          <p:cNvSpPr txBox="1"/>
          <p:nvPr/>
        </p:nvSpPr>
        <p:spPr bwMode="auto">
          <a:xfrm>
            <a:off x="10021824" y="557784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8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166141" name="Rectangle 1"/>
          <p:cNvSpPr/>
          <p:nvPr/>
        </p:nvSpPr>
        <p:spPr bwMode="auto">
          <a:xfrm>
            <a:off x="585216" y="484632"/>
            <a:ext cx="64008" cy="429768"/>
          </a:xfrm>
          <a:prstGeom prst="rect">
            <a:avLst/>
          </a:prstGeom>
          <a:solidFill>
            <a:srgbClr val="0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4479632" name="TextBox 2"/>
          <p:cNvSpPr txBox="1"/>
          <p:nvPr/>
        </p:nvSpPr>
        <p:spPr bwMode="auto">
          <a:xfrm>
            <a:off x="822960" y="530352"/>
            <a:ext cx="100584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100" b="1">
                <a:solidFill>
                  <a:srgbClr val="087E74"/>
                </a:solidFill>
                <a:latin typeface="Aptos"/>
              </a:defRPr>
            </a:pPr>
            <a:r>
              <a:rPr/>
              <a:t>INVENTORY / SPRINT 3</a:t>
            </a:r>
            <a:endParaRPr/>
          </a:p>
        </p:txBody>
      </p:sp>
      <p:sp>
        <p:nvSpPr>
          <p:cNvPr id="1171974635" name="TextBox 3"/>
          <p:cNvSpPr txBox="1"/>
          <p:nvPr/>
        </p:nvSpPr>
        <p:spPr bwMode="auto">
          <a:xfrm>
            <a:off x="822960" y="932688"/>
            <a:ext cx="10789920" cy="8046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3100" b="1">
                <a:solidFill>
                  <a:srgbClr val="153036"/>
                </a:solidFill>
                <a:latin typeface="Aptos"/>
              </a:defRPr>
            </a:pPr>
            <a:r>
              <a:rPr/>
              <a:t>Sprint 3 · ticket register</a:t>
            </a:r>
            <a:endParaRPr/>
          </a:p>
        </p:txBody>
      </p:sp>
      <p:sp>
        <p:nvSpPr>
          <p:cNvPr id="779963930" name="TextBox 4"/>
          <p:cNvSpPr txBox="1"/>
          <p:nvPr/>
        </p:nvSpPr>
        <p:spPr bwMode="auto">
          <a:xfrm>
            <a:off x="822960" y="1819656"/>
            <a:ext cx="10698480" cy="26517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300" b="0">
                <a:solidFill>
                  <a:srgbClr val="556B75"/>
                </a:solidFill>
                <a:latin typeface="Aptos"/>
              </a:defRPr>
            </a:pPr>
            <a:r>
              <a:rPr/>
              <a:t>31–35 of 35  /  appendix page 6 of 6</a:t>
            </a:r>
            <a:endParaRPr/>
          </a:p>
        </p:txBody>
      </p:sp>
      <p:sp>
        <p:nvSpPr>
          <p:cNvPr id="1611494340" name="Rectangle 5"/>
          <p:cNvSpPr/>
          <p:nvPr/>
        </p:nvSpPr>
        <p:spPr bwMode="auto">
          <a:xfrm>
            <a:off x="822960" y="6345936"/>
            <a:ext cx="10561320" cy="13716"/>
          </a:xfrm>
          <a:prstGeom prst="rect">
            <a:avLst/>
          </a:prstGeom>
          <a:solidFill>
            <a:srgbClr val="D8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7995494" name="TextBox 6"/>
          <p:cNvSpPr txBox="1"/>
          <p:nvPr/>
        </p:nvSpPr>
        <p:spPr bwMode="auto">
          <a:xfrm>
            <a:off x="822960" y="6428232"/>
            <a:ext cx="10789920" cy="23774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900" b="0">
                <a:solidFill>
                  <a:srgbClr val="556B75"/>
                </a:solidFill>
                <a:latin typeface="Aptos"/>
              </a:defRPr>
            </a:pPr>
            <a:r>
              <a:rPr/>
              <a:t>ABANG CEBU AI  /  JIRA SNAPSHOT 16 OCT 2026                                          28</a:t>
            </a:r>
            <a:endParaRPr/>
          </a:p>
        </p:txBody>
      </p:sp>
      <p:sp>
        <p:nvSpPr>
          <p:cNvPr id="2056960301" name="Rounded Rectangle 7"/>
          <p:cNvSpPr/>
          <p:nvPr/>
        </p:nvSpPr>
        <p:spPr bwMode="auto">
          <a:xfrm>
            <a:off x="822960" y="2130552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3211948" name="TextBox 8"/>
          <p:cNvSpPr txBox="1"/>
          <p:nvPr/>
        </p:nvSpPr>
        <p:spPr bwMode="auto">
          <a:xfrm>
            <a:off x="1024128" y="2249424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3" tooltip=""/>
              </a:rPr>
              <a:t>SCRUM-164</a:t>
            </a:r>
            <a:endParaRPr/>
          </a:p>
        </p:txBody>
      </p:sp>
      <p:sp>
        <p:nvSpPr>
          <p:cNvPr id="891400033" name="TextBox 9"/>
          <p:cNvSpPr txBox="1"/>
          <p:nvPr/>
        </p:nvSpPr>
        <p:spPr bwMode="auto">
          <a:xfrm>
            <a:off x="2350008" y="2221992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Browser, mobile and usability testing of auth pages and map UI</a:t>
            </a:r>
            <a:endParaRPr/>
          </a:p>
        </p:txBody>
      </p:sp>
      <p:sp>
        <p:nvSpPr>
          <p:cNvPr id="1278422058" name="TextBox 10"/>
          <p:cNvSpPr txBox="1"/>
          <p:nvPr/>
        </p:nvSpPr>
        <p:spPr bwMode="auto">
          <a:xfrm>
            <a:off x="10021824" y="2286000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095170572" name="Rounded Rectangle 11"/>
          <p:cNvSpPr/>
          <p:nvPr/>
        </p:nvSpPr>
        <p:spPr bwMode="auto">
          <a:xfrm>
            <a:off x="822960" y="2788920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38677694" name="TextBox 12"/>
          <p:cNvSpPr txBox="1"/>
          <p:nvPr/>
        </p:nvSpPr>
        <p:spPr bwMode="auto">
          <a:xfrm>
            <a:off x="1024128" y="2907791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4" tooltip=""/>
              </a:rPr>
              <a:t>SCRUM-165</a:t>
            </a:r>
            <a:endParaRPr/>
          </a:p>
        </p:txBody>
      </p:sp>
      <p:sp>
        <p:nvSpPr>
          <p:cNvPr id="949773719" name="TextBox 13"/>
          <p:cNvSpPr txBox="1"/>
          <p:nvPr/>
        </p:nvSpPr>
        <p:spPr bwMode="auto">
          <a:xfrm>
            <a:off x="2350008" y="2880360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Write test plans for Modules 3, 4 and 5</a:t>
            </a:r>
            <a:endParaRPr/>
          </a:p>
        </p:txBody>
      </p:sp>
      <p:sp>
        <p:nvSpPr>
          <p:cNvPr id="1216511398" name="TextBox 14"/>
          <p:cNvSpPr txBox="1"/>
          <p:nvPr/>
        </p:nvSpPr>
        <p:spPr bwMode="auto">
          <a:xfrm>
            <a:off x="10021824" y="2944368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848222823" name="Rounded Rectangle 15"/>
          <p:cNvSpPr/>
          <p:nvPr/>
        </p:nvSpPr>
        <p:spPr bwMode="auto">
          <a:xfrm>
            <a:off x="822960" y="3447288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04079880" name="TextBox 16"/>
          <p:cNvSpPr txBox="1"/>
          <p:nvPr/>
        </p:nvSpPr>
        <p:spPr bwMode="auto">
          <a:xfrm>
            <a:off x="1024128" y="3566160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5" tooltip=""/>
              </a:rPr>
              <a:t>SCRUM-166</a:t>
            </a:r>
            <a:endParaRPr/>
          </a:p>
        </p:txBody>
      </p:sp>
      <p:sp>
        <p:nvSpPr>
          <p:cNvPr id="1312361617" name="TextBox 17"/>
          <p:cNvSpPr txBox="1"/>
          <p:nvPr/>
        </p:nvSpPr>
        <p:spPr bwMode="auto">
          <a:xfrm>
            <a:off x="2350008" y="3538728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Execute k6 load tests on staging (steady-state and burst)</a:t>
            </a:r>
            <a:endParaRPr/>
          </a:p>
        </p:txBody>
      </p:sp>
      <p:sp>
        <p:nvSpPr>
          <p:cNvPr id="1268302382" name="TextBox 18"/>
          <p:cNvSpPr txBox="1"/>
          <p:nvPr/>
        </p:nvSpPr>
        <p:spPr bwMode="auto">
          <a:xfrm>
            <a:off x="10021824" y="3602735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2004684722" name="Rounded Rectangle 19"/>
          <p:cNvSpPr/>
          <p:nvPr/>
        </p:nvSpPr>
        <p:spPr bwMode="auto">
          <a:xfrm>
            <a:off x="822960" y="4105656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5504037" name="TextBox 20"/>
          <p:cNvSpPr txBox="1"/>
          <p:nvPr/>
        </p:nvSpPr>
        <p:spPr bwMode="auto">
          <a:xfrm>
            <a:off x="1024128" y="4224528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6" tooltip=""/>
              </a:rPr>
              <a:t>SCRUM-167</a:t>
            </a:r>
            <a:endParaRPr/>
          </a:p>
        </p:txBody>
      </p:sp>
      <p:sp>
        <p:nvSpPr>
          <p:cNvPr id="287123552" name="TextBox 21"/>
          <p:cNvSpPr txBox="1"/>
          <p:nvPr/>
        </p:nvSpPr>
        <p:spPr bwMode="auto">
          <a:xfrm>
            <a:off x="2350008" y="4197096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System test plan and first end-to-end run (auth to map to listing)</a:t>
            </a:r>
            <a:endParaRPr/>
          </a:p>
        </p:txBody>
      </p:sp>
      <p:sp>
        <p:nvSpPr>
          <p:cNvPr id="1605045129" name="TextBox 22"/>
          <p:cNvSpPr txBox="1"/>
          <p:nvPr/>
        </p:nvSpPr>
        <p:spPr bwMode="auto">
          <a:xfrm>
            <a:off x="10021824" y="4261104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  <p:sp>
        <p:nvSpPr>
          <p:cNvPr id="1864356013" name="Rounded Rectangle 23"/>
          <p:cNvSpPr/>
          <p:nvPr/>
        </p:nvSpPr>
        <p:spPr bwMode="auto">
          <a:xfrm>
            <a:off x="822960" y="4764024"/>
            <a:ext cx="10524744" cy="5852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8432006" name="TextBox 24"/>
          <p:cNvSpPr txBox="1"/>
          <p:nvPr/>
        </p:nvSpPr>
        <p:spPr bwMode="auto">
          <a:xfrm>
            <a:off x="1024128" y="4882896"/>
            <a:ext cx="1243584" cy="29260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1">
                <a:solidFill>
                  <a:srgbClr val="087E74"/>
                </a:solidFill>
                <a:latin typeface="Aptos"/>
              </a:defRPr>
            </a:pPr>
            <a:r>
              <a:rPr u="sng">
                <a:hlinkClick r:id="rId7" tooltip=""/>
              </a:rPr>
              <a:t>SCRUM-168</a:t>
            </a:r>
            <a:endParaRPr/>
          </a:p>
        </p:txBody>
      </p:sp>
      <p:sp>
        <p:nvSpPr>
          <p:cNvPr id="902626247" name="TextBox 25"/>
          <p:cNvSpPr txBox="1"/>
          <p:nvPr/>
        </p:nvSpPr>
        <p:spPr bwMode="auto">
          <a:xfrm>
            <a:off x="2350008" y="4855464"/>
            <a:ext cx="7571231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400" b="0">
                <a:solidFill>
                  <a:srgbClr val="153036"/>
                </a:solidFill>
                <a:latin typeface="Aptos"/>
              </a:defRPr>
            </a:pPr>
            <a:r>
              <a:rPr/>
              <a:t>Sprint 3 review, retrospective and reporting</a:t>
            </a:r>
            <a:endParaRPr/>
          </a:p>
        </p:txBody>
      </p:sp>
      <p:sp>
        <p:nvSpPr>
          <p:cNvPr id="419287312" name="TextBox 26"/>
          <p:cNvSpPr txBox="1"/>
          <p:nvPr/>
        </p:nvSpPr>
        <p:spPr bwMode="auto">
          <a:xfrm>
            <a:off x="10021824" y="4919471"/>
            <a:ext cx="112471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defRPr sz="1000" b="1">
                <a:solidFill>
                  <a:srgbClr val="556B75"/>
                </a:solidFill>
                <a:latin typeface="Aptos"/>
              </a:defRPr>
            </a:pPr>
            <a:r>
              <a:rPr/>
              <a:t>READY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28</Slides>
  <Notes>28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2026-10-16T07:24:45Z</dcterms:modified>
  <cp:category/>
</cp:coreProperties>
</file>